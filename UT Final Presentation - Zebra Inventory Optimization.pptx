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6"/>
  </p:notesMasterIdLst>
  <p:sldIdLst>
    <p:sldId id="264" r:id="rId3"/>
    <p:sldId id="380" r:id="rId4"/>
    <p:sldId id="2162" r:id="rId5"/>
    <p:sldId id="1923" r:id="rId6"/>
    <p:sldId id="1625" r:id="rId7"/>
    <p:sldId id="2155" r:id="rId8"/>
    <p:sldId id="2139" r:id="rId9"/>
    <p:sldId id="2141" r:id="rId10"/>
    <p:sldId id="2171" r:id="rId11"/>
    <p:sldId id="2143" r:id="rId12"/>
    <p:sldId id="2156" r:id="rId13"/>
    <p:sldId id="2145" r:id="rId14"/>
    <p:sldId id="331" r:id="rId15"/>
    <p:sldId id="2157" r:id="rId16"/>
    <p:sldId id="2146" r:id="rId17"/>
    <p:sldId id="2164" r:id="rId18"/>
    <p:sldId id="334" r:id="rId19"/>
    <p:sldId id="333" r:id="rId20"/>
    <p:sldId id="2158" r:id="rId21"/>
    <p:sldId id="2152" r:id="rId22"/>
    <p:sldId id="2159" r:id="rId23"/>
    <p:sldId id="2161" r:id="rId24"/>
    <p:sldId id="216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62202B-10CB-1071-8215-FF000F533851}" v="32" dt="2026-04-23T04:26:25.823"/>
    <p1510:client id="{77EFAE9C-EE33-60D6-A956-DF2BFCA7EDDA}" v="519" dt="2026-04-23T04:58:43.200"/>
    <p1510:client id="{79B80766-CFB6-061E-2FEE-0379C1670E38}" v="158" dt="2026-04-22T15:03:02.296"/>
    <p1510:client id="{8114A18A-2AD9-2D0E-8FC9-DE2BDD9DA7A6}" v="196" dt="2026-04-21T23:16:42.498"/>
    <p1510:client id="{8433EFA8-A287-C113-E3A1-93687C30A94D}" v="185" dt="2026-04-23T01:07:06.891"/>
    <p1510:client id="{A1FEE645-A7BE-94B1-CEBF-286885D88458}" v="1113" dt="2026-04-23T21:04:57.433"/>
    <p1510:client id="{A68419D5-71E9-0571-9678-47F68A7B477F}" v="1" dt="2026-04-23T22:30:03.189"/>
    <p1510:client id="{D42727F8-80B3-2723-A303-7681BD94BF09}" v="11" dt="2026-04-21T22:34:26.390"/>
    <p1510:client id="{D58C6BA4-17B4-4422-D20D-FDC1DE143B99}" v="6" dt="2026-04-23T21:40:46.396"/>
    <p1510:client id="{EECCC620-A504-7080-ADBD-A63E6826E7C2}" v="1295" dt="2026-04-22T12:46:08.2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298FDA-B44C-43F7-9D93-03067A273102}"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523E12-0A6D-4182-9F50-AC1EFE939C17}" type="slidenum">
              <a:rPr lang="en-US" smtClean="0"/>
              <a:t>‹#›</a:t>
            </a:fld>
            <a:endParaRPr lang="en-US"/>
          </a:p>
        </p:txBody>
      </p:sp>
    </p:spTree>
    <p:extLst>
      <p:ext uri="{BB962C8B-B14F-4D97-AF65-F5344CB8AC3E}">
        <p14:creationId xmlns:p14="http://schemas.microsoft.com/office/powerpoint/2010/main" val="2488922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11213"/>
            <a:ext cx="5486400" cy="3086100"/>
          </a:xfrm>
        </p:spPr>
      </p:sp>
      <p:sp>
        <p:nvSpPr>
          <p:cNvPr id="3" name="Notes Placeholder 2"/>
          <p:cNvSpPr>
            <a:spLocks noGrp="1"/>
          </p:cNvSpPr>
          <p:nvPr>
            <p:ph type="body" idx="1"/>
          </p:nvPr>
        </p:nvSpPr>
        <p:spPr/>
        <p:txBody>
          <a:bodyPr/>
          <a:lstStyle/>
          <a:p>
            <a:r>
              <a:rPr lang="en-US">
                <a:ea typeface="Calibri"/>
                <a:cs typeface="Calibri"/>
              </a:rPr>
              <a:t>Shriya </a:t>
            </a:r>
            <a:endParaRPr lang="en-US"/>
          </a:p>
        </p:txBody>
      </p:sp>
      <p:sp>
        <p:nvSpPr>
          <p:cNvPr id="4" name="Slide Number Placeholder 3"/>
          <p:cNvSpPr>
            <a:spLocks noGrp="1"/>
          </p:cNvSpPr>
          <p:nvPr>
            <p:ph type="sldNum" sz="quarter" idx="10"/>
          </p:nvPr>
        </p:nvSpPr>
        <p:spPr/>
        <p:txBody>
          <a:bodyPr/>
          <a:lstStyle/>
          <a:p>
            <a:pPr algn="r" defTabSz="1218804">
              <a:lnSpc>
                <a:spcPct val="90000"/>
              </a:lnSpc>
              <a:spcBef>
                <a:spcPts val="600"/>
              </a:spcBef>
            </a:pPr>
            <a:fld id="{BA4D5A8E-FAA0-45A7-BEAC-4F7A9F9A19E2}" type="slidenum">
              <a:rPr lang="en-US" smtClean="0"/>
              <a:pPr algn="r" defTabSz="1218804">
                <a:lnSpc>
                  <a:spcPct val="90000"/>
                </a:lnSpc>
                <a:spcBef>
                  <a:spcPts val="600"/>
                </a:spcBef>
              </a:pPr>
              <a:t>2</a:t>
            </a:fld>
            <a:endParaRPr lang="en-US"/>
          </a:p>
        </p:txBody>
      </p:sp>
    </p:spTree>
    <p:extLst>
      <p:ext uri="{BB962C8B-B14F-4D97-AF65-F5344CB8AC3E}">
        <p14:creationId xmlns:p14="http://schemas.microsoft.com/office/powerpoint/2010/main" val="4150343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7F425-880F-A13F-BADC-B0212821F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75441-924F-A2C2-FEE5-5B0933F63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71DC8-A4A4-E4AD-809C-3308A29DA51C}"/>
              </a:ext>
            </a:extLst>
          </p:cNvPr>
          <p:cNvSpPr>
            <a:spLocks noGrp="1"/>
          </p:cNvSpPr>
          <p:nvPr>
            <p:ph type="body" idx="1"/>
          </p:nvPr>
        </p:nvSpPr>
        <p:spPr/>
        <p:txBody>
          <a:bodyPr/>
          <a:lstStyle/>
          <a:p>
            <a:r>
              <a:rPr lang="en-US">
                <a:ea typeface="Calibri"/>
                <a:cs typeface="Calibri"/>
              </a:rPr>
              <a:t>Shriya </a:t>
            </a:r>
          </a:p>
        </p:txBody>
      </p:sp>
      <p:sp>
        <p:nvSpPr>
          <p:cNvPr id="4" name="Slide Number Placeholder 3">
            <a:extLst>
              <a:ext uri="{FF2B5EF4-FFF2-40B4-BE49-F238E27FC236}">
                <a16:creationId xmlns:a16="http://schemas.microsoft.com/office/drawing/2014/main" id="{BC734C77-3D64-40EC-168F-A4B708C12B9E}"/>
              </a:ext>
            </a:extLst>
          </p:cNvPr>
          <p:cNvSpPr>
            <a:spLocks noGrp="1"/>
          </p:cNvSpPr>
          <p:nvPr>
            <p:ph type="sldNum" sz="quarter" idx="5"/>
          </p:nvPr>
        </p:nvSpPr>
        <p:spPr/>
        <p:txBody>
          <a:bodyPr/>
          <a:lstStyle/>
          <a:p>
            <a:fld id="{DA523E12-0A6D-4182-9F50-AC1EFE939C17}" type="slidenum">
              <a:rPr lang="en-US" smtClean="0"/>
              <a:t>3</a:t>
            </a:fld>
            <a:endParaRPr lang="en-US"/>
          </a:p>
        </p:txBody>
      </p:sp>
    </p:spTree>
    <p:extLst>
      <p:ext uri="{BB962C8B-B14F-4D97-AF65-F5344CB8AC3E}">
        <p14:creationId xmlns:p14="http://schemas.microsoft.com/office/powerpoint/2010/main" val="1822650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Shriya </a:t>
            </a:r>
          </a:p>
        </p:txBody>
      </p:sp>
      <p:sp>
        <p:nvSpPr>
          <p:cNvPr id="4" name="Slide Number Placeholder 3"/>
          <p:cNvSpPr>
            <a:spLocks noGrp="1"/>
          </p:cNvSpPr>
          <p:nvPr>
            <p:ph type="sldNum" sz="quarter" idx="5"/>
          </p:nvPr>
        </p:nvSpPr>
        <p:spPr/>
        <p:txBody>
          <a:bodyPr/>
          <a:lstStyle/>
          <a:p>
            <a:fld id="{DA523E12-0A6D-4182-9F50-AC1EFE939C17}" type="slidenum">
              <a:rPr lang="en-US" smtClean="0"/>
              <a:t>4</a:t>
            </a:fld>
            <a:endParaRPr lang="en-US"/>
          </a:p>
        </p:txBody>
      </p:sp>
    </p:spTree>
    <p:extLst>
      <p:ext uri="{BB962C8B-B14F-4D97-AF65-F5344CB8AC3E}">
        <p14:creationId xmlns:p14="http://schemas.microsoft.com/office/powerpoint/2010/main" val="998140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ea typeface="Calibri"/>
                <a:cs typeface="Calibri"/>
              </a:rPr>
              <a:t>shriya</a:t>
            </a:r>
          </a:p>
        </p:txBody>
      </p:sp>
      <p:sp>
        <p:nvSpPr>
          <p:cNvPr id="4" name="Slide Number Placeholder 3"/>
          <p:cNvSpPr>
            <a:spLocks noGrp="1"/>
          </p:cNvSpPr>
          <p:nvPr>
            <p:ph type="sldNum" sz="quarter" idx="5"/>
          </p:nvPr>
        </p:nvSpPr>
        <p:spPr/>
        <p:txBody>
          <a:bodyPr/>
          <a:lstStyle/>
          <a:p>
            <a:fld id="{DA523E12-0A6D-4182-9F50-AC1EFE939C17}" type="slidenum">
              <a:rPr lang="en-US" smtClean="0"/>
              <a:t>5</a:t>
            </a:fld>
            <a:endParaRPr lang="en-US"/>
          </a:p>
        </p:txBody>
      </p:sp>
    </p:spTree>
    <p:extLst>
      <p:ext uri="{BB962C8B-B14F-4D97-AF65-F5344CB8AC3E}">
        <p14:creationId xmlns:p14="http://schemas.microsoft.com/office/powerpoint/2010/main" val="2553396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11213"/>
            <a:ext cx="5486400" cy="3086100"/>
          </a:xfrm>
        </p:spPr>
      </p:sp>
      <p:sp>
        <p:nvSpPr>
          <p:cNvPr id="3" name="Notes Placeholder 2"/>
          <p:cNvSpPr>
            <a:spLocks noGrp="1"/>
          </p:cNvSpPr>
          <p:nvPr>
            <p:ph type="body" idx="1"/>
          </p:nvPr>
        </p:nvSpPr>
        <p:spPr/>
        <p:txBody>
          <a:bodyPr/>
          <a:lstStyle/>
          <a:p>
            <a:r>
              <a:rPr lang="en-US">
                <a:ea typeface="Calibri"/>
                <a:cs typeface="Calibri"/>
              </a:rPr>
              <a:t>Shriya -&gt; </a:t>
            </a:r>
            <a:endParaRPr lang="en-US"/>
          </a:p>
        </p:txBody>
      </p:sp>
      <p:sp>
        <p:nvSpPr>
          <p:cNvPr id="4" name="Slide Number Placeholder 3"/>
          <p:cNvSpPr>
            <a:spLocks noGrp="1"/>
          </p:cNvSpPr>
          <p:nvPr>
            <p:ph type="sldNum" sz="quarter" idx="10"/>
          </p:nvPr>
        </p:nvSpPr>
        <p:spPr/>
        <p:txBody>
          <a:bodyPr/>
          <a:lstStyle/>
          <a:p>
            <a:pPr algn="r" defTabSz="1218804">
              <a:lnSpc>
                <a:spcPct val="90000"/>
              </a:lnSpc>
              <a:spcBef>
                <a:spcPts val="600"/>
              </a:spcBef>
            </a:pPr>
            <a:fld id="{BA4D5A8E-FAA0-45A7-BEAC-4F7A9F9A19E2}" type="slidenum">
              <a:rPr lang="en-US" smtClean="0"/>
              <a:pPr algn="r" defTabSz="1218804">
                <a:lnSpc>
                  <a:spcPct val="90000"/>
                </a:lnSpc>
                <a:spcBef>
                  <a:spcPts val="600"/>
                </a:spcBef>
              </a:pPr>
              <a:t>6</a:t>
            </a:fld>
            <a:endParaRPr lang="en-US"/>
          </a:p>
        </p:txBody>
      </p:sp>
    </p:spTree>
    <p:extLst>
      <p:ext uri="{BB962C8B-B14F-4D97-AF65-F5344CB8AC3E}">
        <p14:creationId xmlns:p14="http://schemas.microsoft.com/office/powerpoint/2010/main" val="1020485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Chloe </a:t>
            </a:r>
          </a:p>
        </p:txBody>
      </p:sp>
      <p:sp>
        <p:nvSpPr>
          <p:cNvPr id="4" name="Slide Number Placeholder 3"/>
          <p:cNvSpPr>
            <a:spLocks noGrp="1"/>
          </p:cNvSpPr>
          <p:nvPr>
            <p:ph type="sldNum" sz="quarter" idx="5"/>
          </p:nvPr>
        </p:nvSpPr>
        <p:spPr/>
        <p:txBody>
          <a:bodyPr/>
          <a:lstStyle/>
          <a:p>
            <a:fld id="{DA523E12-0A6D-4182-9F50-AC1EFE939C17}" type="slidenum">
              <a:rPr lang="en-US" smtClean="0"/>
              <a:t>7</a:t>
            </a:fld>
            <a:endParaRPr lang="en-US"/>
          </a:p>
        </p:txBody>
      </p:sp>
    </p:spTree>
    <p:extLst>
      <p:ext uri="{BB962C8B-B14F-4D97-AF65-F5344CB8AC3E}">
        <p14:creationId xmlns:p14="http://schemas.microsoft.com/office/powerpoint/2010/main" val="3529473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Chloe </a:t>
            </a:r>
          </a:p>
        </p:txBody>
      </p:sp>
      <p:sp>
        <p:nvSpPr>
          <p:cNvPr id="4" name="Slide Number Placeholder 3"/>
          <p:cNvSpPr>
            <a:spLocks noGrp="1"/>
          </p:cNvSpPr>
          <p:nvPr>
            <p:ph type="sldNum" sz="quarter" idx="5"/>
          </p:nvPr>
        </p:nvSpPr>
        <p:spPr/>
        <p:txBody>
          <a:bodyPr/>
          <a:lstStyle/>
          <a:p>
            <a:fld id="{DA523E12-0A6D-4182-9F50-AC1EFE939C17}" type="slidenum">
              <a:rPr lang="en-US" smtClean="0"/>
              <a:t>8</a:t>
            </a:fld>
            <a:endParaRPr lang="en-US"/>
          </a:p>
        </p:txBody>
      </p:sp>
    </p:spTree>
    <p:extLst>
      <p:ext uri="{BB962C8B-B14F-4D97-AF65-F5344CB8AC3E}">
        <p14:creationId xmlns:p14="http://schemas.microsoft.com/office/powerpoint/2010/main" val="4136035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DFD4-386F-EFE0-E84F-75A5EAF35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8C99A-D4E4-6B78-6147-ED873CAE4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15B4F-7A29-2FE6-E852-49598F60D01F}"/>
              </a:ext>
            </a:extLst>
          </p:cNvPr>
          <p:cNvSpPr>
            <a:spLocks noGrp="1"/>
          </p:cNvSpPr>
          <p:nvPr>
            <p:ph type="body" idx="1"/>
          </p:nvPr>
        </p:nvSpPr>
        <p:spPr/>
        <p:txBody>
          <a:bodyPr/>
          <a:lstStyle/>
          <a:p>
            <a:r>
              <a:rPr lang="en-US">
                <a:ea typeface="Calibri"/>
                <a:cs typeface="Calibri"/>
              </a:rPr>
              <a:t>Chloe </a:t>
            </a:r>
          </a:p>
        </p:txBody>
      </p:sp>
      <p:sp>
        <p:nvSpPr>
          <p:cNvPr id="4" name="Slide Number Placeholder 3">
            <a:extLst>
              <a:ext uri="{FF2B5EF4-FFF2-40B4-BE49-F238E27FC236}">
                <a16:creationId xmlns:a16="http://schemas.microsoft.com/office/drawing/2014/main" id="{C1CC5440-0969-2093-9C0B-7E0D3ED6F9EC}"/>
              </a:ext>
            </a:extLst>
          </p:cNvPr>
          <p:cNvSpPr>
            <a:spLocks noGrp="1"/>
          </p:cNvSpPr>
          <p:nvPr>
            <p:ph type="sldNum" sz="quarter" idx="5"/>
          </p:nvPr>
        </p:nvSpPr>
        <p:spPr/>
        <p:txBody>
          <a:bodyPr/>
          <a:lstStyle/>
          <a:p>
            <a:fld id="{DA523E12-0A6D-4182-9F50-AC1EFE939C17}" type="slidenum">
              <a:rPr lang="en-US" smtClean="0"/>
              <a:t>9</a:t>
            </a:fld>
            <a:endParaRPr lang="en-US"/>
          </a:p>
        </p:txBody>
      </p:sp>
    </p:spTree>
    <p:extLst>
      <p:ext uri="{BB962C8B-B14F-4D97-AF65-F5344CB8AC3E}">
        <p14:creationId xmlns:p14="http://schemas.microsoft.com/office/powerpoint/2010/main" val="4275862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11213"/>
            <a:ext cx="5486400" cy="3086100"/>
          </a:xfrm>
        </p:spPr>
      </p:sp>
      <p:sp>
        <p:nvSpPr>
          <p:cNvPr id="3" name="Notes Placeholder 2"/>
          <p:cNvSpPr>
            <a:spLocks noGrp="1"/>
          </p:cNvSpPr>
          <p:nvPr>
            <p:ph type="body" idx="1"/>
          </p:nvPr>
        </p:nvSpPr>
        <p:spPr/>
        <p:txBody>
          <a:bodyPr/>
          <a:lstStyle/>
          <a:p>
            <a:r>
              <a:rPr lang="en-US">
                <a:ea typeface="Calibri"/>
                <a:cs typeface="Calibri"/>
              </a:rPr>
              <a:t>Chloe -&gt; Connor </a:t>
            </a:r>
            <a:endParaRPr lang="en-US"/>
          </a:p>
        </p:txBody>
      </p:sp>
      <p:sp>
        <p:nvSpPr>
          <p:cNvPr id="4" name="Slide Number Placeholder 3"/>
          <p:cNvSpPr>
            <a:spLocks noGrp="1"/>
          </p:cNvSpPr>
          <p:nvPr>
            <p:ph type="sldNum" sz="quarter" idx="10"/>
          </p:nvPr>
        </p:nvSpPr>
        <p:spPr/>
        <p:txBody>
          <a:bodyPr/>
          <a:lstStyle/>
          <a:p>
            <a:pPr algn="r" defTabSz="1218804">
              <a:lnSpc>
                <a:spcPct val="90000"/>
              </a:lnSpc>
              <a:spcBef>
                <a:spcPts val="600"/>
              </a:spcBef>
            </a:pPr>
            <a:fld id="{BA4D5A8E-FAA0-45A7-BEAC-4F7A9F9A19E2}" type="slidenum">
              <a:rPr lang="en-US" smtClean="0"/>
              <a:pPr algn="r" defTabSz="1218804">
                <a:lnSpc>
                  <a:spcPct val="90000"/>
                </a:lnSpc>
                <a:spcBef>
                  <a:spcPts val="600"/>
                </a:spcBef>
              </a:pPr>
              <a:t>11</a:t>
            </a:fld>
            <a:endParaRPr lang="en-US"/>
          </a:p>
        </p:txBody>
      </p:sp>
    </p:spTree>
    <p:extLst>
      <p:ext uri="{BB962C8B-B14F-4D97-AF65-F5344CB8AC3E}">
        <p14:creationId xmlns:p14="http://schemas.microsoft.com/office/powerpoint/2010/main" val="2210864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Connor </a:t>
            </a:r>
          </a:p>
        </p:txBody>
      </p:sp>
      <p:sp>
        <p:nvSpPr>
          <p:cNvPr id="4" name="Slide Number Placeholder 3"/>
          <p:cNvSpPr>
            <a:spLocks noGrp="1"/>
          </p:cNvSpPr>
          <p:nvPr>
            <p:ph type="sldNum" sz="quarter" idx="5"/>
          </p:nvPr>
        </p:nvSpPr>
        <p:spPr/>
        <p:txBody>
          <a:bodyPr/>
          <a:lstStyle/>
          <a:p>
            <a:fld id="{DA523E12-0A6D-4182-9F50-AC1EFE939C17}" type="slidenum">
              <a:rPr lang="en-US" smtClean="0"/>
              <a:t>12</a:t>
            </a:fld>
            <a:endParaRPr lang="en-US"/>
          </a:p>
        </p:txBody>
      </p:sp>
    </p:spTree>
    <p:extLst>
      <p:ext uri="{BB962C8B-B14F-4D97-AF65-F5344CB8AC3E}">
        <p14:creationId xmlns:p14="http://schemas.microsoft.com/office/powerpoint/2010/main" val="1170663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4F0B-3F91-51FC-538F-69FE36DC6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0EDC2-789E-F459-13F0-C9FE690A6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A9EE4-4CFC-B086-A4D3-9C1B6DFCBAE8}"/>
              </a:ext>
            </a:extLst>
          </p:cNvPr>
          <p:cNvSpPr>
            <a:spLocks noGrp="1"/>
          </p:cNvSpPr>
          <p:nvPr>
            <p:ph type="body" idx="1"/>
          </p:nvPr>
        </p:nvSpPr>
        <p:spPr/>
        <p:txBody>
          <a:bodyPr/>
          <a:lstStyle/>
          <a:p>
            <a:r>
              <a:rPr lang="en-US">
                <a:ea typeface="Calibri"/>
                <a:cs typeface="Calibri"/>
              </a:rPr>
              <a:t>Connor </a:t>
            </a:r>
            <a:endParaRPr lang="en-US"/>
          </a:p>
        </p:txBody>
      </p:sp>
      <p:sp>
        <p:nvSpPr>
          <p:cNvPr id="4" name="Slide Number Placeholder 3">
            <a:extLst>
              <a:ext uri="{FF2B5EF4-FFF2-40B4-BE49-F238E27FC236}">
                <a16:creationId xmlns:a16="http://schemas.microsoft.com/office/drawing/2014/main" id="{532373FC-EED5-0EFF-8440-DB613DFEF25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238353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11213"/>
            <a:ext cx="5486400" cy="3086100"/>
          </a:xfrm>
        </p:spPr>
      </p:sp>
      <p:sp>
        <p:nvSpPr>
          <p:cNvPr id="3" name="Notes Placeholder 2"/>
          <p:cNvSpPr>
            <a:spLocks noGrp="1"/>
          </p:cNvSpPr>
          <p:nvPr>
            <p:ph type="body" idx="1"/>
          </p:nvPr>
        </p:nvSpPr>
        <p:spPr/>
        <p:txBody>
          <a:bodyPr/>
          <a:lstStyle/>
          <a:p>
            <a:r>
              <a:rPr lang="en-US">
                <a:ea typeface="Calibri"/>
                <a:cs typeface="Calibri"/>
              </a:rPr>
              <a:t>Connor </a:t>
            </a:r>
            <a:endParaRPr lang="en-US"/>
          </a:p>
        </p:txBody>
      </p:sp>
      <p:sp>
        <p:nvSpPr>
          <p:cNvPr id="4" name="Slide Number Placeholder 3"/>
          <p:cNvSpPr>
            <a:spLocks noGrp="1"/>
          </p:cNvSpPr>
          <p:nvPr>
            <p:ph type="sldNum" sz="quarter" idx="10"/>
          </p:nvPr>
        </p:nvSpPr>
        <p:spPr/>
        <p:txBody>
          <a:bodyPr/>
          <a:lstStyle/>
          <a:p>
            <a:pPr algn="r" defTabSz="1218804">
              <a:lnSpc>
                <a:spcPct val="90000"/>
              </a:lnSpc>
              <a:spcBef>
                <a:spcPts val="600"/>
              </a:spcBef>
            </a:pPr>
            <a:fld id="{BA4D5A8E-FAA0-45A7-BEAC-4F7A9F9A19E2}" type="slidenum">
              <a:rPr lang="en-US" smtClean="0"/>
              <a:pPr algn="r" defTabSz="1218804">
                <a:lnSpc>
                  <a:spcPct val="90000"/>
                </a:lnSpc>
                <a:spcBef>
                  <a:spcPts val="600"/>
                </a:spcBef>
              </a:pPr>
              <a:t>14</a:t>
            </a:fld>
            <a:endParaRPr lang="en-US"/>
          </a:p>
        </p:txBody>
      </p:sp>
    </p:spTree>
    <p:extLst>
      <p:ext uri="{BB962C8B-B14F-4D97-AF65-F5344CB8AC3E}">
        <p14:creationId xmlns:p14="http://schemas.microsoft.com/office/powerpoint/2010/main" val="3188958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Connor </a:t>
            </a:r>
          </a:p>
        </p:txBody>
      </p:sp>
      <p:sp>
        <p:nvSpPr>
          <p:cNvPr id="4" name="Slide Number Placeholder 3"/>
          <p:cNvSpPr>
            <a:spLocks noGrp="1"/>
          </p:cNvSpPr>
          <p:nvPr>
            <p:ph type="sldNum" sz="quarter" idx="5"/>
          </p:nvPr>
        </p:nvSpPr>
        <p:spPr/>
        <p:txBody>
          <a:bodyPr/>
          <a:lstStyle/>
          <a:p>
            <a:fld id="{DA523E12-0A6D-4182-9F50-AC1EFE939C17}" type="slidenum">
              <a:rPr lang="en-US" smtClean="0"/>
              <a:t>15</a:t>
            </a:fld>
            <a:endParaRPr lang="en-US"/>
          </a:p>
        </p:txBody>
      </p:sp>
    </p:spTree>
    <p:extLst>
      <p:ext uri="{BB962C8B-B14F-4D97-AF65-F5344CB8AC3E}">
        <p14:creationId xmlns:p14="http://schemas.microsoft.com/office/powerpoint/2010/main" val="2471402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18D2-58FA-906D-8F03-6BFC56BFD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89B9F-7951-9337-95E3-5A98140BDB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344FB-B212-2758-014E-209E31369ACA}"/>
              </a:ext>
            </a:extLst>
          </p:cNvPr>
          <p:cNvSpPr>
            <a:spLocks noGrp="1"/>
          </p:cNvSpPr>
          <p:nvPr>
            <p:ph type="body" idx="1"/>
          </p:nvPr>
        </p:nvSpPr>
        <p:spPr/>
        <p:txBody>
          <a:bodyPr/>
          <a:lstStyle/>
          <a:p>
            <a:r>
              <a:rPr lang="en-US">
                <a:ea typeface="Calibri"/>
                <a:cs typeface="Calibri"/>
              </a:rPr>
              <a:t>Our second question was whether or not we could improve or maintain current customer satisfaction scores and material fill rate levels with a lower </a:t>
            </a:r>
            <a:r>
              <a:rPr lang="en-US" err="1">
                <a:ea typeface="Calibri"/>
                <a:cs typeface="Calibri"/>
              </a:rPr>
              <a:t>invnetory</a:t>
            </a:r>
            <a:r>
              <a:rPr lang="en-US">
                <a:ea typeface="Calibri"/>
                <a:cs typeface="Calibri"/>
              </a:rPr>
              <a:t> level. For this we evaluated two metrics: a volumetric fill rate (% of part orders fulfilled) and an order line fulfillment rate. Both of these performed as expected with our </a:t>
            </a:r>
            <a:r>
              <a:rPr lang="en-US" err="1">
                <a:ea typeface="Calibri"/>
                <a:cs typeface="Calibri"/>
              </a:rPr>
              <a:t>Poission</a:t>
            </a:r>
            <a:r>
              <a:rPr lang="en-US">
                <a:ea typeface="Calibri"/>
                <a:cs typeface="Calibri"/>
              </a:rPr>
              <a:t> model returning over a 95% fill rate. We also created a metric for evaluating customer satisfaction scores by looking at the date a repair shipment was promised to a customer and the actual date it was shipped to them, with a shipment on or before the promise date resulting in a hit and a late shipment resulting in a miss. From this we found that despite having an extremely high </a:t>
            </a:r>
            <a:r>
              <a:rPr lang="en-US" err="1">
                <a:ea typeface="Calibri"/>
                <a:cs typeface="Calibri"/>
              </a:rPr>
              <a:t>fullfillment</a:t>
            </a:r>
            <a:r>
              <a:rPr lang="en-US">
                <a:ea typeface="Calibri"/>
                <a:cs typeface="Calibri"/>
              </a:rPr>
              <a:t> rate they still missed on average 3 out of 4 of their promise ship dates across various evaluated months. This showed that our model required the tradeoff for a higher safety stock to improve customer satisfaction scores as they wouldn't have to backorder as many parts from their suppliers. </a:t>
            </a:r>
            <a:endParaRPr lang="en-US" err="1">
              <a:ea typeface="Calibri"/>
              <a:cs typeface="Calibri"/>
            </a:endParaRPr>
          </a:p>
        </p:txBody>
      </p:sp>
      <p:sp>
        <p:nvSpPr>
          <p:cNvPr id="4" name="Slide Number Placeholder 3">
            <a:extLst>
              <a:ext uri="{FF2B5EF4-FFF2-40B4-BE49-F238E27FC236}">
                <a16:creationId xmlns:a16="http://schemas.microsoft.com/office/drawing/2014/main" id="{8E3DF507-4ECE-8988-BC17-38705BEE3A5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146460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E234-46BE-BCDE-5E68-A93C83D2A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91856-9766-1E04-F0CC-6FC4E93E08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724C4-EC49-B55A-8F81-8D210D72ACC9}"/>
              </a:ext>
            </a:extLst>
          </p:cNvPr>
          <p:cNvSpPr>
            <a:spLocks noGrp="1"/>
          </p:cNvSpPr>
          <p:nvPr>
            <p:ph type="body" idx="1"/>
          </p:nvPr>
        </p:nvSpPr>
        <p:spPr/>
        <p:txBody>
          <a:bodyPr/>
          <a:lstStyle/>
          <a:p>
            <a:r>
              <a:rPr lang="en-US">
                <a:ea typeface="Calibri"/>
                <a:cs typeface="Calibri"/>
              </a:rPr>
              <a:t>Our second question was whether or not we could improve or maintain current customer satisfaction scores and material fill rate levels with a lower </a:t>
            </a:r>
            <a:r>
              <a:rPr lang="en-US" err="1">
                <a:ea typeface="Calibri"/>
                <a:cs typeface="Calibri"/>
              </a:rPr>
              <a:t>invnetory</a:t>
            </a:r>
            <a:r>
              <a:rPr lang="en-US">
                <a:ea typeface="Calibri"/>
                <a:cs typeface="Calibri"/>
              </a:rPr>
              <a:t> level. For this we evaluated two metrics: a volumetric fill rate (% of part orders fulfilled) and an order line fulfillment rate. Both of these performed as expected with our </a:t>
            </a:r>
            <a:r>
              <a:rPr lang="en-US" err="1">
                <a:ea typeface="Calibri"/>
                <a:cs typeface="Calibri"/>
              </a:rPr>
              <a:t>Poission</a:t>
            </a:r>
            <a:r>
              <a:rPr lang="en-US">
                <a:ea typeface="Calibri"/>
                <a:cs typeface="Calibri"/>
              </a:rPr>
              <a:t> model returning over a 95% fill rate. We also created a metric for evaluating customer satisfaction scores by looking at the date a repair shipment was promised to a customer and the actual date it was shipped to them, with a shipment on or before the promise date resulting in a hit and a late shipment resulting in a miss. From this we found that despite having an extremely high </a:t>
            </a:r>
            <a:r>
              <a:rPr lang="en-US" err="1">
                <a:ea typeface="Calibri"/>
                <a:cs typeface="Calibri"/>
              </a:rPr>
              <a:t>fullfillment</a:t>
            </a:r>
            <a:r>
              <a:rPr lang="en-US">
                <a:ea typeface="Calibri"/>
                <a:cs typeface="Calibri"/>
              </a:rPr>
              <a:t> rate they still missed on average 3 out of 4 of their promise ship dates across various evaluated months. This showed that our model required the tradeoff for a higher safety stock to improve customer satisfaction scores as they wouldn't have to backorder as many parts from their suppliers. </a:t>
            </a:r>
            <a:endParaRPr lang="en-US" err="1">
              <a:ea typeface="Calibri"/>
              <a:cs typeface="Calibri"/>
            </a:endParaRPr>
          </a:p>
        </p:txBody>
      </p:sp>
      <p:sp>
        <p:nvSpPr>
          <p:cNvPr id="4" name="Slide Number Placeholder 3">
            <a:extLst>
              <a:ext uri="{FF2B5EF4-FFF2-40B4-BE49-F238E27FC236}">
                <a16:creationId xmlns:a16="http://schemas.microsoft.com/office/drawing/2014/main" id="{BEB84ECB-2F0F-DA7A-6727-5176214257B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5341598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E7FEA-368D-53FA-EEA6-9B3FD7763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07665-FAD4-43C7-1060-0A47AB37A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7B8FD-792C-00F4-CC1A-48989F3AB92D}"/>
              </a:ext>
            </a:extLst>
          </p:cNvPr>
          <p:cNvSpPr>
            <a:spLocks noGrp="1"/>
          </p:cNvSpPr>
          <p:nvPr>
            <p:ph type="body" idx="1"/>
          </p:nvPr>
        </p:nvSpPr>
        <p:spPr/>
        <p:txBody>
          <a:bodyPr/>
          <a:lstStyle/>
          <a:p>
            <a:r>
              <a:rPr lang="en-US">
                <a:ea typeface="Calibri"/>
                <a:cs typeface="Calibri"/>
              </a:rPr>
              <a:t>Radha</a:t>
            </a:r>
          </a:p>
        </p:txBody>
      </p:sp>
      <p:sp>
        <p:nvSpPr>
          <p:cNvPr id="4" name="Slide Number Placeholder 3">
            <a:extLst>
              <a:ext uri="{FF2B5EF4-FFF2-40B4-BE49-F238E27FC236}">
                <a16:creationId xmlns:a16="http://schemas.microsoft.com/office/drawing/2014/main" id="{6D2BC73F-450B-E67B-33AF-45B6DF777851}"/>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561545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11213"/>
            <a:ext cx="5486400" cy="3086100"/>
          </a:xfrm>
        </p:spPr>
      </p:sp>
      <p:sp>
        <p:nvSpPr>
          <p:cNvPr id="3" name="Notes Placeholder 2"/>
          <p:cNvSpPr>
            <a:spLocks noGrp="1"/>
          </p:cNvSpPr>
          <p:nvPr>
            <p:ph type="body" idx="1"/>
          </p:nvPr>
        </p:nvSpPr>
        <p:spPr/>
        <p:txBody>
          <a:bodyPr/>
          <a:lstStyle/>
          <a:p>
            <a:r>
              <a:rPr lang="en-US">
                <a:ea typeface="Calibri"/>
                <a:cs typeface="Calibri"/>
              </a:rPr>
              <a:t>Radha</a:t>
            </a:r>
            <a:endParaRPr lang="en-US"/>
          </a:p>
        </p:txBody>
      </p:sp>
      <p:sp>
        <p:nvSpPr>
          <p:cNvPr id="4" name="Slide Number Placeholder 3"/>
          <p:cNvSpPr>
            <a:spLocks noGrp="1"/>
          </p:cNvSpPr>
          <p:nvPr>
            <p:ph type="sldNum" sz="quarter" idx="10"/>
          </p:nvPr>
        </p:nvSpPr>
        <p:spPr/>
        <p:txBody>
          <a:bodyPr/>
          <a:lstStyle/>
          <a:p>
            <a:pPr algn="r" defTabSz="1218804">
              <a:lnSpc>
                <a:spcPct val="90000"/>
              </a:lnSpc>
              <a:spcBef>
                <a:spcPts val="600"/>
              </a:spcBef>
            </a:pPr>
            <a:fld id="{BA4D5A8E-FAA0-45A7-BEAC-4F7A9F9A19E2}" type="slidenum">
              <a:rPr lang="en-US" smtClean="0"/>
              <a:pPr algn="r" defTabSz="1218804">
                <a:lnSpc>
                  <a:spcPct val="90000"/>
                </a:lnSpc>
                <a:spcBef>
                  <a:spcPts val="600"/>
                </a:spcBef>
              </a:pPr>
              <a:t>19</a:t>
            </a:fld>
            <a:endParaRPr lang="en-US"/>
          </a:p>
        </p:txBody>
      </p:sp>
    </p:spTree>
    <p:extLst>
      <p:ext uri="{BB962C8B-B14F-4D97-AF65-F5344CB8AC3E}">
        <p14:creationId xmlns:p14="http://schemas.microsoft.com/office/powerpoint/2010/main" val="3935562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Our next steps would be exploring the possibility of combining both zebra's current methodology and our new proposed methodology. During this project we found </a:t>
            </a:r>
            <a:r>
              <a:rPr lang="en-US" err="1">
                <a:ea typeface="Calibri"/>
                <a:cs typeface="Calibri"/>
              </a:rPr>
              <a:t>tradeof</a:t>
            </a:r>
            <a:r>
              <a:rPr lang="en-US">
                <a:ea typeface="Calibri"/>
                <a:cs typeface="Calibri"/>
              </a:rPr>
              <a:t>fs between the two approaches with our model performing better in terms of stockouts but at the cost of a higher </a:t>
            </a:r>
            <a:r>
              <a:rPr lang="en-US" err="1">
                <a:ea typeface="Calibri"/>
                <a:cs typeface="Calibri"/>
              </a:rPr>
              <a:t>saftey</a:t>
            </a:r>
            <a:r>
              <a:rPr lang="en-US">
                <a:ea typeface="Calibri"/>
                <a:cs typeface="Calibri"/>
              </a:rPr>
              <a:t> stock. Their model had more accuracy with respect to hits in the forecast – likely due to their historical data being larger compared to what we could work with. This change should result in customer satisfaction rates going up, fixing supplier issues with less shipments and spending less on holding stock for too long. Finally in terms of evaluation and metrics we could utilize their payment information to extract </a:t>
            </a:r>
            <a:r>
              <a:rPr lang="en-US" err="1">
                <a:ea typeface="Calibri"/>
                <a:cs typeface="Calibri"/>
              </a:rPr>
              <a:t>additonal</a:t>
            </a:r>
            <a:r>
              <a:rPr lang="en-US">
                <a:ea typeface="Calibri"/>
                <a:cs typeface="Calibri"/>
              </a:rPr>
              <a:t> metrics that show how much cost is incurred by ordering our </a:t>
            </a:r>
            <a:r>
              <a:rPr lang="en-US" err="1">
                <a:ea typeface="Calibri"/>
                <a:cs typeface="Calibri"/>
              </a:rPr>
              <a:t>invnetory</a:t>
            </a:r>
            <a:r>
              <a:rPr lang="en-US">
                <a:ea typeface="Calibri"/>
                <a:cs typeface="Calibri"/>
              </a:rPr>
              <a:t> too early and potential cost savings or tradeoffs with various modeling decisions. </a:t>
            </a:r>
          </a:p>
        </p:txBody>
      </p:sp>
      <p:sp>
        <p:nvSpPr>
          <p:cNvPr id="4" name="Slide Number Placeholder 3"/>
          <p:cNvSpPr>
            <a:spLocks noGrp="1"/>
          </p:cNvSpPr>
          <p:nvPr>
            <p:ph type="sldNum" sz="quarter" idx="5"/>
          </p:nvPr>
        </p:nvSpPr>
        <p:spPr/>
        <p:txBody>
          <a:bodyPr/>
          <a:lstStyle/>
          <a:p>
            <a:fld id="{DA523E12-0A6D-4182-9F50-AC1EFE939C17}" type="slidenum">
              <a:rPr lang="en-US" smtClean="0"/>
              <a:t>20</a:t>
            </a:fld>
            <a:endParaRPr lang="en-US"/>
          </a:p>
        </p:txBody>
      </p:sp>
    </p:spTree>
    <p:extLst>
      <p:ext uri="{BB962C8B-B14F-4D97-AF65-F5344CB8AC3E}">
        <p14:creationId xmlns:p14="http://schemas.microsoft.com/office/powerpoint/2010/main" val="2997127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811213"/>
            <a:ext cx="5486400" cy="3086100"/>
          </a:xfrm>
        </p:spPr>
      </p:sp>
      <p:sp>
        <p:nvSpPr>
          <p:cNvPr id="3" name="Notes Placeholder 2"/>
          <p:cNvSpPr>
            <a:spLocks noGrp="1"/>
          </p:cNvSpPr>
          <p:nvPr>
            <p:ph type="body" idx="1"/>
          </p:nvPr>
        </p:nvSpPr>
        <p:spPr/>
        <p:txBody>
          <a:bodyPr/>
          <a:lstStyle/>
          <a:p>
            <a:r>
              <a:rPr lang="en-US">
                <a:ea typeface="Calibri"/>
                <a:cs typeface="Calibri"/>
              </a:rPr>
              <a:t>Radha -&gt; Somil </a:t>
            </a:r>
            <a:endParaRPr lang="en-US"/>
          </a:p>
        </p:txBody>
      </p:sp>
      <p:sp>
        <p:nvSpPr>
          <p:cNvPr id="4" name="Slide Number Placeholder 3"/>
          <p:cNvSpPr>
            <a:spLocks noGrp="1"/>
          </p:cNvSpPr>
          <p:nvPr>
            <p:ph type="sldNum" sz="quarter" idx="10"/>
          </p:nvPr>
        </p:nvSpPr>
        <p:spPr/>
        <p:txBody>
          <a:bodyPr/>
          <a:lstStyle/>
          <a:p>
            <a:pPr algn="r" defTabSz="1218804">
              <a:lnSpc>
                <a:spcPct val="90000"/>
              </a:lnSpc>
              <a:spcBef>
                <a:spcPts val="600"/>
              </a:spcBef>
            </a:pPr>
            <a:fld id="{BA4D5A8E-FAA0-45A7-BEAC-4F7A9F9A19E2}" type="slidenum">
              <a:rPr lang="en-US" smtClean="0"/>
              <a:pPr algn="r" defTabSz="1218804">
                <a:lnSpc>
                  <a:spcPct val="90000"/>
                </a:lnSpc>
                <a:spcBef>
                  <a:spcPts val="600"/>
                </a:spcBef>
              </a:pPr>
              <a:t>21</a:t>
            </a:fld>
            <a:endParaRPr lang="en-US"/>
          </a:p>
        </p:txBody>
      </p:sp>
    </p:spTree>
    <p:extLst>
      <p:ext uri="{BB962C8B-B14F-4D97-AF65-F5344CB8AC3E}">
        <p14:creationId xmlns:p14="http://schemas.microsoft.com/office/powerpoint/2010/main" val="4588381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Radha</a:t>
            </a:r>
          </a:p>
        </p:txBody>
      </p:sp>
      <p:sp>
        <p:nvSpPr>
          <p:cNvPr id="4" name="Slide Number Placeholder 3"/>
          <p:cNvSpPr>
            <a:spLocks noGrp="1"/>
          </p:cNvSpPr>
          <p:nvPr>
            <p:ph type="sldNum" sz="quarter" idx="5"/>
          </p:nvPr>
        </p:nvSpPr>
        <p:spPr/>
        <p:txBody>
          <a:bodyPr/>
          <a:lstStyle/>
          <a:p>
            <a:fld id="{DA523E12-0A6D-4182-9F50-AC1EFE939C17}" type="slidenum">
              <a:rPr lang="en-US" smtClean="0"/>
              <a:t>22</a:t>
            </a:fld>
            <a:endParaRPr lang="en-US"/>
          </a:p>
        </p:txBody>
      </p:sp>
    </p:spTree>
    <p:extLst>
      <p:ext uri="{BB962C8B-B14F-4D97-AF65-F5344CB8AC3E}">
        <p14:creationId xmlns:p14="http://schemas.microsoft.com/office/powerpoint/2010/main" val="974324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64FC9-6490-436D-BF97-F87EB489DF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82E072-49E7-4E32-AD3C-BE01BEA160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DF3644-4A51-44B2-87B4-04B205DFB117}"/>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5" name="Footer Placeholder 4">
            <a:extLst>
              <a:ext uri="{FF2B5EF4-FFF2-40B4-BE49-F238E27FC236}">
                <a16:creationId xmlns:a16="http://schemas.microsoft.com/office/drawing/2014/main" id="{C51DF836-D759-42C3-BC40-B35BCC2974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2DD94-3C79-4DB8-AC66-350709687C9F}"/>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1098301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0FBB6-A5B1-473C-978D-A6AB39957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C202E4-EDBC-41F7-ACDC-2D4AE01DCC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658BD-1B0C-4F49-9F26-9E816F2531EE}"/>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5" name="Footer Placeholder 4">
            <a:extLst>
              <a:ext uri="{FF2B5EF4-FFF2-40B4-BE49-F238E27FC236}">
                <a16:creationId xmlns:a16="http://schemas.microsoft.com/office/drawing/2014/main" id="{88718917-D0EF-4A74-BF77-303AF19304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7FF01A-0314-43DC-9FC9-97D62AF6D6C5}"/>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2529949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9ADE6-ABC2-4907-B1ED-44AF14460B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4B2513-DE9E-4DD4-89B5-6C22506CE00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633278-F0FF-490F-BFB8-EEF468B9419B}"/>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5" name="Footer Placeholder 4">
            <a:extLst>
              <a:ext uri="{FF2B5EF4-FFF2-40B4-BE49-F238E27FC236}">
                <a16:creationId xmlns:a16="http://schemas.microsoft.com/office/drawing/2014/main" id="{95FEF04C-A3C1-40AF-870E-DAF4356FB2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4CCE7E-A86A-4334-B2C7-A89DD35E2434}"/>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1797272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0546B-C46A-4E87-9096-18D89DCD2A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6E9711-C3BE-4F2E-804B-6C5AEAB72B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A6B9D5E-F2E5-4577-AC22-9571092A23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1C4E68-A147-4DF8-9B8D-4AE28FB999C2}"/>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6" name="Footer Placeholder 5">
            <a:extLst>
              <a:ext uri="{FF2B5EF4-FFF2-40B4-BE49-F238E27FC236}">
                <a16:creationId xmlns:a16="http://schemas.microsoft.com/office/drawing/2014/main" id="{AE70FEFB-0FFD-426D-8BDE-88630AC1F1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023F68-9461-480C-ABAF-F7E0DA42A233}"/>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98918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FFE9B-0A54-49DD-88EE-6FAE3E8692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7073F6B-0509-41DB-96F5-29238C6941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3CD3D9-967A-4244-831E-84669F012D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0A7C8C-458C-483E-AA9B-7C13D7D7F2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B34DD-B5B3-4380-BE36-F1495FA382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98091-A8F7-4454-A9A9-D22A7B1AC0BC}"/>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8" name="Footer Placeholder 7">
            <a:extLst>
              <a:ext uri="{FF2B5EF4-FFF2-40B4-BE49-F238E27FC236}">
                <a16:creationId xmlns:a16="http://schemas.microsoft.com/office/drawing/2014/main" id="{497CAADA-BBA9-4A15-9BC7-C6636AE132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9384C83-3729-46F9-A514-20D01711F2DC}"/>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58407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1FFA9-06F8-4571-A0EF-BD70D8F898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5BA8B1-5B80-4EC6-8B73-B3870B5951C4}"/>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4" name="Footer Placeholder 3">
            <a:extLst>
              <a:ext uri="{FF2B5EF4-FFF2-40B4-BE49-F238E27FC236}">
                <a16:creationId xmlns:a16="http://schemas.microsoft.com/office/drawing/2014/main" id="{05F58346-F489-44EE-922B-6EC858694A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220D7F0-E39C-4DE1-9616-CDC6C116E689}"/>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2883084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EF7C4B-E7CC-4AEA-BC43-117863F42C32}"/>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3" name="Footer Placeholder 2">
            <a:extLst>
              <a:ext uri="{FF2B5EF4-FFF2-40B4-BE49-F238E27FC236}">
                <a16:creationId xmlns:a16="http://schemas.microsoft.com/office/drawing/2014/main" id="{430F4468-8BC6-4C07-AFAE-5A22EC6DA7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23BF2B-851F-47D3-8651-31F386BAFF7D}"/>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631164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23FDD-96A3-4112-AE69-6691C4DC60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CAAFAC-59B7-45FB-BBA1-31CA9F6484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047274-0A10-4EE8-968A-224DB10EE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244EB4-DDBE-49E5-9425-A220DEC00C1F}"/>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6" name="Footer Placeholder 5">
            <a:extLst>
              <a:ext uri="{FF2B5EF4-FFF2-40B4-BE49-F238E27FC236}">
                <a16:creationId xmlns:a16="http://schemas.microsoft.com/office/drawing/2014/main" id="{E339CAD5-5ECD-4339-BDBF-A3CBAE09E5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A20741-BC94-4FD0-943F-2A0423CD0600}"/>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1254633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31C0B-8E75-4D4B-85ED-72668E4408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78779E-5E32-4EE6-BEDC-1907F5B4FF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27F2E-35DF-47D6-9342-855018ADD3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6A51C4-9486-4771-99F9-81A608029A9F}"/>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6" name="Footer Placeholder 5">
            <a:extLst>
              <a:ext uri="{FF2B5EF4-FFF2-40B4-BE49-F238E27FC236}">
                <a16:creationId xmlns:a16="http://schemas.microsoft.com/office/drawing/2014/main" id="{59419039-15DC-4A10-A338-002CFAF425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4E92A0-637A-4FC8-A9B4-99FD6720537E}"/>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288252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CFC41-BE12-451F-97B4-E82ABE1236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5191D-B280-40A5-85FC-245C585D0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6E6BD7-EE92-4CC9-80C3-64D3028FEE51}"/>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5" name="Footer Placeholder 4">
            <a:extLst>
              <a:ext uri="{FF2B5EF4-FFF2-40B4-BE49-F238E27FC236}">
                <a16:creationId xmlns:a16="http://schemas.microsoft.com/office/drawing/2014/main" id="{6231A325-3334-477B-B279-C9E1BB0B02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95B3FF-E414-4A18-BCB6-174FFC9418A6}"/>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500269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3BD764-D2B7-45FA-ADFD-65B56C1F7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5B9D73-F7C4-415A-B0EF-9C79374E9D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662520-2792-46A0-A3C7-3F0C55C8DAD6}"/>
              </a:ext>
            </a:extLst>
          </p:cNvPr>
          <p:cNvSpPr>
            <a:spLocks noGrp="1"/>
          </p:cNvSpPr>
          <p:nvPr>
            <p:ph type="dt" sz="half" idx="10"/>
          </p:nvPr>
        </p:nvSpPr>
        <p:spPr/>
        <p:txBody>
          <a:bodyPr/>
          <a:lstStyle/>
          <a:p>
            <a:fld id="{A001469B-A772-4946-BACD-E36B4609DE81}" type="datetimeFigureOut">
              <a:rPr lang="en-US" smtClean="0"/>
              <a:t>4/23/2026</a:t>
            </a:fld>
            <a:endParaRPr lang="en-US"/>
          </a:p>
        </p:txBody>
      </p:sp>
      <p:sp>
        <p:nvSpPr>
          <p:cNvPr id="5" name="Footer Placeholder 4">
            <a:extLst>
              <a:ext uri="{FF2B5EF4-FFF2-40B4-BE49-F238E27FC236}">
                <a16:creationId xmlns:a16="http://schemas.microsoft.com/office/drawing/2014/main" id="{7CEA44DB-3A67-4EDE-A0A5-C3AE86336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FC77A-6471-4346-8299-6666EDD5183E}"/>
              </a:ext>
            </a:extLst>
          </p:cNvPr>
          <p:cNvSpPr>
            <a:spLocks noGrp="1"/>
          </p:cNvSpPr>
          <p:nvPr>
            <p:ph type="sldNum" sz="quarter" idx="12"/>
          </p:nvPr>
        </p:nvSpPr>
        <p:spPr/>
        <p:txBody>
          <a:bodyPr/>
          <a:lstStyle/>
          <a:p>
            <a:fld id="{03BA1C0C-687E-4673-B319-D676DB1A7ADD}" type="slidenum">
              <a:rPr lang="en-US" smtClean="0"/>
              <a:t>‹#›</a:t>
            </a:fld>
            <a:endParaRPr lang="en-US"/>
          </a:p>
        </p:txBody>
      </p:sp>
    </p:spTree>
    <p:extLst>
      <p:ext uri="{BB962C8B-B14F-4D97-AF65-F5344CB8AC3E}">
        <p14:creationId xmlns:p14="http://schemas.microsoft.com/office/powerpoint/2010/main" val="36840006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 item Agenda">
    <p:spTree>
      <p:nvGrpSpPr>
        <p:cNvPr id="1" name=""/>
        <p:cNvGrpSpPr/>
        <p:nvPr/>
      </p:nvGrpSpPr>
      <p:grpSpPr>
        <a:xfrm>
          <a:off x="0" y="0"/>
          <a:ext cx="0" cy="0"/>
          <a:chOff x="0" y="0"/>
          <a:chExt cx="0" cy="0"/>
        </a:xfrm>
      </p:grpSpPr>
      <p:sp>
        <p:nvSpPr>
          <p:cNvPr id="40" name="Text Placeholder 9">
            <a:extLst>
              <a:ext uri="{FF2B5EF4-FFF2-40B4-BE49-F238E27FC236}">
                <a16:creationId xmlns:a16="http://schemas.microsoft.com/office/drawing/2014/main" id="{02F830E5-AF03-49D2-AD7A-193D64D9D5DE}"/>
              </a:ext>
            </a:extLst>
          </p:cNvPr>
          <p:cNvSpPr>
            <a:spLocks noGrp="1"/>
          </p:cNvSpPr>
          <p:nvPr userDrawn="1">
            <p:ph type="body" sz="quarter" idx="10" hasCustomPrompt="1"/>
          </p:nvPr>
        </p:nvSpPr>
        <p:spPr>
          <a:xfrm>
            <a:off x="3332283" y="1223905"/>
            <a:ext cx="2637442" cy="694267"/>
          </a:xfrm>
        </p:spPr>
        <p:txBody>
          <a:bodyPr/>
          <a:lstStyle>
            <a:lvl1pPr algn="l">
              <a:defRPr sz="4000" b="0">
                <a:solidFill>
                  <a:schemeClr val="accent2"/>
                </a:solidFill>
              </a:defRPr>
            </a:lvl1pPr>
          </a:lstStyle>
          <a:p>
            <a:pPr lvl="0"/>
            <a:r>
              <a:rPr lang="en-US"/>
              <a:t>01</a:t>
            </a:r>
          </a:p>
        </p:txBody>
      </p:sp>
      <p:sp>
        <p:nvSpPr>
          <p:cNvPr id="41" name="Text Placeholder 9">
            <a:extLst>
              <a:ext uri="{FF2B5EF4-FFF2-40B4-BE49-F238E27FC236}">
                <a16:creationId xmlns:a16="http://schemas.microsoft.com/office/drawing/2014/main" id="{27543A3D-DFCC-462D-B999-0EE12C20A91F}"/>
              </a:ext>
            </a:extLst>
          </p:cNvPr>
          <p:cNvSpPr>
            <a:spLocks noGrp="1"/>
          </p:cNvSpPr>
          <p:nvPr userDrawn="1">
            <p:ph type="body" sz="quarter" idx="11" hasCustomPrompt="1"/>
          </p:nvPr>
        </p:nvSpPr>
        <p:spPr>
          <a:xfrm>
            <a:off x="6212284" y="1223905"/>
            <a:ext cx="2637442" cy="694267"/>
          </a:xfrm>
        </p:spPr>
        <p:txBody>
          <a:bodyPr/>
          <a:lstStyle>
            <a:lvl1pPr algn="l">
              <a:defRPr sz="4000" b="0">
                <a:solidFill>
                  <a:schemeClr val="accent2"/>
                </a:solidFill>
              </a:defRPr>
            </a:lvl1pPr>
          </a:lstStyle>
          <a:p>
            <a:pPr lvl="0"/>
            <a:r>
              <a:rPr lang="en-US"/>
              <a:t>02</a:t>
            </a:r>
          </a:p>
        </p:txBody>
      </p:sp>
      <p:sp>
        <p:nvSpPr>
          <p:cNvPr id="42" name="Text Placeholder 9">
            <a:extLst>
              <a:ext uri="{FF2B5EF4-FFF2-40B4-BE49-F238E27FC236}">
                <a16:creationId xmlns:a16="http://schemas.microsoft.com/office/drawing/2014/main" id="{3FC2069A-8835-486E-A458-AD69E5708EF8}"/>
              </a:ext>
            </a:extLst>
          </p:cNvPr>
          <p:cNvSpPr>
            <a:spLocks noGrp="1"/>
          </p:cNvSpPr>
          <p:nvPr userDrawn="1">
            <p:ph type="body" sz="quarter" idx="12" hasCustomPrompt="1"/>
          </p:nvPr>
        </p:nvSpPr>
        <p:spPr>
          <a:xfrm>
            <a:off x="3333074" y="3802117"/>
            <a:ext cx="2637442" cy="694267"/>
          </a:xfrm>
        </p:spPr>
        <p:txBody>
          <a:bodyPr/>
          <a:lstStyle>
            <a:lvl1pPr algn="l">
              <a:defRPr sz="4000" b="0">
                <a:solidFill>
                  <a:schemeClr val="accent2"/>
                </a:solidFill>
              </a:defRPr>
            </a:lvl1pPr>
          </a:lstStyle>
          <a:p>
            <a:pPr lvl="0"/>
            <a:r>
              <a:rPr lang="en-US"/>
              <a:t>04</a:t>
            </a:r>
          </a:p>
        </p:txBody>
      </p:sp>
      <p:sp>
        <p:nvSpPr>
          <p:cNvPr id="43" name="Text Placeholder 9">
            <a:extLst>
              <a:ext uri="{FF2B5EF4-FFF2-40B4-BE49-F238E27FC236}">
                <a16:creationId xmlns:a16="http://schemas.microsoft.com/office/drawing/2014/main" id="{B30617AA-8AD0-4B14-A9A9-D052F40ACA60}"/>
              </a:ext>
            </a:extLst>
          </p:cNvPr>
          <p:cNvSpPr>
            <a:spLocks noGrp="1"/>
          </p:cNvSpPr>
          <p:nvPr userDrawn="1">
            <p:ph type="body" sz="quarter" idx="13" hasCustomPrompt="1"/>
          </p:nvPr>
        </p:nvSpPr>
        <p:spPr>
          <a:xfrm>
            <a:off x="6212284" y="3802117"/>
            <a:ext cx="2637442" cy="694267"/>
          </a:xfrm>
        </p:spPr>
        <p:txBody>
          <a:bodyPr/>
          <a:lstStyle>
            <a:lvl1pPr algn="l">
              <a:defRPr sz="4000" b="0">
                <a:solidFill>
                  <a:schemeClr val="accent2"/>
                </a:solidFill>
              </a:defRPr>
            </a:lvl1pPr>
          </a:lstStyle>
          <a:p>
            <a:pPr lvl="0"/>
            <a:r>
              <a:rPr lang="en-US"/>
              <a:t>05</a:t>
            </a:r>
          </a:p>
        </p:txBody>
      </p:sp>
      <p:sp>
        <p:nvSpPr>
          <p:cNvPr id="44" name="Text Placeholder 9">
            <a:extLst>
              <a:ext uri="{FF2B5EF4-FFF2-40B4-BE49-F238E27FC236}">
                <a16:creationId xmlns:a16="http://schemas.microsoft.com/office/drawing/2014/main" id="{32E5AE39-31BD-47E9-800A-402361C1754C}"/>
              </a:ext>
            </a:extLst>
          </p:cNvPr>
          <p:cNvSpPr>
            <a:spLocks noGrp="1"/>
          </p:cNvSpPr>
          <p:nvPr userDrawn="1">
            <p:ph type="body" sz="quarter" idx="18" hasCustomPrompt="1"/>
          </p:nvPr>
        </p:nvSpPr>
        <p:spPr>
          <a:xfrm>
            <a:off x="9091495" y="1223905"/>
            <a:ext cx="2637442" cy="694267"/>
          </a:xfrm>
        </p:spPr>
        <p:txBody>
          <a:bodyPr/>
          <a:lstStyle>
            <a:lvl1pPr algn="l">
              <a:defRPr sz="4000" b="0">
                <a:solidFill>
                  <a:schemeClr val="accent2"/>
                </a:solidFill>
              </a:defRPr>
            </a:lvl1pPr>
          </a:lstStyle>
          <a:p>
            <a:pPr lvl="0"/>
            <a:r>
              <a:rPr lang="en-US"/>
              <a:t>03</a:t>
            </a:r>
          </a:p>
        </p:txBody>
      </p:sp>
      <p:sp>
        <p:nvSpPr>
          <p:cNvPr id="45" name="Text Placeholder 9">
            <a:extLst>
              <a:ext uri="{FF2B5EF4-FFF2-40B4-BE49-F238E27FC236}">
                <a16:creationId xmlns:a16="http://schemas.microsoft.com/office/drawing/2014/main" id="{BB50D5D7-3BDA-4E71-98C8-3873EB810359}"/>
              </a:ext>
            </a:extLst>
          </p:cNvPr>
          <p:cNvSpPr>
            <a:spLocks noGrp="1"/>
          </p:cNvSpPr>
          <p:nvPr userDrawn="1">
            <p:ph type="body" sz="quarter" idx="19" hasCustomPrompt="1"/>
          </p:nvPr>
        </p:nvSpPr>
        <p:spPr>
          <a:xfrm>
            <a:off x="9091495" y="3802117"/>
            <a:ext cx="2637442" cy="694267"/>
          </a:xfrm>
        </p:spPr>
        <p:txBody>
          <a:bodyPr/>
          <a:lstStyle>
            <a:lvl1pPr algn="l">
              <a:defRPr sz="4000" b="0">
                <a:solidFill>
                  <a:schemeClr val="accent2"/>
                </a:solidFill>
              </a:defRPr>
            </a:lvl1pPr>
          </a:lstStyle>
          <a:p>
            <a:pPr lvl="0"/>
            <a:r>
              <a:rPr lang="en-US"/>
              <a:t>06</a:t>
            </a:r>
          </a:p>
        </p:txBody>
      </p:sp>
      <p:sp>
        <p:nvSpPr>
          <p:cNvPr id="47" name="Text Placeholder 19">
            <a:extLst>
              <a:ext uri="{FF2B5EF4-FFF2-40B4-BE49-F238E27FC236}">
                <a16:creationId xmlns:a16="http://schemas.microsoft.com/office/drawing/2014/main" id="{83B37535-3B2B-47E7-B0C3-8CF4C6B55DD4}"/>
              </a:ext>
            </a:extLst>
          </p:cNvPr>
          <p:cNvSpPr>
            <a:spLocks noGrp="1"/>
          </p:cNvSpPr>
          <p:nvPr userDrawn="1">
            <p:ph type="body" sz="quarter" idx="15"/>
          </p:nvPr>
        </p:nvSpPr>
        <p:spPr>
          <a:xfrm>
            <a:off x="9091495" y="1977438"/>
            <a:ext cx="2637442" cy="1447797"/>
          </a:xfrm>
        </p:spPr>
        <p:txBody>
          <a:bodyPr/>
          <a:lstStyle>
            <a:lvl1pPr>
              <a:defRPr sz="2400" b="1"/>
            </a:lvl1pPr>
          </a:lstStyle>
          <a:p>
            <a:pPr lvl="0"/>
            <a:r>
              <a:rPr lang="en-US"/>
              <a:t>Edit Master text styles</a:t>
            </a:r>
          </a:p>
        </p:txBody>
      </p:sp>
      <p:sp>
        <p:nvSpPr>
          <p:cNvPr id="49" name="Text Placeholder 19">
            <a:extLst>
              <a:ext uri="{FF2B5EF4-FFF2-40B4-BE49-F238E27FC236}">
                <a16:creationId xmlns:a16="http://schemas.microsoft.com/office/drawing/2014/main" id="{A6934A4C-1D48-47BF-9239-BB8CE0F28921}"/>
              </a:ext>
            </a:extLst>
          </p:cNvPr>
          <p:cNvSpPr>
            <a:spLocks noGrp="1"/>
          </p:cNvSpPr>
          <p:nvPr>
            <p:ph type="body" sz="quarter" idx="20"/>
          </p:nvPr>
        </p:nvSpPr>
        <p:spPr>
          <a:xfrm>
            <a:off x="6212284" y="1977438"/>
            <a:ext cx="2637442" cy="1447797"/>
          </a:xfrm>
        </p:spPr>
        <p:txBody>
          <a:bodyPr/>
          <a:lstStyle>
            <a:lvl1pPr>
              <a:defRPr sz="2400" b="1"/>
            </a:lvl1pPr>
          </a:lstStyle>
          <a:p>
            <a:pPr lvl="0"/>
            <a:r>
              <a:rPr lang="en-US"/>
              <a:t>Edit Master text styles</a:t>
            </a:r>
          </a:p>
        </p:txBody>
      </p:sp>
      <p:sp>
        <p:nvSpPr>
          <p:cNvPr id="50" name="Text Placeholder 19">
            <a:extLst>
              <a:ext uri="{FF2B5EF4-FFF2-40B4-BE49-F238E27FC236}">
                <a16:creationId xmlns:a16="http://schemas.microsoft.com/office/drawing/2014/main" id="{0179C67F-AE67-4109-B93E-ECBFA8AE283F}"/>
              </a:ext>
            </a:extLst>
          </p:cNvPr>
          <p:cNvSpPr>
            <a:spLocks noGrp="1"/>
          </p:cNvSpPr>
          <p:nvPr>
            <p:ph type="body" sz="quarter" idx="21" hasCustomPrompt="1"/>
          </p:nvPr>
        </p:nvSpPr>
        <p:spPr>
          <a:xfrm>
            <a:off x="3332283" y="1977438"/>
            <a:ext cx="2637442" cy="1447797"/>
          </a:xfrm>
        </p:spPr>
        <p:txBody>
          <a:bodyPr/>
          <a:lstStyle>
            <a:lvl1pPr>
              <a:defRPr sz="2400" b="1"/>
            </a:lvl1pPr>
          </a:lstStyle>
          <a:p>
            <a:pPr lvl="0"/>
            <a:r>
              <a:rPr lang="en-US"/>
              <a:t>Edit Master text styles</a:t>
            </a:r>
          </a:p>
        </p:txBody>
      </p:sp>
      <p:sp>
        <p:nvSpPr>
          <p:cNvPr id="51" name="Text Placeholder 19">
            <a:extLst>
              <a:ext uri="{FF2B5EF4-FFF2-40B4-BE49-F238E27FC236}">
                <a16:creationId xmlns:a16="http://schemas.microsoft.com/office/drawing/2014/main" id="{E5A4F706-AF82-4A02-A3EB-2FE06A1DC4A1}"/>
              </a:ext>
            </a:extLst>
          </p:cNvPr>
          <p:cNvSpPr>
            <a:spLocks noGrp="1"/>
          </p:cNvSpPr>
          <p:nvPr>
            <p:ph type="body" sz="quarter" idx="22"/>
          </p:nvPr>
        </p:nvSpPr>
        <p:spPr>
          <a:xfrm>
            <a:off x="9091495" y="4555415"/>
            <a:ext cx="2637442" cy="1506828"/>
          </a:xfrm>
        </p:spPr>
        <p:txBody>
          <a:bodyPr/>
          <a:lstStyle>
            <a:lvl1pPr>
              <a:defRPr sz="2400" b="1"/>
            </a:lvl1pPr>
          </a:lstStyle>
          <a:p>
            <a:pPr lvl="0"/>
            <a:r>
              <a:rPr lang="en-US"/>
              <a:t>Edit Master text styles</a:t>
            </a:r>
          </a:p>
        </p:txBody>
      </p:sp>
      <p:sp>
        <p:nvSpPr>
          <p:cNvPr id="52" name="Text Placeholder 19">
            <a:extLst>
              <a:ext uri="{FF2B5EF4-FFF2-40B4-BE49-F238E27FC236}">
                <a16:creationId xmlns:a16="http://schemas.microsoft.com/office/drawing/2014/main" id="{9B59BAE5-7CD3-484F-BCBD-9AF8DCFF8E44}"/>
              </a:ext>
            </a:extLst>
          </p:cNvPr>
          <p:cNvSpPr>
            <a:spLocks noGrp="1"/>
          </p:cNvSpPr>
          <p:nvPr>
            <p:ph type="body" sz="quarter" idx="23"/>
          </p:nvPr>
        </p:nvSpPr>
        <p:spPr>
          <a:xfrm>
            <a:off x="6212284" y="4555415"/>
            <a:ext cx="2637442" cy="1506828"/>
          </a:xfrm>
        </p:spPr>
        <p:txBody>
          <a:bodyPr/>
          <a:lstStyle>
            <a:lvl1pPr>
              <a:defRPr sz="2400" b="1"/>
            </a:lvl1pPr>
          </a:lstStyle>
          <a:p>
            <a:pPr lvl="0"/>
            <a:r>
              <a:rPr lang="en-US"/>
              <a:t>Edit Master text styles</a:t>
            </a:r>
          </a:p>
        </p:txBody>
      </p:sp>
      <p:sp>
        <p:nvSpPr>
          <p:cNvPr id="53" name="Text Placeholder 19">
            <a:extLst>
              <a:ext uri="{FF2B5EF4-FFF2-40B4-BE49-F238E27FC236}">
                <a16:creationId xmlns:a16="http://schemas.microsoft.com/office/drawing/2014/main" id="{1E5C5656-E890-4468-A58C-9941FA79F48C}"/>
              </a:ext>
            </a:extLst>
          </p:cNvPr>
          <p:cNvSpPr>
            <a:spLocks noGrp="1"/>
          </p:cNvSpPr>
          <p:nvPr>
            <p:ph type="body" sz="quarter" idx="24"/>
          </p:nvPr>
        </p:nvSpPr>
        <p:spPr>
          <a:xfrm>
            <a:off x="3332283" y="4555415"/>
            <a:ext cx="2637442" cy="1506828"/>
          </a:xfrm>
        </p:spPr>
        <p:txBody>
          <a:bodyPr/>
          <a:lstStyle>
            <a:lvl1pPr>
              <a:defRPr sz="2400" b="1"/>
            </a:lvl1pPr>
          </a:lstStyle>
          <a:p>
            <a:pPr lvl="0"/>
            <a:r>
              <a:rPr lang="en-US"/>
              <a:t>Edit Master text styles</a:t>
            </a:r>
          </a:p>
        </p:txBody>
      </p:sp>
      <p:sp>
        <p:nvSpPr>
          <p:cNvPr id="19" name="Title 3">
            <a:extLst>
              <a:ext uri="{FF2B5EF4-FFF2-40B4-BE49-F238E27FC236}">
                <a16:creationId xmlns:a16="http://schemas.microsoft.com/office/drawing/2014/main" id="{F8A50C72-D301-4FC2-BC5E-4F3DA903A1F1}"/>
              </a:ext>
            </a:extLst>
          </p:cNvPr>
          <p:cNvSpPr>
            <a:spLocks noGrp="1"/>
          </p:cNvSpPr>
          <p:nvPr>
            <p:ph type="title" hasCustomPrompt="1"/>
          </p:nvPr>
        </p:nvSpPr>
        <p:spPr>
          <a:xfrm>
            <a:off x="443889" y="187570"/>
            <a:ext cx="10668002" cy="762000"/>
          </a:xfrm>
        </p:spPr>
        <p:txBody>
          <a:bodyPr/>
          <a:lstStyle/>
          <a:p>
            <a:r>
              <a:rPr lang="en-US"/>
              <a:t>Agenda</a:t>
            </a:r>
          </a:p>
        </p:txBody>
      </p:sp>
    </p:spTree>
    <p:extLst>
      <p:ext uri="{BB962C8B-B14F-4D97-AF65-F5344CB8AC3E}">
        <p14:creationId xmlns:p14="http://schemas.microsoft.com/office/powerpoint/2010/main" val="3834119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ai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2667" b="1" baseline="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To Edit Master Title Style</a:t>
            </a:r>
          </a:p>
        </p:txBody>
      </p:sp>
      <p:sp>
        <p:nvSpPr>
          <p:cNvPr id="15" name="Text Placeholder 3"/>
          <p:cNvSpPr>
            <a:spLocks noGrp="1"/>
          </p:cNvSpPr>
          <p:nvPr>
            <p:ph type="body" sz="half" idx="2" hasCustomPrompt="1"/>
          </p:nvPr>
        </p:nvSpPr>
        <p:spPr>
          <a:xfrm>
            <a:off x="3352800" y="985788"/>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latin typeface="Arial" panose="020B0604020202020204" pitchFamily="34" charset="0"/>
                <a:cs typeface="Arial" panose="020B0604020202020204" pitchFamily="34"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Subtext Goes Here</a:t>
            </a:r>
          </a:p>
        </p:txBody>
      </p:sp>
    </p:spTree>
    <p:extLst>
      <p:ext uri="{BB962C8B-B14F-4D97-AF65-F5344CB8AC3E}">
        <p14:creationId xmlns:p14="http://schemas.microsoft.com/office/powerpoint/2010/main" val="199810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223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A1B6-99DF-9F47-B315-F78E5926BD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5B9FC2-ED03-FC49-A4BE-EA654A9604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6A583D-C00C-5249-B6AA-DF922FAF58BE}"/>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5" name="Footer Placeholder 4">
            <a:extLst>
              <a:ext uri="{FF2B5EF4-FFF2-40B4-BE49-F238E27FC236}">
                <a16:creationId xmlns:a16="http://schemas.microsoft.com/office/drawing/2014/main" id="{41F00702-0341-1242-8A0B-43D3A561EA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659506-80C5-DC4D-90A8-E815187CB88C}"/>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1807415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C2880-45DB-A241-B3D2-CF501A71C6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9A2226-7676-0E4B-9B6A-169F4A20627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E28B1-DB97-544F-9344-E661EADA0335}"/>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5" name="Footer Placeholder 4">
            <a:extLst>
              <a:ext uri="{FF2B5EF4-FFF2-40B4-BE49-F238E27FC236}">
                <a16:creationId xmlns:a16="http://schemas.microsoft.com/office/drawing/2014/main" id="{41BBE919-CF54-C64A-B731-21971E893C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DBED3A-81A9-C04D-87F2-55694C1D65EB}"/>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8752756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C0D5-67B7-D24C-A3D5-842E7007EB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F9A292-9F8F-984B-AB0E-590B03EF8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0796210-18F4-B747-9F41-4364744FE314}"/>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5" name="Footer Placeholder 4">
            <a:extLst>
              <a:ext uri="{FF2B5EF4-FFF2-40B4-BE49-F238E27FC236}">
                <a16:creationId xmlns:a16="http://schemas.microsoft.com/office/drawing/2014/main" id="{19DFAD6F-22CD-B24B-99C4-ACEE5333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C80D1E-409C-A94D-9A92-D9AFCA50AEBF}"/>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31339860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4A767-4513-0A42-8661-FBC65C6BF2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372DC4-2659-7945-9CC9-DDD8CD81106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141154-B5F7-C441-860D-47CB9481E1D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49ADF6-BECD-844E-9720-AD41461F531B}"/>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6" name="Footer Placeholder 5">
            <a:extLst>
              <a:ext uri="{FF2B5EF4-FFF2-40B4-BE49-F238E27FC236}">
                <a16:creationId xmlns:a16="http://schemas.microsoft.com/office/drawing/2014/main" id="{6118EA07-E827-C14D-9F36-A90A495C3A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967A6C-655C-2D4C-9C41-7A8C6D47A962}"/>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16812632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7C344-BB21-C94A-90EB-E32BA5BAF4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FF7EBC-BD57-2C4C-8587-96C1F4EB2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3043012-D0A3-3C47-97EF-15BB0ABF983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6B6234-D622-6942-A034-5177D23D80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56CFD63-1141-3E43-8B66-EAFB23D959F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4724CE-0FA2-FD43-8C5B-38BA6C965B05}"/>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8" name="Footer Placeholder 7">
            <a:extLst>
              <a:ext uri="{FF2B5EF4-FFF2-40B4-BE49-F238E27FC236}">
                <a16:creationId xmlns:a16="http://schemas.microsoft.com/office/drawing/2014/main" id="{0C556FE6-810A-8C41-8C5B-F8DC2EEFD2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A4A323-0721-E047-9E42-2D49174AF9D7}"/>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2512792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493DB-DF9F-DE45-9F27-17289D8FF0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579B3E-4454-E048-94A4-094969C33A02}"/>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4" name="Footer Placeholder 3">
            <a:extLst>
              <a:ext uri="{FF2B5EF4-FFF2-40B4-BE49-F238E27FC236}">
                <a16:creationId xmlns:a16="http://schemas.microsoft.com/office/drawing/2014/main" id="{8004A2F4-B756-8541-AABD-1E4DCC52F4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D2F411-1FA3-EB41-893B-31843330635C}"/>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1612854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399940-3051-EA42-9996-7B84DE4E5A5D}"/>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3" name="Footer Placeholder 2">
            <a:extLst>
              <a:ext uri="{FF2B5EF4-FFF2-40B4-BE49-F238E27FC236}">
                <a16:creationId xmlns:a16="http://schemas.microsoft.com/office/drawing/2014/main" id="{465CB90A-49B1-C946-A581-69E171E93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F62234-B47E-5F4C-A512-977CFFA23EE4}"/>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18489073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F666-3B5A-1F4E-A61C-06677018B5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736438-077C-1A4C-9B38-2C3E6FD91B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98CEC0-0A7B-4A47-A67B-B5FE6260C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572F7B-578B-F548-A774-689453526BDE}"/>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6" name="Footer Placeholder 5">
            <a:extLst>
              <a:ext uri="{FF2B5EF4-FFF2-40B4-BE49-F238E27FC236}">
                <a16:creationId xmlns:a16="http://schemas.microsoft.com/office/drawing/2014/main" id="{4B875B7D-FE04-AE4C-8956-2FD55FC21B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AAB5C8-5385-2F49-9D18-4E0942CEE8D6}"/>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3930971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140C1-52DB-334D-BEA6-89EBA44810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D510F1-F96E-2A4C-BB24-CE3E46CFCA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03AA81-EB94-CB49-A2B0-58D1B80928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6747136-8FC6-0C43-A91F-5B28D04E6472}"/>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6" name="Footer Placeholder 5">
            <a:extLst>
              <a:ext uri="{FF2B5EF4-FFF2-40B4-BE49-F238E27FC236}">
                <a16:creationId xmlns:a16="http://schemas.microsoft.com/office/drawing/2014/main" id="{B2116CA3-6578-2F4B-8D43-413577D9A7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1C56BF-50AB-5342-BD9D-608C94F1DF4E}"/>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30477822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0AA79-91C9-EC4F-BEB8-C8CD3DACAA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31A5D7-5439-A44B-912D-9D39C0D6DD9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280913-093A-3D44-9291-C603ADC1A84F}"/>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5" name="Footer Placeholder 4">
            <a:extLst>
              <a:ext uri="{FF2B5EF4-FFF2-40B4-BE49-F238E27FC236}">
                <a16:creationId xmlns:a16="http://schemas.microsoft.com/office/drawing/2014/main" id="{DD4573F8-6FA8-BC45-8BE0-080E2F7500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47524-54FF-3A44-935C-A916F9F6E330}"/>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2301633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CE6D1B-D402-0049-84FB-E102974BDF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A10DEB-FBD9-D548-BC9A-0961BB180C4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9B688E-479B-6E44-B1DD-08C26AA85724}"/>
              </a:ext>
            </a:extLst>
          </p:cNvPr>
          <p:cNvSpPr>
            <a:spLocks noGrp="1"/>
          </p:cNvSpPr>
          <p:nvPr>
            <p:ph type="dt" sz="half" idx="10"/>
          </p:nvPr>
        </p:nvSpPr>
        <p:spPr/>
        <p:txBody>
          <a:bodyPr/>
          <a:lstStyle/>
          <a:p>
            <a:fld id="{211C603F-6B5D-BD44-A2E6-931FE6C4C7C6}" type="datetimeFigureOut">
              <a:rPr lang="en-US" smtClean="0"/>
              <a:t>4/23/2026</a:t>
            </a:fld>
            <a:endParaRPr lang="en-US"/>
          </a:p>
        </p:txBody>
      </p:sp>
      <p:sp>
        <p:nvSpPr>
          <p:cNvPr id="5" name="Footer Placeholder 4">
            <a:extLst>
              <a:ext uri="{FF2B5EF4-FFF2-40B4-BE49-F238E27FC236}">
                <a16:creationId xmlns:a16="http://schemas.microsoft.com/office/drawing/2014/main" id="{6E42D369-4012-6E45-887A-182065C26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CB68E5-4B7D-D045-B018-F9FBA1AE5E92}"/>
              </a:ext>
            </a:extLst>
          </p:cNvPr>
          <p:cNvSpPr>
            <a:spLocks noGrp="1"/>
          </p:cNvSpPr>
          <p:nvPr>
            <p:ph type="sldNum" sz="quarter" idx="12"/>
          </p:nvPr>
        </p:nvSpPr>
        <p:spPr/>
        <p:txBody>
          <a:bodyPr/>
          <a:lstStyle/>
          <a:p>
            <a:fld id="{054398D4-6A0A-484B-9FC9-C060976B9317}" type="slidenum">
              <a:rPr lang="en-US" smtClean="0"/>
              <a:t>‹#›</a:t>
            </a:fld>
            <a:endParaRPr lang="en-US"/>
          </a:p>
        </p:txBody>
      </p:sp>
    </p:spTree>
    <p:extLst>
      <p:ext uri="{BB962C8B-B14F-4D97-AF65-F5344CB8AC3E}">
        <p14:creationId xmlns:p14="http://schemas.microsoft.com/office/powerpoint/2010/main" val="34147296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Mai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2667" b="1" baseline="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To Edit Master Title Style</a:t>
            </a:r>
          </a:p>
        </p:txBody>
      </p:sp>
      <p:sp>
        <p:nvSpPr>
          <p:cNvPr id="15" name="Text Placeholder 3"/>
          <p:cNvSpPr>
            <a:spLocks noGrp="1"/>
          </p:cNvSpPr>
          <p:nvPr>
            <p:ph type="body" sz="half" idx="2" hasCustomPrompt="1"/>
          </p:nvPr>
        </p:nvSpPr>
        <p:spPr>
          <a:xfrm>
            <a:off x="3352800" y="985788"/>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latin typeface="Arial" panose="020B0604020202020204" pitchFamily="34" charset="0"/>
                <a:cs typeface="Arial" panose="020B0604020202020204" pitchFamily="34"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Subtext Goes Here</a:t>
            </a:r>
          </a:p>
        </p:txBody>
      </p:sp>
    </p:spTree>
    <p:extLst>
      <p:ext uri="{BB962C8B-B14F-4D97-AF65-F5344CB8AC3E}">
        <p14:creationId xmlns:p14="http://schemas.microsoft.com/office/powerpoint/2010/main" val="326938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Main Title+ SubTitle+Numb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516467"/>
            <a:ext cx="7518400" cy="471365"/>
          </a:xfrm>
          <a:prstGeom prst="rect">
            <a:avLst/>
          </a:prstGeom>
        </p:spPr>
        <p:txBody>
          <a:bodyPr wrap="none" lIns="0" tIns="0" rIns="0" bIns="0" anchor="ctr">
            <a:noAutofit/>
          </a:bodyPr>
          <a:lstStyle>
            <a:lvl1pPr algn="ctr">
              <a:defRPr sz="2667" b="1" baseline="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To Edit Master Title Style</a:t>
            </a:r>
          </a:p>
        </p:txBody>
      </p:sp>
      <p:sp>
        <p:nvSpPr>
          <p:cNvPr id="15" name="Text Placeholder 3"/>
          <p:cNvSpPr>
            <a:spLocks noGrp="1"/>
          </p:cNvSpPr>
          <p:nvPr>
            <p:ph type="body" sz="half" idx="2" hasCustomPrompt="1"/>
          </p:nvPr>
        </p:nvSpPr>
        <p:spPr>
          <a:xfrm>
            <a:off x="3352800" y="985788"/>
            <a:ext cx="5486400" cy="267661"/>
          </a:xfrm>
          <a:prstGeom prst="rect">
            <a:avLst/>
          </a:prstGeom>
        </p:spPr>
        <p:txBody>
          <a:bodyPr wrap="none" lIns="0" tIns="0" rIns="0" bIns="0" anchor="ctr">
            <a:noAutofit/>
          </a:bodyPr>
          <a:lstStyle>
            <a:lvl1pPr marL="0" indent="0" algn="ctr">
              <a:buNone/>
              <a:defRPr sz="1467" b="1" baseline="0">
                <a:solidFill>
                  <a:schemeClr val="bg1">
                    <a:lumMod val="75000"/>
                  </a:schemeClr>
                </a:solidFill>
                <a:latin typeface="Arial" panose="020B0604020202020204" pitchFamily="34" charset="0"/>
                <a:cs typeface="Arial" panose="020B0604020202020204" pitchFamily="34"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Subtext Goes Here</a:t>
            </a:r>
          </a:p>
        </p:txBody>
      </p:sp>
    </p:spTree>
    <p:extLst>
      <p:ext uri="{BB962C8B-B14F-4D97-AF65-F5344CB8AC3E}">
        <p14:creationId xmlns:p14="http://schemas.microsoft.com/office/powerpoint/2010/main" val="2321228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fade">
                                      <p:cBhvr>
                                        <p:cTn id="11"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228"/>
        <p:cNvGrpSpPr/>
        <p:nvPr/>
      </p:nvGrpSpPr>
      <p:grpSpPr>
        <a:xfrm>
          <a:off x="0" y="0"/>
          <a:ext cx="0" cy="0"/>
          <a:chOff x="0" y="0"/>
          <a:chExt cx="0" cy="0"/>
        </a:xfrm>
      </p:grpSpPr>
      <p:sp>
        <p:nvSpPr>
          <p:cNvPr id="229" name="Google Shape;229;p40"/>
          <p:cNvSpPr txBox="1">
            <a:spLocks noGrp="1"/>
          </p:cNvSpPr>
          <p:nvPr>
            <p:ph type="body" idx="1"/>
          </p:nvPr>
        </p:nvSpPr>
        <p:spPr>
          <a:xfrm>
            <a:off x="2432052" y="3568700"/>
            <a:ext cx="8988800" cy="457200"/>
          </a:xfrm>
          <a:prstGeom prst="rect">
            <a:avLst/>
          </a:prstGeom>
          <a:noFill/>
          <a:ln>
            <a:noFill/>
          </a:ln>
        </p:spPr>
        <p:txBody>
          <a:bodyPr spcFirstLastPara="1" wrap="square" lIns="91425" tIns="45700" rIns="91425" bIns="45700" anchor="ctr" anchorCtr="0"/>
          <a:lstStyle>
            <a:lvl1pPr marL="457200" lvl="0" indent="-228600" algn="r" rtl="0">
              <a:lnSpc>
                <a:spcPct val="90000"/>
              </a:lnSpc>
              <a:spcBef>
                <a:spcPts val="750"/>
              </a:spcBef>
              <a:spcAft>
                <a:spcPts val="0"/>
              </a:spcAft>
              <a:buSzPts val="2880"/>
              <a:buNone/>
              <a:defRPr sz="1800" b="1">
                <a:solidFill>
                  <a:srgbClr val="006699"/>
                </a:solidFill>
                <a:latin typeface="Arial"/>
                <a:ea typeface="Arial"/>
                <a:cs typeface="Arial"/>
                <a:sym typeface="Arial"/>
              </a:defRPr>
            </a:lvl1pPr>
            <a:lvl2pPr marL="914400" lvl="1" indent="-354330" algn="l" rtl="0">
              <a:lnSpc>
                <a:spcPct val="90000"/>
              </a:lnSpc>
              <a:spcBef>
                <a:spcPts val="1575"/>
              </a:spcBef>
              <a:spcAft>
                <a:spcPts val="0"/>
              </a:spcAft>
              <a:buSzPts val="1980"/>
              <a:buChar char="○"/>
              <a:defRPr/>
            </a:lvl2pPr>
            <a:lvl3pPr marL="1371600" lvl="2" indent="-342900" algn="l" rtl="0">
              <a:lnSpc>
                <a:spcPct val="90000"/>
              </a:lnSpc>
              <a:spcBef>
                <a:spcPts val="1575"/>
              </a:spcBef>
              <a:spcAft>
                <a:spcPts val="0"/>
              </a:spcAft>
              <a:buSzPts val="1800"/>
              <a:buChar char="■"/>
              <a:defRPr/>
            </a:lvl3pPr>
            <a:lvl4pPr marL="1828800" lvl="3" indent="-331469" algn="l" rtl="0">
              <a:lnSpc>
                <a:spcPct val="90000"/>
              </a:lnSpc>
              <a:spcBef>
                <a:spcPts val="1575"/>
              </a:spcBef>
              <a:spcAft>
                <a:spcPts val="0"/>
              </a:spcAft>
              <a:buSzPts val="1620"/>
              <a:buChar char="●"/>
              <a:defRPr/>
            </a:lvl4pPr>
            <a:lvl5pPr marL="2286000" lvl="4" indent="-320039" algn="l" rtl="0">
              <a:lnSpc>
                <a:spcPct val="90000"/>
              </a:lnSpc>
              <a:spcBef>
                <a:spcPts val="1575"/>
              </a:spcBef>
              <a:spcAft>
                <a:spcPts val="0"/>
              </a:spcAft>
              <a:buSzPts val="1440"/>
              <a:buChar char="○"/>
              <a:defRPr/>
            </a:lvl5pPr>
            <a:lvl6pPr marL="2743200" lvl="5" indent="-342900" algn="l" rtl="0">
              <a:lnSpc>
                <a:spcPct val="90000"/>
              </a:lnSpc>
              <a:spcBef>
                <a:spcPts val="1575"/>
              </a:spcBef>
              <a:spcAft>
                <a:spcPts val="0"/>
              </a:spcAft>
              <a:buClr>
                <a:schemeClr val="dk1"/>
              </a:buClr>
              <a:buSzPts val="1800"/>
              <a:buChar char="■"/>
              <a:defRPr/>
            </a:lvl6pPr>
            <a:lvl7pPr marL="3200400" lvl="6" indent="-342900" algn="l" rtl="0">
              <a:lnSpc>
                <a:spcPct val="90000"/>
              </a:lnSpc>
              <a:spcBef>
                <a:spcPts val="1575"/>
              </a:spcBef>
              <a:spcAft>
                <a:spcPts val="0"/>
              </a:spcAft>
              <a:buClr>
                <a:schemeClr val="dk1"/>
              </a:buClr>
              <a:buSzPts val="1800"/>
              <a:buChar char="●"/>
              <a:defRPr/>
            </a:lvl7pPr>
            <a:lvl8pPr marL="3657600" lvl="7" indent="-342900" algn="l" rtl="0">
              <a:lnSpc>
                <a:spcPct val="90000"/>
              </a:lnSpc>
              <a:spcBef>
                <a:spcPts val="1575"/>
              </a:spcBef>
              <a:spcAft>
                <a:spcPts val="0"/>
              </a:spcAft>
              <a:buClr>
                <a:schemeClr val="dk1"/>
              </a:buClr>
              <a:buSzPts val="1800"/>
              <a:buChar char="○"/>
              <a:defRPr/>
            </a:lvl8pPr>
            <a:lvl9pPr marL="4114800" lvl="8" indent="-342900" algn="l" rtl="0">
              <a:lnSpc>
                <a:spcPct val="90000"/>
              </a:lnSpc>
              <a:spcBef>
                <a:spcPts val="1575"/>
              </a:spcBef>
              <a:spcAft>
                <a:spcPts val="1575"/>
              </a:spcAft>
              <a:buClr>
                <a:schemeClr val="dk1"/>
              </a:buClr>
              <a:buSzPts val="1800"/>
              <a:buChar char="■"/>
              <a:defRPr/>
            </a:lvl9pPr>
          </a:lstStyle>
          <a:p>
            <a:endParaRPr/>
          </a:p>
        </p:txBody>
      </p:sp>
      <p:sp>
        <p:nvSpPr>
          <p:cNvPr id="230" name="Google Shape;230;p40"/>
          <p:cNvSpPr txBox="1">
            <a:spLocks noGrp="1"/>
          </p:cNvSpPr>
          <p:nvPr>
            <p:ph type="sldNum" idx="12"/>
          </p:nvPr>
        </p:nvSpPr>
        <p:spPr>
          <a:xfrm>
            <a:off x="8737600" y="6596998"/>
            <a:ext cx="2844800" cy="256500"/>
          </a:xfrm>
          <a:prstGeom prst="rect">
            <a:avLst/>
          </a:prstGeom>
          <a:noFill/>
          <a:ln>
            <a:noFill/>
          </a:ln>
        </p:spPr>
        <p:txBody>
          <a:bodyPr spcFirstLastPara="1" wrap="square" lIns="91425" tIns="45700" rIns="91425" bIns="45700" anchor="ctr" anchorCtr="0">
            <a:noAutofit/>
          </a:bodyPr>
          <a:lstStyle>
            <a:lvl1pPr marL="0" lvl="0"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1pPr>
            <a:lvl2pPr marL="0" lvl="1"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2pPr>
            <a:lvl3pPr marL="0" lvl="2"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3pPr>
            <a:lvl4pPr marL="0" lvl="3"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4pPr>
            <a:lvl5pPr marL="0" lvl="4"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5pPr>
            <a:lvl6pPr marL="0" lvl="5"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6pPr>
            <a:lvl7pPr marL="0" lvl="6"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7pPr>
            <a:lvl8pPr marL="0" lvl="7"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8pPr>
            <a:lvl9pPr marL="0" lvl="8" indent="0" algn="r" rtl="0">
              <a:lnSpc>
                <a:spcPct val="100000"/>
              </a:lnSpc>
              <a:spcBef>
                <a:spcPts val="0"/>
              </a:spcBef>
              <a:spcAft>
                <a:spcPts val="0"/>
              </a:spcAft>
              <a:buSzPts val="750"/>
              <a:buNone/>
              <a:defRPr sz="750" b="0" i="0" u="none" strike="noStrike" cap="none">
                <a:solidFill>
                  <a:srgbClr val="888888"/>
                </a:solidFill>
                <a:latin typeface="Arial"/>
                <a:ea typeface="Arial"/>
                <a:cs typeface="Arial"/>
                <a:sym typeface="Arial"/>
              </a:defRPr>
            </a:lvl9pPr>
          </a:lstStyle>
          <a:p>
            <a:r>
              <a:rPr lang="en-US"/>
              <a:t>Real Estate | </a:t>
            </a:r>
            <a:fld id="{00000000-1234-1234-1234-123412341234}" type="slidenum">
              <a:rPr lang="en" smtClean="0"/>
              <a:pPr/>
              <a:t>‹#›</a:t>
            </a:fld>
            <a:endParaRPr/>
          </a:p>
        </p:txBody>
      </p:sp>
      <p:sp>
        <p:nvSpPr>
          <p:cNvPr id="231" name="Google Shape;231;p40"/>
          <p:cNvSpPr/>
          <p:nvPr/>
        </p:nvSpPr>
        <p:spPr>
          <a:xfrm>
            <a:off x="770953" y="3377060"/>
            <a:ext cx="10650000" cy="25200"/>
          </a:xfrm>
          <a:prstGeom prst="rect">
            <a:avLst/>
          </a:prstGeom>
          <a:solidFill>
            <a:srgbClr val="BFBFBF"/>
          </a:solidFill>
          <a:ln>
            <a:noFill/>
          </a:ln>
          <a:effectLst>
            <a:outerShdw blurRad="50800" dist="38100" dir="1500000" algn="tl" rotWithShape="0">
              <a:srgbClr val="BFBFBF"/>
            </a:outerShdw>
          </a:effectLst>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232" name="Google Shape;232;p40"/>
          <p:cNvSpPr txBox="1"/>
          <p:nvPr/>
        </p:nvSpPr>
        <p:spPr>
          <a:xfrm>
            <a:off x="2737659" y="2201834"/>
            <a:ext cx="8683600" cy="954000"/>
          </a:xfrm>
          <a:prstGeom prst="rect">
            <a:avLst/>
          </a:prstGeom>
          <a:noFill/>
          <a:ln>
            <a:noFill/>
          </a:ln>
        </p:spPr>
        <p:txBody>
          <a:bodyPr spcFirstLastPara="1" wrap="square" lIns="0" tIns="34275" rIns="0" bIns="3427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1" i="0" u="none" strike="noStrike" cap="none">
                <a:solidFill>
                  <a:schemeClr val="dk1"/>
                </a:solidFill>
                <a:latin typeface="Arial"/>
                <a:ea typeface="Arial"/>
                <a:cs typeface="Arial"/>
                <a:sym typeface="Arial"/>
              </a:rPr>
              <a:t>The University of Texas/Texas A&amp;M Investment Management Company</a:t>
            </a:r>
            <a:endParaRPr sz="2100" b="1" i="0" u="none" strike="noStrike" cap="none">
              <a:solidFill>
                <a:schemeClr val="dk1"/>
              </a:solidFill>
              <a:latin typeface="Arial"/>
              <a:ea typeface="Arial"/>
              <a:cs typeface="Arial"/>
              <a:sym typeface="Arial"/>
            </a:endParaRPr>
          </a:p>
        </p:txBody>
      </p:sp>
      <p:sp>
        <p:nvSpPr>
          <p:cNvPr id="233" name="Google Shape;233;p40"/>
          <p:cNvSpPr txBox="1">
            <a:spLocks noGrp="1"/>
          </p:cNvSpPr>
          <p:nvPr>
            <p:ph type="body" idx="2"/>
          </p:nvPr>
        </p:nvSpPr>
        <p:spPr>
          <a:xfrm>
            <a:off x="2432052" y="4051301"/>
            <a:ext cx="8988800" cy="453900"/>
          </a:xfrm>
          <a:prstGeom prst="rect">
            <a:avLst/>
          </a:prstGeom>
          <a:noFill/>
          <a:ln>
            <a:noFill/>
          </a:ln>
        </p:spPr>
        <p:txBody>
          <a:bodyPr spcFirstLastPara="1" wrap="square" lIns="91425" tIns="45700" rIns="91425" bIns="45700" anchor="ctr" anchorCtr="0"/>
          <a:lstStyle>
            <a:lvl1pPr marL="457200" lvl="0" indent="-228600" algn="r" rtl="0">
              <a:lnSpc>
                <a:spcPct val="90000"/>
              </a:lnSpc>
              <a:spcBef>
                <a:spcPts val="750"/>
              </a:spcBef>
              <a:spcAft>
                <a:spcPts val="0"/>
              </a:spcAft>
              <a:buSzPts val="1920"/>
              <a:buNone/>
              <a:defRPr sz="1200" b="1">
                <a:solidFill>
                  <a:srgbClr val="7F7F7F"/>
                </a:solidFill>
                <a:latin typeface="Arial"/>
                <a:ea typeface="Arial"/>
                <a:cs typeface="Arial"/>
                <a:sym typeface="Arial"/>
              </a:defRPr>
            </a:lvl1pPr>
            <a:lvl2pPr marL="914400" lvl="1" indent="-354330" algn="l" rtl="0">
              <a:lnSpc>
                <a:spcPct val="90000"/>
              </a:lnSpc>
              <a:spcBef>
                <a:spcPts val="1575"/>
              </a:spcBef>
              <a:spcAft>
                <a:spcPts val="0"/>
              </a:spcAft>
              <a:buSzPts val="1980"/>
              <a:buChar char="○"/>
              <a:defRPr/>
            </a:lvl2pPr>
            <a:lvl3pPr marL="1371600" lvl="2" indent="-342900" algn="l" rtl="0">
              <a:lnSpc>
                <a:spcPct val="90000"/>
              </a:lnSpc>
              <a:spcBef>
                <a:spcPts val="1575"/>
              </a:spcBef>
              <a:spcAft>
                <a:spcPts val="0"/>
              </a:spcAft>
              <a:buSzPts val="1800"/>
              <a:buChar char="■"/>
              <a:defRPr/>
            </a:lvl3pPr>
            <a:lvl4pPr marL="1828800" lvl="3" indent="-331469" algn="l" rtl="0">
              <a:lnSpc>
                <a:spcPct val="90000"/>
              </a:lnSpc>
              <a:spcBef>
                <a:spcPts val="1575"/>
              </a:spcBef>
              <a:spcAft>
                <a:spcPts val="0"/>
              </a:spcAft>
              <a:buSzPts val="1620"/>
              <a:buChar char="●"/>
              <a:defRPr/>
            </a:lvl4pPr>
            <a:lvl5pPr marL="2286000" lvl="4" indent="-320039" algn="l" rtl="0">
              <a:lnSpc>
                <a:spcPct val="90000"/>
              </a:lnSpc>
              <a:spcBef>
                <a:spcPts val="1575"/>
              </a:spcBef>
              <a:spcAft>
                <a:spcPts val="0"/>
              </a:spcAft>
              <a:buSzPts val="1440"/>
              <a:buChar char="○"/>
              <a:defRPr/>
            </a:lvl5pPr>
            <a:lvl6pPr marL="2743200" lvl="5" indent="-342900" algn="l" rtl="0">
              <a:lnSpc>
                <a:spcPct val="90000"/>
              </a:lnSpc>
              <a:spcBef>
                <a:spcPts val="1575"/>
              </a:spcBef>
              <a:spcAft>
                <a:spcPts val="0"/>
              </a:spcAft>
              <a:buClr>
                <a:schemeClr val="dk1"/>
              </a:buClr>
              <a:buSzPts val="1800"/>
              <a:buChar char="■"/>
              <a:defRPr/>
            </a:lvl6pPr>
            <a:lvl7pPr marL="3200400" lvl="6" indent="-342900" algn="l" rtl="0">
              <a:lnSpc>
                <a:spcPct val="90000"/>
              </a:lnSpc>
              <a:spcBef>
                <a:spcPts val="1575"/>
              </a:spcBef>
              <a:spcAft>
                <a:spcPts val="0"/>
              </a:spcAft>
              <a:buClr>
                <a:schemeClr val="dk1"/>
              </a:buClr>
              <a:buSzPts val="1800"/>
              <a:buChar char="●"/>
              <a:defRPr/>
            </a:lvl7pPr>
            <a:lvl8pPr marL="3657600" lvl="7" indent="-342900" algn="l" rtl="0">
              <a:lnSpc>
                <a:spcPct val="90000"/>
              </a:lnSpc>
              <a:spcBef>
                <a:spcPts val="1575"/>
              </a:spcBef>
              <a:spcAft>
                <a:spcPts val="0"/>
              </a:spcAft>
              <a:buClr>
                <a:schemeClr val="dk1"/>
              </a:buClr>
              <a:buSzPts val="1800"/>
              <a:buChar char="○"/>
              <a:defRPr/>
            </a:lvl8pPr>
            <a:lvl9pPr marL="4114800" lvl="8" indent="-342900" algn="l" rtl="0">
              <a:lnSpc>
                <a:spcPct val="90000"/>
              </a:lnSpc>
              <a:spcBef>
                <a:spcPts val="1575"/>
              </a:spcBef>
              <a:spcAft>
                <a:spcPts val="1575"/>
              </a:spcAft>
              <a:buClr>
                <a:schemeClr val="dk1"/>
              </a:buClr>
              <a:buSzPts val="1800"/>
              <a:buChar char="■"/>
              <a:defRPr/>
            </a:lvl9pPr>
          </a:lstStyle>
          <a:p>
            <a:endParaRPr/>
          </a:p>
        </p:txBody>
      </p:sp>
      <p:pic>
        <p:nvPicPr>
          <p:cNvPr id="234" name="Google Shape;234;p40"/>
          <p:cNvPicPr preferRelativeResize="0"/>
          <p:nvPr/>
        </p:nvPicPr>
        <p:blipFill rotWithShape="1">
          <a:blip r:embed="rId2">
            <a:alphaModFix/>
          </a:blip>
          <a:srcRect l="54355" r="14619" b="56086"/>
          <a:stretch/>
        </p:blipFill>
        <p:spPr>
          <a:xfrm>
            <a:off x="770950" y="1758219"/>
            <a:ext cx="2011041" cy="1508282"/>
          </a:xfrm>
          <a:prstGeom prst="rect">
            <a:avLst/>
          </a:prstGeom>
          <a:noFill/>
          <a:ln>
            <a:noFill/>
          </a:ln>
        </p:spPr>
      </p:pic>
    </p:spTree>
    <p:extLst>
      <p:ext uri="{BB962C8B-B14F-4D97-AF65-F5344CB8AC3E}">
        <p14:creationId xmlns:p14="http://schemas.microsoft.com/office/powerpoint/2010/main" val="330382553"/>
      </p:ext>
    </p:extLst>
  </p:cSld>
  <p:clrMapOvr>
    <a:masterClrMapping/>
  </p:clrMapOvr>
  <p:extLst>
    <p:ext uri="{DCECCB84-F9BA-43D5-87BE-67443E8EF086}">
      <p15:sldGuideLst xmlns:p15="http://schemas.microsoft.com/office/powerpoint/2012/main">
        <p15:guide id="1" pos="288">
          <p15:clr>
            <a:srgbClr val="FBAE40"/>
          </p15:clr>
        </p15:guide>
        <p15:guide id="2" pos="5376">
          <p15:clr>
            <a:srgbClr val="FBAE40"/>
          </p15:clr>
        </p15:guide>
        <p15:guide id="3" orient="horz" pos="4152">
          <p15:clr>
            <a:srgbClr val="FBAE40"/>
          </p15:clr>
        </p15:guide>
        <p15:guide id="4" pos="2880">
          <p15:clr>
            <a:srgbClr val="FBAE40"/>
          </p15:clr>
        </p15:guide>
        <p15:guide id="5" orient="horz" pos="133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63"/>
        <p:cNvGrpSpPr/>
        <p:nvPr/>
      </p:nvGrpSpPr>
      <p:grpSpPr>
        <a:xfrm>
          <a:off x="0" y="0"/>
          <a:ext cx="0" cy="0"/>
          <a:chOff x="0" y="0"/>
          <a:chExt cx="0" cy="0"/>
        </a:xfrm>
      </p:grpSpPr>
      <p:sp>
        <p:nvSpPr>
          <p:cNvPr id="64" name="Google Shape;64;p15"/>
          <p:cNvSpPr/>
          <p:nvPr/>
        </p:nvSpPr>
        <p:spPr>
          <a:xfrm>
            <a:off x="609600" y="852934"/>
            <a:ext cx="10972800" cy="25200"/>
          </a:xfrm>
          <a:prstGeom prst="rect">
            <a:avLst/>
          </a:prstGeom>
          <a:solidFill>
            <a:srgbClr val="006699"/>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65" name="Google Shape;65;p15"/>
          <p:cNvSpPr txBox="1">
            <a:spLocks noGrp="1"/>
          </p:cNvSpPr>
          <p:nvPr>
            <p:ph type="title"/>
          </p:nvPr>
        </p:nvSpPr>
        <p:spPr>
          <a:xfrm>
            <a:off x="609601" y="266701"/>
            <a:ext cx="10033200" cy="579600"/>
          </a:xfrm>
          <a:prstGeom prst="rect">
            <a:avLst/>
          </a:prstGeom>
          <a:noFill/>
          <a:ln>
            <a:noFill/>
          </a:ln>
        </p:spPr>
        <p:txBody>
          <a:bodyPr spcFirstLastPara="1" wrap="square" lIns="0" tIns="45700" rIns="594350" bIns="45700" anchor="b" anchorCtr="0"/>
          <a:lstStyle>
            <a:lvl1pPr lvl="0" algn="l">
              <a:lnSpc>
                <a:spcPct val="90000"/>
              </a:lnSpc>
              <a:spcBef>
                <a:spcPts val="0"/>
              </a:spcBef>
              <a:spcAft>
                <a:spcPts val="0"/>
              </a:spcAft>
              <a:buClr>
                <a:schemeClr val="dk1"/>
              </a:buClr>
              <a:buSzPts val="2800"/>
              <a:buFont typeface="Arial"/>
              <a:buNone/>
              <a:defRPr sz="2800" b="0"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609600" y="1206501"/>
            <a:ext cx="10972800" cy="5371800"/>
          </a:xfrm>
          <a:prstGeom prst="rect">
            <a:avLst/>
          </a:prstGeom>
          <a:noFill/>
          <a:ln>
            <a:noFill/>
          </a:ln>
        </p:spPr>
        <p:txBody>
          <a:bodyPr spcFirstLastPara="1" wrap="square" lIns="0" tIns="45700" rIns="91425" bIns="45700" anchor="t" anchorCtr="0"/>
          <a:lstStyle>
            <a:lvl1pPr marL="457200" lvl="0" indent="-350520" algn="l">
              <a:lnSpc>
                <a:spcPct val="90000"/>
              </a:lnSpc>
              <a:spcBef>
                <a:spcPts val="1000"/>
              </a:spcBef>
              <a:spcAft>
                <a:spcPts val="0"/>
              </a:spcAft>
              <a:buClr>
                <a:srgbClr val="006699"/>
              </a:buClr>
              <a:buSzPts val="1920"/>
              <a:buFont typeface="Noto Sans Symbols"/>
              <a:buChar char="▪"/>
              <a:defRPr sz="1600">
                <a:solidFill>
                  <a:srgbClr val="7F7F7F"/>
                </a:solidFill>
                <a:latin typeface="Arial"/>
                <a:ea typeface="Arial"/>
                <a:cs typeface="Arial"/>
                <a:sym typeface="Arial"/>
              </a:defRPr>
            </a:lvl1pPr>
            <a:lvl2pPr marL="914400" lvl="1" indent="-317500" algn="l">
              <a:lnSpc>
                <a:spcPct val="90000"/>
              </a:lnSpc>
              <a:spcBef>
                <a:spcPts val="500"/>
              </a:spcBef>
              <a:spcAft>
                <a:spcPts val="0"/>
              </a:spcAft>
              <a:buClr>
                <a:srgbClr val="006699"/>
              </a:buClr>
              <a:buSzPts val="1400"/>
              <a:buFont typeface="Garamond"/>
              <a:buChar char="–"/>
              <a:defRPr sz="1400">
                <a:solidFill>
                  <a:srgbClr val="7F7F7F"/>
                </a:solidFill>
                <a:latin typeface="Arial"/>
                <a:ea typeface="Arial"/>
                <a:cs typeface="Arial"/>
                <a:sym typeface="Arial"/>
              </a:defRPr>
            </a:lvl2pPr>
            <a:lvl3pPr marL="1371600" lvl="2" indent="-308610" algn="l">
              <a:lnSpc>
                <a:spcPct val="90000"/>
              </a:lnSpc>
              <a:spcBef>
                <a:spcPts val="500"/>
              </a:spcBef>
              <a:spcAft>
                <a:spcPts val="0"/>
              </a:spcAft>
              <a:buClr>
                <a:srgbClr val="006699"/>
              </a:buClr>
              <a:buSzPts val="1260"/>
              <a:buFont typeface="Courier New"/>
              <a:buChar char="o"/>
              <a:defRPr sz="1400">
                <a:solidFill>
                  <a:srgbClr val="7F7F7F"/>
                </a:solidFill>
                <a:latin typeface="Arial"/>
                <a:ea typeface="Arial"/>
                <a:cs typeface="Arial"/>
                <a:sym typeface="Arial"/>
              </a:defRPr>
            </a:lvl3pPr>
            <a:lvl4pPr marL="1828800" lvl="3" indent="-331469" algn="l">
              <a:lnSpc>
                <a:spcPct val="90000"/>
              </a:lnSpc>
              <a:spcBef>
                <a:spcPts val="500"/>
              </a:spcBef>
              <a:spcAft>
                <a:spcPts val="0"/>
              </a:spcAft>
              <a:buSzPts val="1620"/>
              <a:buChar char="▪"/>
              <a:defRPr>
                <a:latin typeface="Garamond"/>
                <a:ea typeface="Garamond"/>
                <a:cs typeface="Garamond"/>
                <a:sym typeface="Garamond"/>
              </a:defRPr>
            </a:lvl4pPr>
            <a:lvl5pPr marL="2286000" lvl="4" indent="-320039" algn="l">
              <a:lnSpc>
                <a:spcPct val="90000"/>
              </a:lnSpc>
              <a:spcBef>
                <a:spcPts val="500"/>
              </a:spcBef>
              <a:spcAft>
                <a:spcPts val="0"/>
              </a:spcAft>
              <a:buSzPts val="1440"/>
              <a:buChar char="•"/>
              <a:defRPr>
                <a:latin typeface="Garamond"/>
                <a:ea typeface="Garamond"/>
                <a:cs typeface="Garamond"/>
                <a:sym typeface="Garamond"/>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5"/>
          <p:cNvSpPr txBox="1">
            <a:spLocks noGrp="1"/>
          </p:cNvSpPr>
          <p:nvPr>
            <p:ph type="sldNum" idx="12"/>
          </p:nvPr>
        </p:nvSpPr>
        <p:spPr>
          <a:xfrm>
            <a:off x="8737600" y="6596998"/>
            <a:ext cx="2844800" cy="2565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rgbClr val="888888"/>
                </a:solidFill>
                <a:latin typeface="Arial"/>
                <a:ea typeface="Arial"/>
                <a:cs typeface="Arial"/>
                <a:sym typeface="Arial"/>
              </a:defRPr>
            </a:lvl1pPr>
            <a:lvl2pPr marL="0" lvl="1" indent="0" algn="r">
              <a:spcBef>
                <a:spcPts val="0"/>
              </a:spcBef>
              <a:buNone/>
              <a:defRPr sz="1000" b="0" i="0" u="none" strike="noStrike" cap="none">
                <a:solidFill>
                  <a:srgbClr val="888888"/>
                </a:solidFill>
                <a:latin typeface="Arial"/>
                <a:ea typeface="Arial"/>
                <a:cs typeface="Arial"/>
                <a:sym typeface="Arial"/>
              </a:defRPr>
            </a:lvl2pPr>
            <a:lvl3pPr marL="0" lvl="2" indent="0" algn="r">
              <a:spcBef>
                <a:spcPts val="0"/>
              </a:spcBef>
              <a:buNone/>
              <a:defRPr sz="1000" b="0" i="0" u="none" strike="noStrike" cap="none">
                <a:solidFill>
                  <a:srgbClr val="888888"/>
                </a:solidFill>
                <a:latin typeface="Arial"/>
                <a:ea typeface="Arial"/>
                <a:cs typeface="Arial"/>
                <a:sym typeface="Arial"/>
              </a:defRPr>
            </a:lvl3pPr>
            <a:lvl4pPr marL="0" lvl="3" indent="0" algn="r">
              <a:spcBef>
                <a:spcPts val="0"/>
              </a:spcBef>
              <a:buNone/>
              <a:defRPr sz="1000" b="0" i="0" u="none" strike="noStrike" cap="none">
                <a:solidFill>
                  <a:srgbClr val="888888"/>
                </a:solidFill>
                <a:latin typeface="Arial"/>
                <a:ea typeface="Arial"/>
                <a:cs typeface="Arial"/>
                <a:sym typeface="Arial"/>
              </a:defRPr>
            </a:lvl4pPr>
            <a:lvl5pPr marL="0" lvl="4" indent="0" algn="r">
              <a:spcBef>
                <a:spcPts val="0"/>
              </a:spcBef>
              <a:buNone/>
              <a:defRPr sz="1000" b="0" i="0" u="none" strike="noStrike" cap="none">
                <a:solidFill>
                  <a:srgbClr val="888888"/>
                </a:solidFill>
                <a:latin typeface="Arial"/>
                <a:ea typeface="Arial"/>
                <a:cs typeface="Arial"/>
                <a:sym typeface="Arial"/>
              </a:defRPr>
            </a:lvl5pPr>
            <a:lvl6pPr marL="0" lvl="5" indent="0" algn="r">
              <a:spcBef>
                <a:spcPts val="0"/>
              </a:spcBef>
              <a:buNone/>
              <a:defRPr sz="1000" b="0" i="0" u="none" strike="noStrike" cap="none">
                <a:solidFill>
                  <a:srgbClr val="888888"/>
                </a:solidFill>
                <a:latin typeface="Arial"/>
                <a:ea typeface="Arial"/>
                <a:cs typeface="Arial"/>
                <a:sym typeface="Arial"/>
              </a:defRPr>
            </a:lvl6pPr>
            <a:lvl7pPr marL="0" lvl="6" indent="0" algn="r">
              <a:spcBef>
                <a:spcPts val="0"/>
              </a:spcBef>
              <a:buNone/>
              <a:defRPr sz="1000" b="0" i="0" u="none" strike="noStrike" cap="none">
                <a:solidFill>
                  <a:srgbClr val="888888"/>
                </a:solidFill>
                <a:latin typeface="Arial"/>
                <a:ea typeface="Arial"/>
                <a:cs typeface="Arial"/>
                <a:sym typeface="Arial"/>
              </a:defRPr>
            </a:lvl7pPr>
            <a:lvl8pPr marL="0" lvl="7" indent="0" algn="r">
              <a:spcBef>
                <a:spcPts val="0"/>
              </a:spcBef>
              <a:buNone/>
              <a:defRPr sz="1000" b="0" i="0" u="none" strike="noStrike" cap="none">
                <a:solidFill>
                  <a:srgbClr val="888888"/>
                </a:solidFill>
                <a:latin typeface="Arial"/>
                <a:ea typeface="Arial"/>
                <a:cs typeface="Arial"/>
                <a:sym typeface="Arial"/>
              </a:defRPr>
            </a:lvl8pPr>
            <a:lvl9pPr marL="0" lvl="8" indent="0" algn="r">
              <a:spcBef>
                <a:spcPts val="0"/>
              </a:spcBef>
              <a:buNone/>
              <a:defRPr sz="1000" b="0" i="0" u="none" strike="noStrike" cap="none">
                <a:solidFill>
                  <a:srgbClr val="888888"/>
                </a:solidFill>
                <a:latin typeface="Arial"/>
                <a:ea typeface="Arial"/>
                <a:cs typeface="Arial"/>
                <a:sym typeface="Arial"/>
              </a:defRPr>
            </a:lvl9pPr>
          </a:lstStyle>
          <a:p>
            <a:r>
              <a:rPr lang="en-US"/>
              <a:t>Real Estate | </a:t>
            </a:r>
            <a:fld id="{00000000-1234-1234-1234-123412341234}" type="slidenum">
              <a:rPr lang="en" smtClean="0"/>
              <a:pPr/>
              <a:t>‹#›</a:t>
            </a:fld>
            <a:endParaRPr/>
          </a:p>
        </p:txBody>
      </p:sp>
      <p:pic>
        <p:nvPicPr>
          <p:cNvPr id="68" name="Google Shape;68;p15"/>
          <p:cNvPicPr preferRelativeResize="0"/>
          <p:nvPr/>
        </p:nvPicPr>
        <p:blipFill rotWithShape="1">
          <a:blip r:embed="rId2">
            <a:alphaModFix/>
          </a:blip>
          <a:srcRect l="54357" r="14619" b="56086"/>
          <a:stretch/>
        </p:blipFill>
        <p:spPr>
          <a:xfrm>
            <a:off x="10725507" y="344412"/>
            <a:ext cx="938784" cy="704088"/>
          </a:xfrm>
          <a:prstGeom prst="rect">
            <a:avLst/>
          </a:prstGeom>
          <a:noFill/>
          <a:ln>
            <a:noFill/>
          </a:ln>
        </p:spPr>
      </p:pic>
    </p:spTree>
    <p:extLst>
      <p:ext uri="{BB962C8B-B14F-4D97-AF65-F5344CB8AC3E}">
        <p14:creationId xmlns:p14="http://schemas.microsoft.com/office/powerpoint/2010/main" val="2896008297"/>
      </p:ext>
    </p:extLst>
  </p:cSld>
  <p:clrMapOvr>
    <a:masterClrMapping/>
  </p:clrMapOvr>
  <p:extLst>
    <p:ext uri="{DCECCB84-F9BA-43D5-87BE-67443E8EF086}">
      <p15:sldGuideLst xmlns:p15="http://schemas.microsoft.com/office/powerpoint/2012/main">
        <p15:guide id="1" pos="288">
          <p15:clr>
            <a:srgbClr val="FBAE40"/>
          </p15:clr>
        </p15:guide>
        <p15:guide id="2" pos="5472">
          <p15:clr>
            <a:srgbClr val="FBAE40"/>
          </p15:clr>
        </p15:guide>
        <p15:guide id="3" orient="horz" pos="4152">
          <p15:clr>
            <a:srgbClr val="FBAE40"/>
          </p15:clr>
        </p15:guide>
        <p15:guide id="4" pos="2880">
          <p15:clr>
            <a:srgbClr val="FBAE40"/>
          </p15:clr>
        </p15:guide>
        <p15:guide id="5" orient="horz" pos="16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16"/>
        <p:cNvGrpSpPr/>
        <p:nvPr/>
      </p:nvGrpSpPr>
      <p:grpSpPr>
        <a:xfrm>
          <a:off x="0" y="0"/>
          <a:ext cx="0" cy="0"/>
          <a:chOff x="0" y="0"/>
          <a:chExt cx="0" cy="0"/>
        </a:xfrm>
      </p:grpSpPr>
      <p:sp>
        <p:nvSpPr>
          <p:cNvPr id="117" name="Google Shape;117;p21"/>
          <p:cNvSpPr/>
          <p:nvPr/>
        </p:nvSpPr>
        <p:spPr>
          <a:xfrm>
            <a:off x="609600" y="2212977"/>
            <a:ext cx="10972800" cy="168300"/>
          </a:xfrm>
          <a:prstGeom prst="rect">
            <a:avLst/>
          </a:prstGeom>
          <a:solidFill>
            <a:srgbClr val="006699"/>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8" name="Google Shape;118;p21"/>
          <p:cNvSpPr txBox="1">
            <a:spLocks noGrp="1"/>
          </p:cNvSpPr>
          <p:nvPr>
            <p:ph type="title"/>
          </p:nvPr>
        </p:nvSpPr>
        <p:spPr>
          <a:xfrm>
            <a:off x="2804160" y="2597152"/>
            <a:ext cx="8778400" cy="1571700"/>
          </a:xfrm>
          <a:prstGeom prst="rect">
            <a:avLst/>
          </a:prstGeom>
          <a:noFill/>
          <a:ln>
            <a:noFill/>
          </a:ln>
        </p:spPr>
        <p:txBody>
          <a:bodyPr spcFirstLastPara="1" wrap="square" lIns="0" tIns="45700" rIns="0" bIns="45700" anchor="ctr" anchorCtr="0"/>
          <a:lstStyle>
            <a:lvl1pPr lvl="0" algn="ctr">
              <a:lnSpc>
                <a:spcPct val="90000"/>
              </a:lnSpc>
              <a:spcBef>
                <a:spcPts val="0"/>
              </a:spcBef>
              <a:spcAft>
                <a:spcPts val="0"/>
              </a:spcAft>
              <a:buClr>
                <a:schemeClr val="dk1"/>
              </a:buClr>
              <a:buSzPts val="3600"/>
              <a:buFont typeface="Arial"/>
              <a:buNone/>
              <a:defRPr sz="3600" b="1" cap="none">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1"/>
          <p:cNvSpPr/>
          <p:nvPr/>
        </p:nvSpPr>
        <p:spPr>
          <a:xfrm>
            <a:off x="609600" y="4422777"/>
            <a:ext cx="10972800" cy="168300"/>
          </a:xfrm>
          <a:prstGeom prst="rect">
            <a:avLst/>
          </a:prstGeom>
          <a:solidFill>
            <a:srgbClr val="006699"/>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20" name="Google Shape;120;p21"/>
          <p:cNvPicPr preferRelativeResize="0"/>
          <p:nvPr/>
        </p:nvPicPr>
        <p:blipFill rotWithShape="1">
          <a:blip r:embed="rId2">
            <a:alphaModFix/>
          </a:blip>
          <a:srcRect l="54357" r="14619" b="56086"/>
          <a:stretch/>
        </p:blipFill>
        <p:spPr>
          <a:xfrm>
            <a:off x="627797" y="2601884"/>
            <a:ext cx="2176363" cy="1571106"/>
          </a:xfrm>
          <a:prstGeom prst="rect">
            <a:avLst/>
          </a:prstGeom>
          <a:noFill/>
          <a:ln>
            <a:noFill/>
          </a:ln>
        </p:spPr>
      </p:pic>
    </p:spTree>
    <p:extLst>
      <p:ext uri="{BB962C8B-B14F-4D97-AF65-F5344CB8AC3E}">
        <p14:creationId xmlns:p14="http://schemas.microsoft.com/office/powerpoint/2010/main" val="4233678201"/>
      </p:ext>
    </p:extLst>
  </p:cSld>
  <p:clrMapOvr>
    <a:masterClrMapping/>
  </p:clrMapOvr>
  <p:extLst>
    <p:ext uri="{DCECCB84-F9BA-43D5-87BE-67443E8EF086}">
      <p15:sldGuideLst xmlns:p15="http://schemas.microsoft.com/office/powerpoint/2012/main">
        <p15:guide id="1" pos="288">
          <p15:clr>
            <a:srgbClr val="FBAE40"/>
          </p15:clr>
        </p15:guide>
        <p15:guide id="2" pos="5472">
          <p15:clr>
            <a:srgbClr val="FBAE40"/>
          </p15:clr>
        </p15:guide>
        <p15:guide id="3" orient="horz" pos="4152">
          <p15:clr>
            <a:srgbClr val="FBAE40"/>
          </p15:clr>
        </p15:guide>
        <p15:guide id="4" pos="2880">
          <p15:clr>
            <a:srgbClr val="FBAE40"/>
          </p15:clr>
        </p15:guide>
        <p15:guide id="5" orient="horz" pos="16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rgbClr val="0091A0"/>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653667" y="705200"/>
            <a:ext cx="7570800" cy="5447600"/>
          </a:xfrm>
          <a:prstGeom prst="rect">
            <a:avLst/>
          </a:prstGeom>
        </p:spPr>
        <p:txBody>
          <a:bodyPr spcFirstLastPara="1" wrap="square" lIns="91425" tIns="91425" rIns="91425" bIns="91425" anchor="ctr" anchorCtr="0"/>
          <a:lstStyle>
            <a:lvl1pPr lvl="0" rtl="0">
              <a:spcBef>
                <a:spcPts val="0"/>
              </a:spcBef>
              <a:spcAft>
                <a:spcPts val="0"/>
              </a:spcAft>
              <a:buClr>
                <a:schemeClr val="lt1"/>
              </a:buClr>
              <a:buSzPts val="5400"/>
              <a:buNone/>
              <a:defRPr sz="7200">
                <a:solidFill>
                  <a:schemeClr val="lt1"/>
                </a:solidFill>
              </a:defRPr>
            </a:lvl1pPr>
            <a:lvl2pPr lvl="1" rtl="0">
              <a:spcBef>
                <a:spcPts val="0"/>
              </a:spcBef>
              <a:spcAft>
                <a:spcPts val="0"/>
              </a:spcAft>
              <a:buClr>
                <a:schemeClr val="lt1"/>
              </a:buClr>
              <a:buSzPts val="5400"/>
              <a:buNone/>
              <a:defRPr sz="7200">
                <a:solidFill>
                  <a:schemeClr val="lt1"/>
                </a:solidFill>
              </a:defRPr>
            </a:lvl2pPr>
            <a:lvl3pPr lvl="2" rtl="0">
              <a:spcBef>
                <a:spcPts val="0"/>
              </a:spcBef>
              <a:spcAft>
                <a:spcPts val="0"/>
              </a:spcAft>
              <a:buClr>
                <a:schemeClr val="lt1"/>
              </a:buClr>
              <a:buSzPts val="5400"/>
              <a:buNone/>
              <a:defRPr sz="7200">
                <a:solidFill>
                  <a:schemeClr val="lt1"/>
                </a:solidFill>
              </a:defRPr>
            </a:lvl3pPr>
            <a:lvl4pPr lvl="3" rtl="0">
              <a:spcBef>
                <a:spcPts val="0"/>
              </a:spcBef>
              <a:spcAft>
                <a:spcPts val="0"/>
              </a:spcAft>
              <a:buClr>
                <a:schemeClr val="lt1"/>
              </a:buClr>
              <a:buSzPts val="5400"/>
              <a:buNone/>
              <a:defRPr sz="7200">
                <a:solidFill>
                  <a:schemeClr val="lt1"/>
                </a:solidFill>
              </a:defRPr>
            </a:lvl4pPr>
            <a:lvl5pPr lvl="4" rtl="0">
              <a:spcBef>
                <a:spcPts val="0"/>
              </a:spcBef>
              <a:spcAft>
                <a:spcPts val="0"/>
              </a:spcAft>
              <a:buClr>
                <a:schemeClr val="lt1"/>
              </a:buClr>
              <a:buSzPts val="5400"/>
              <a:buNone/>
              <a:defRPr sz="7200">
                <a:solidFill>
                  <a:schemeClr val="lt1"/>
                </a:solidFill>
              </a:defRPr>
            </a:lvl5pPr>
            <a:lvl6pPr lvl="5" rtl="0">
              <a:spcBef>
                <a:spcPts val="0"/>
              </a:spcBef>
              <a:spcAft>
                <a:spcPts val="0"/>
              </a:spcAft>
              <a:buClr>
                <a:schemeClr val="lt1"/>
              </a:buClr>
              <a:buSzPts val="5400"/>
              <a:buNone/>
              <a:defRPr sz="7200">
                <a:solidFill>
                  <a:schemeClr val="lt1"/>
                </a:solidFill>
              </a:defRPr>
            </a:lvl6pPr>
            <a:lvl7pPr lvl="6" rtl="0">
              <a:spcBef>
                <a:spcPts val="0"/>
              </a:spcBef>
              <a:spcAft>
                <a:spcPts val="0"/>
              </a:spcAft>
              <a:buClr>
                <a:schemeClr val="lt1"/>
              </a:buClr>
              <a:buSzPts val="5400"/>
              <a:buNone/>
              <a:defRPr sz="7200">
                <a:solidFill>
                  <a:schemeClr val="lt1"/>
                </a:solidFill>
              </a:defRPr>
            </a:lvl7pPr>
            <a:lvl8pPr lvl="7" rtl="0">
              <a:spcBef>
                <a:spcPts val="0"/>
              </a:spcBef>
              <a:spcAft>
                <a:spcPts val="0"/>
              </a:spcAft>
              <a:buClr>
                <a:schemeClr val="lt1"/>
              </a:buClr>
              <a:buSzPts val="5400"/>
              <a:buNone/>
              <a:defRPr sz="7200">
                <a:solidFill>
                  <a:schemeClr val="lt1"/>
                </a:solidFill>
              </a:defRPr>
            </a:lvl8pPr>
            <a:lvl9pPr lvl="8" rtl="0">
              <a:spcBef>
                <a:spcPts val="0"/>
              </a:spcBef>
              <a:spcAft>
                <a:spcPts val="0"/>
              </a:spcAft>
              <a:buClr>
                <a:schemeClr val="lt1"/>
              </a:buClr>
              <a:buSzPts val="5400"/>
              <a:buNone/>
              <a:defRPr sz="7200">
                <a:solidFill>
                  <a:schemeClr val="lt1"/>
                </a:solidFill>
              </a:defRPr>
            </a:lvl9pPr>
          </a:lstStyle>
          <a:p>
            <a:endParaRPr/>
          </a:p>
        </p:txBody>
      </p:sp>
      <p:sp>
        <p:nvSpPr>
          <p:cNvPr id="83" name="Google Shape;83;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060231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solidFill>
          <a:srgbClr val="F26A24"/>
        </a:solidFill>
        <a:effectLst/>
      </p:bgPr>
    </p:bg>
    <p:spTree>
      <p:nvGrpSpPr>
        <p:cNvPr id="1" name="Shape 84"/>
        <p:cNvGrpSpPr/>
        <p:nvPr/>
      </p:nvGrpSpPr>
      <p:grpSpPr>
        <a:xfrm>
          <a:off x="0" y="0"/>
          <a:ext cx="0" cy="0"/>
          <a:chOff x="0" y="0"/>
          <a:chExt cx="0" cy="0"/>
        </a:xfrm>
      </p:grpSpPr>
      <p:sp>
        <p:nvSpPr>
          <p:cNvPr id="85" name="Google Shape;85;p21"/>
          <p:cNvSpPr/>
          <p:nvPr/>
        </p:nvSpPr>
        <p:spPr>
          <a:xfrm>
            <a:off x="6096000" y="233"/>
            <a:ext cx="6096000" cy="68580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6" name="Google Shape;86;p21"/>
          <p:cNvCxnSpPr/>
          <p:nvPr/>
        </p:nvCxnSpPr>
        <p:spPr>
          <a:xfrm>
            <a:off x="6706233" y="5994000"/>
            <a:ext cx="769600" cy="0"/>
          </a:xfrm>
          <a:prstGeom prst="straightConnector1">
            <a:avLst/>
          </a:prstGeom>
          <a:noFill/>
          <a:ln w="19050" cap="flat" cmpd="sng">
            <a:solidFill>
              <a:schemeClr val="dk1"/>
            </a:solidFill>
            <a:prstDash val="lgDash"/>
            <a:round/>
            <a:headEnd type="none" w="sm" len="sm"/>
            <a:tailEnd type="none" w="sm" len="sm"/>
          </a:ln>
        </p:spPr>
      </p:cxnSp>
      <p:sp>
        <p:nvSpPr>
          <p:cNvPr id="87" name="Google Shape;87;p21"/>
          <p:cNvSpPr txBox="1">
            <a:spLocks noGrp="1"/>
          </p:cNvSpPr>
          <p:nvPr>
            <p:ph type="title"/>
          </p:nvPr>
        </p:nvSpPr>
        <p:spPr>
          <a:xfrm>
            <a:off x="354000" y="1438333"/>
            <a:ext cx="5393600" cy="2385600"/>
          </a:xfrm>
          <a:prstGeom prst="rect">
            <a:avLst/>
          </a:prstGeom>
        </p:spPr>
        <p:txBody>
          <a:bodyPr spcFirstLastPara="1" wrap="square" lIns="91425" tIns="91425" rIns="91425" bIns="91425" anchor="b" anchorCtr="0"/>
          <a:lstStyle>
            <a:lvl1pPr lvl="0" algn="ctr" rtl="0">
              <a:spcBef>
                <a:spcPts val="0"/>
              </a:spcBef>
              <a:spcAft>
                <a:spcPts val="0"/>
              </a:spcAft>
              <a:buClr>
                <a:schemeClr val="lt1"/>
              </a:buClr>
              <a:buSzPts val="4600"/>
              <a:buNone/>
              <a:defRPr sz="6133">
                <a:solidFill>
                  <a:schemeClr val="lt1"/>
                </a:solidFill>
              </a:defRPr>
            </a:lvl1pPr>
            <a:lvl2pPr lvl="1" algn="ctr" rtl="0">
              <a:spcBef>
                <a:spcPts val="0"/>
              </a:spcBef>
              <a:spcAft>
                <a:spcPts val="0"/>
              </a:spcAft>
              <a:buClr>
                <a:schemeClr val="lt1"/>
              </a:buClr>
              <a:buSzPts val="4600"/>
              <a:buNone/>
              <a:defRPr sz="6133">
                <a:solidFill>
                  <a:schemeClr val="lt1"/>
                </a:solidFill>
              </a:defRPr>
            </a:lvl2pPr>
            <a:lvl3pPr lvl="2" algn="ctr" rtl="0">
              <a:spcBef>
                <a:spcPts val="0"/>
              </a:spcBef>
              <a:spcAft>
                <a:spcPts val="0"/>
              </a:spcAft>
              <a:buClr>
                <a:schemeClr val="lt1"/>
              </a:buClr>
              <a:buSzPts val="4600"/>
              <a:buNone/>
              <a:defRPr sz="6133">
                <a:solidFill>
                  <a:schemeClr val="lt1"/>
                </a:solidFill>
              </a:defRPr>
            </a:lvl3pPr>
            <a:lvl4pPr lvl="3" algn="ctr" rtl="0">
              <a:spcBef>
                <a:spcPts val="0"/>
              </a:spcBef>
              <a:spcAft>
                <a:spcPts val="0"/>
              </a:spcAft>
              <a:buClr>
                <a:schemeClr val="lt1"/>
              </a:buClr>
              <a:buSzPts val="4600"/>
              <a:buNone/>
              <a:defRPr sz="6133">
                <a:solidFill>
                  <a:schemeClr val="lt1"/>
                </a:solidFill>
              </a:defRPr>
            </a:lvl4pPr>
            <a:lvl5pPr lvl="4" algn="ctr" rtl="0">
              <a:spcBef>
                <a:spcPts val="0"/>
              </a:spcBef>
              <a:spcAft>
                <a:spcPts val="0"/>
              </a:spcAft>
              <a:buClr>
                <a:schemeClr val="lt1"/>
              </a:buClr>
              <a:buSzPts val="4600"/>
              <a:buNone/>
              <a:defRPr sz="6133">
                <a:solidFill>
                  <a:schemeClr val="lt1"/>
                </a:solidFill>
              </a:defRPr>
            </a:lvl5pPr>
            <a:lvl6pPr lvl="5" algn="ctr" rtl="0">
              <a:spcBef>
                <a:spcPts val="0"/>
              </a:spcBef>
              <a:spcAft>
                <a:spcPts val="0"/>
              </a:spcAft>
              <a:buClr>
                <a:schemeClr val="lt1"/>
              </a:buClr>
              <a:buSzPts val="4600"/>
              <a:buNone/>
              <a:defRPr sz="6133">
                <a:solidFill>
                  <a:schemeClr val="lt1"/>
                </a:solidFill>
              </a:defRPr>
            </a:lvl6pPr>
            <a:lvl7pPr lvl="6" algn="ctr" rtl="0">
              <a:spcBef>
                <a:spcPts val="0"/>
              </a:spcBef>
              <a:spcAft>
                <a:spcPts val="0"/>
              </a:spcAft>
              <a:buClr>
                <a:schemeClr val="lt1"/>
              </a:buClr>
              <a:buSzPts val="4600"/>
              <a:buNone/>
              <a:defRPr sz="6133">
                <a:solidFill>
                  <a:schemeClr val="lt1"/>
                </a:solidFill>
              </a:defRPr>
            </a:lvl7pPr>
            <a:lvl8pPr lvl="7" algn="ctr" rtl="0">
              <a:spcBef>
                <a:spcPts val="0"/>
              </a:spcBef>
              <a:spcAft>
                <a:spcPts val="0"/>
              </a:spcAft>
              <a:buClr>
                <a:schemeClr val="lt1"/>
              </a:buClr>
              <a:buSzPts val="4600"/>
              <a:buNone/>
              <a:defRPr sz="6133">
                <a:solidFill>
                  <a:schemeClr val="lt1"/>
                </a:solidFill>
              </a:defRPr>
            </a:lvl8pPr>
            <a:lvl9pPr lvl="8" algn="ctr" rtl="0">
              <a:spcBef>
                <a:spcPts val="0"/>
              </a:spcBef>
              <a:spcAft>
                <a:spcPts val="0"/>
              </a:spcAft>
              <a:buClr>
                <a:schemeClr val="lt1"/>
              </a:buClr>
              <a:buSzPts val="4600"/>
              <a:buNone/>
              <a:defRPr sz="6133">
                <a:solidFill>
                  <a:schemeClr val="lt1"/>
                </a:solidFill>
              </a:defRPr>
            </a:lvl9pPr>
          </a:lstStyle>
          <a:p>
            <a:endParaRPr/>
          </a:p>
        </p:txBody>
      </p:sp>
      <p:sp>
        <p:nvSpPr>
          <p:cNvPr id="88" name="Google Shape;88;p21"/>
          <p:cNvSpPr txBox="1">
            <a:spLocks noGrp="1"/>
          </p:cNvSpPr>
          <p:nvPr>
            <p:ph type="subTitle" idx="1"/>
          </p:nvPr>
        </p:nvSpPr>
        <p:spPr>
          <a:xfrm>
            <a:off x="354000" y="3895201"/>
            <a:ext cx="5393600" cy="17940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Clr>
                <a:schemeClr val="lt1"/>
              </a:buClr>
              <a:buSzPts val="1900"/>
              <a:buNone/>
              <a:defRPr sz="2533">
                <a:solidFill>
                  <a:schemeClr val="lt1"/>
                </a:solidFill>
              </a:defRPr>
            </a:lvl1pPr>
            <a:lvl2pPr lvl="1" algn="ctr" rtl="0">
              <a:lnSpc>
                <a:spcPct val="100000"/>
              </a:lnSpc>
              <a:spcBef>
                <a:spcPts val="0"/>
              </a:spcBef>
              <a:spcAft>
                <a:spcPts val="0"/>
              </a:spcAft>
              <a:buClr>
                <a:schemeClr val="lt1"/>
              </a:buClr>
              <a:buSzPts val="1900"/>
              <a:buNone/>
              <a:defRPr sz="2533">
                <a:solidFill>
                  <a:schemeClr val="lt1"/>
                </a:solidFill>
              </a:defRPr>
            </a:lvl2pPr>
            <a:lvl3pPr lvl="2" algn="ctr" rtl="0">
              <a:lnSpc>
                <a:spcPct val="100000"/>
              </a:lnSpc>
              <a:spcBef>
                <a:spcPts val="0"/>
              </a:spcBef>
              <a:spcAft>
                <a:spcPts val="0"/>
              </a:spcAft>
              <a:buClr>
                <a:schemeClr val="lt1"/>
              </a:buClr>
              <a:buSzPts val="1900"/>
              <a:buNone/>
              <a:defRPr sz="2533">
                <a:solidFill>
                  <a:schemeClr val="lt1"/>
                </a:solidFill>
              </a:defRPr>
            </a:lvl3pPr>
            <a:lvl4pPr lvl="3" algn="ctr" rtl="0">
              <a:lnSpc>
                <a:spcPct val="100000"/>
              </a:lnSpc>
              <a:spcBef>
                <a:spcPts val="0"/>
              </a:spcBef>
              <a:spcAft>
                <a:spcPts val="0"/>
              </a:spcAft>
              <a:buClr>
                <a:schemeClr val="lt1"/>
              </a:buClr>
              <a:buSzPts val="1900"/>
              <a:buNone/>
              <a:defRPr sz="2533">
                <a:solidFill>
                  <a:schemeClr val="lt1"/>
                </a:solidFill>
              </a:defRPr>
            </a:lvl4pPr>
            <a:lvl5pPr lvl="4" algn="ctr" rtl="0">
              <a:lnSpc>
                <a:spcPct val="100000"/>
              </a:lnSpc>
              <a:spcBef>
                <a:spcPts val="0"/>
              </a:spcBef>
              <a:spcAft>
                <a:spcPts val="0"/>
              </a:spcAft>
              <a:buClr>
                <a:schemeClr val="lt1"/>
              </a:buClr>
              <a:buSzPts val="1900"/>
              <a:buNone/>
              <a:defRPr sz="2533">
                <a:solidFill>
                  <a:schemeClr val="lt1"/>
                </a:solidFill>
              </a:defRPr>
            </a:lvl5pPr>
            <a:lvl6pPr lvl="5" algn="ctr" rtl="0">
              <a:lnSpc>
                <a:spcPct val="100000"/>
              </a:lnSpc>
              <a:spcBef>
                <a:spcPts val="0"/>
              </a:spcBef>
              <a:spcAft>
                <a:spcPts val="0"/>
              </a:spcAft>
              <a:buClr>
                <a:schemeClr val="lt1"/>
              </a:buClr>
              <a:buSzPts val="1900"/>
              <a:buNone/>
              <a:defRPr sz="2533">
                <a:solidFill>
                  <a:schemeClr val="lt1"/>
                </a:solidFill>
              </a:defRPr>
            </a:lvl6pPr>
            <a:lvl7pPr lvl="6" algn="ctr" rtl="0">
              <a:lnSpc>
                <a:spcPct val="100000"/>
              </a:lnSpc>
              <a:spcBef>
                <a:spcPts val="0"/>
              </a:spcBef>
              <a:spcAft>
                <a:spcPts val="0"/>
              </a:spcAft>
              <a:buClr>
                <a:schemeClr val="lt1"/>
              </a:buClr>
              <a:buSzPts val="1900"/>
              <a:buNone/>
              <a:defRPr sz="2533">
                <a:solidFill>
                  <a:schemeClr val="lt1"/>
                </a:solidFill>
              </a:defRPr>
            </a:lvl7pPr>
            <a:lvl8pPr lvl="7" algn="ctr" rtl="0">
              <a:lnSpc>
                <a:spcPct val="100000"/>
              </a:lnSpc>
              <a:spcBef>
                <a:spcPts val="0"/>
              </a:spcBef>
              <a:spcAft>
                <a:spcPts val="0"/>
              </a:spcAft>
              <a:buClr>
                <a:schemeClr val="lt1"/>
              </a:buClr>
              <a:buSzPts val="1900"/>
              <a:buNone/>
              <a:defRPr sz="2533">
                <a:solidFill>
                  <a:schemeClr val="lt1"/>
                </a:solidFill>
              </a:defRPr>
            </a:lvl8pPr>
            <a:lvl9pPr lvl="8" algn="ctr" rtl="0">
              <a:lnSpc>
                <a:spcPct val="100000"/>
              </a:lnSpc>
              <a:spcBef>
                <a:spcPts val="0"/>
              </a:spcBef>
              <a:spcAft>
                <a:spcPts val="0"/>
              </a:spcAft>
              <a:buClr>
                <a:schemeClr val="lt1"/>
              </a:buClr>
              <a:buSzPts val="1900"/>
              <a:buNone/>
              <a:defRPr sz="2533">
                <a:solidFill>
                  <a:schemeClr val="lt1"/>
                </a:solidFill>
              </a:defRPr>
            </a:lvl9pPr>
          </a:lstStyle>
          <a:p>
            <a:endParaRPr/>
          </a:p>
        </p:txBody>
      </p:sp>
      <p:sp>
        <p:nvSpPr>
          <p:cNvPr id="89" name="Google Shape;89;p21"/>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lstStyle>
            <a:lvl1pPr marL="609585" lvl="0" indent="-457189" rtl="0">
              <a:spcBef>
                <a:spcPts val="0"/>
              </a:spcBef>
              <a:spcAft>
                <a:spcPts val="0"/>
              </a:spcAft>
              <a:buSzPts val="1800"/>
              <a:buChar char="❖"/>
              <a:defRPr sz="2667"/>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90" name="Google Shape;90;p2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037064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51"/>
        <p:cNvGrpSpPr/>
        <p:nvPr/>
      </p:nvGrpSpPr>
      <p:grpSpPr>
        <a:xfrm>
          <a:off x="0" y="0"/>
          <a:ext cx="0" cy="0"/>
          <a:chOff x="0" y="0"/>
          <a:chExt cx="0" cy="0"/>
        </a:xfrm>
      </p:grpSpPr>
      <p:sp>
        <p:nvSpPr>
          <p:cNvPr id="52" name="Google Shape;52;p14"/>
          <p:cNvSpPr/>
          <p:nvPr/>
        </p:nvSpPr>
        <p:spPr>
          <a:xfrm>
            <a:off x="0" y="1"/>
            <a:ext cx="12192000" cy="5398400"/>
          </a:xfrm>
          <a:prstGeom prst="rect">
            <a:avLst/>
          </a:prstGeom>
          <a:solidFill>
            <a:srgbClr val="3C5EA8"/>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pic>
        <p:nvPicPr>
          <p:cNvPr id="53" name="Google Shape;53;p14"/>
          <p:cNvPicPr preferRelativeResize="0"/>
          <p:nvPr/>
        </p:nvPicPr>
        <p:blipFill rotWithShape="1">
          <a:blip r:embed="rId2">
            <a:alphaModFix amt="7000"/>
          </a:blip>
          <a:srcRect t="13337" b="24252"/>
          <a:stretch/>
        </p:blipFill>
        <p:spPr>
          <a:xfrm>
            <a:off x="1" y="0"/>
            <a:ext cx="12191996" cy="5398475"/>
          </a:xfrm>
          <a:prstGeom prst="rect">
            <a:avLst/>
          </a:prstGeom>
          <a:noFill/>
          <a:ln>
            <a:noFill/>
          </a:ln>
        </p:spPr>
      </p:pic>
      <p:sp>
        <p:nvSpPr>
          <p:cNvPr id="54" name="Google Shape;54;p14"/>
          <p:cNvSpPr txBox="1">
            <a:spLocks noGrp="1"/>
          </p:cNvSpPr>
          <p:nvPr>
            <p:ph type="ctrTitle"/>
          </p:nvPr>
        </p:nvSpPr>
        <p:spPr>
          <a:xfrm>
            <a:off x="845573" y="2458081"/>
            <a:ext cx="8150800" cy="1175600"/>
          </a:xfrm>
          <a:prstGeom prst="rect">
            <a:avLst/>
          </a:prstGeom>
          <a:noFill/>
          <a:ln>
            <a:noFill/>
          </a:ln>
        </p:spPr>
        <p:txBody>
          <a:bodyPr spcFirstLastPara="1" wrap="square" lIns="68575" tIns="34275" rIns="68575" bIns="34275" anchor="t" anchorCtr="0"/>
          <a:lstStyle>
            <a:lvl1pPr marR="0" lvl="0" algn="l" rtl="0">
              <a:lnSpc>
                <a:spcPct val="90000"/>
              </a:lnSpc>
              <a:spcBef>
                <a:spcPts val="0"/>
              </a:spcBef>
              <a:spcAft>
                <a:spcPts val="0"/>
              </a:spcAft>
              <a:buClr>
                <a:schemeClr val="dk1"/>
              </a:buClr>
              <a:buSzPts val="33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pic>
        <p:nvPicPr>
          <p:cNvPr id="55" name="Google Shape;55;p14"/>
          <p:cNvPicPr preferRelativeResize="0"/>
          <p:nvPr/>
        </p:nvPicPr>
        <p:blipFill rotWithShape="1">
          <a:blip r:embed="rId3">
            <a:alphaModFix/>
          </a:blip>
          <a:srcRect/>
          <a:stretch/>
        </p:blipFill>
        <p:spPr>
          <a:xfrm>
            <a:off x="952501" y="5791201"/>
            <a:ext cx="3012751" cy="705113"/>
          </a:xfrm>
          <a:prstGeom prst="rect">
            <a:avLst/>
          </a:prstGeom>
          <a:noFill/>
          <a:ln>
            <a:noFill/>
          </a:ln>
        </p:spPr>
      </p:pic>
      <p:pic>
        <p:nvPicPr>
          <p:cNvPr id="56" name="Google Shape;56;p14"/>
          <p:cNvPicPr preferRelativeResize="0"/>
          <p:nvPr/>
        </p:nvPicPr>
        <p:blipFill rotWithShape="1">
          <a:blip r:embed="rId4">
            <a:alphaModFix/>
          </a:blip>
          <a:srcRect/>
          <a:stretch/>
        </p:blipFill>
        <p:spPr>
          <a:xfrm>
            <a:off x="7093821" y="5639549"/>
            <a:ext cx="4620129" cy="856764"/>
          </a:xfrm>
          <a:prstGeom prst="rect">
            <a:avLst/>
          </a:prstGeom>
          <a:noFill/>
          <a:ln>
            <a:noFill/>
          </a:ln>
        </p:spPr>
      </p:pic>
      <p:sp>
        <p:nvSpPr>
          <p:cNvPr id="57" name="Google Shape;57;p14"/>
          <p:cNvSpPr txBox="1">
            <a:spLocks noGrp="1"/>
          </p:cNvSpPr>
          <p:nvPr>
            <p:ph type="body" idx="1"/>
          </p:nvPr>
        </p:nvSpPr>
        <p:spPr>
          <a:xfrm>
            <a:off x="846137" y="3633788"/>
            <a:ext cx="8150000" cy="609600"/>
          </a:xfrm>
          <a:prstGeom prst="rect">
            <a:avLst/>
          </a:prstGeom>
          <a:noFill/>
          <a:ln>
            <a:noFill/>
          </a:ln>
        </p:spPr>
        <p:txBody>
          <a:bodyPr spcFirstLastPara="1" wrap="square" lIns="68575" tIns="34275" rIns="68575" bIns="34275" anchor="t" anchorCtr="0"/>
          <a:lstStyle>
            <a:lvl1pPr marL="609585" marR="0" lvl="0" indent="-304792" algn="l" rtl="0">
              <a:lnSpc>
                <a:spcPct val="90000"/>
              </a:lnSpc>
              <a:spcBef>
                <a:spcPts val="1067"/>
              </a:spcBef>
              <a:spcAft>
                <a:spcPts val="0"/>
              </a:spcAft>
              <a:buClr>
                <a:schemeClr val="lt1"/>
              </a:buClr>
              <a:buSzPts val="2100"/>
              <a:buFont typeface="Arial"/>
              <a:buNone/>
              <a:defRPr sz="2800" b="0" i="0" u="none" strike="noStrike" cap="none">
                <a:solidFill>
                  <a:schemeClr val="lt1"/>
                </a:solidFill>
                <a:latin typeface="Calibri"/>
                <a:ea typeface="Calibri"/>
                <a:cs typeface="Calibri"/>
                <a:sym typeface="Calibri"/>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231292860"/>
      </p:ext>
    </p:extLst>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extLst>
    <p:ext uri="{DCECCB84-F9BA-43D5-87BE-67443E8EF086}">
      <p15:sldGuideLst xmlns:p15="http://schemas.microsoft.com/office/powerpoint/2012/main">
        <p15:guide id="1" pos="450">
          <p15:clr>
            <a:srgbClr val="FBAE40"/>
          </p15:clr>
        </p15:guide>
        <p15:guide id="2" orient="horz" pos="2736">
          <p15:clr>
            <a:srgbClr val="FBAE40"/>
          </p15:clr>
        </p15:guide>
        <p15:guide id="3" orient="horz" pos="30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ody Slide">
  <p:cSld name="Body Slide">
    <p:spTree>
      <p:nvGrpSpPr>
        <p:cNvPr id="1" name="Shape 59"/>
        <p:cNvGrpSpPr/>
        <p:nvPr/>
      </p:nvGrpSpPr>
      <p:grpSpPr>
        <a:xfrm>
          <a:off x="0" y="0"/>
          <a:ext cx="0" cy="0"/>
          <a:chOff x="0" y="0"/>
          <a:chExt cx="0" cy="0"/>
        </a:xfrm>
      </p:grpSpPr>
      <p:pic>
        <p:nvPicPr>
          <p:cNvPr id="60" name="Google Shape;60;p16"/>
          <p:cNvPicPr preferRelativeResize="0"/>
          <p:nvPr/>
        </p:nvPicPr>
        <p:blipFill rotWithShape="1">
          <a:blip r:embed="rId2">
            <a:alphaModFix/>
          </a:blip>
          <a:srcRect/>
          <a:stretch/>
        </p:blipFill>
        <p:spPr>
          <a:xfrm>
            <a:off x="952499" y="5774174"/>
            <a:ext cx="717805" cy="717805"/>
          </a:xfrm>
          <a:prstGeom prst="rect">
            <a:avLst/>
          </a:prstGeom>
          <a:noFill/>
          <a:ln>
            <a:noFill/>
          </a:ln>
        </p:spPr>
      </p:pic>
      <p:pic>
        <p:nvPicPr>
          <p:cNvPr id="61" name="Google Shape;61;p16"/>
          <p:cNvPicPr preferRelativeResize="0"/>
          <p:nvPr/>
        </p:nvPicPr>
        <p:blipFill rotWithShape="1">
          <a:blip r:embed="rId3">
            <a:alphaModFix/>
          </a:blip>
          <a:srcRect/>
          <a:stretch/>
        </p:blipFill>
        <p:spPr>
          <a:xfrm>
            <a:off x="7093821" y="5639549"/>
            <a:ext cx="4620129" cy="856764"/>
          </a:xfrm>
          <a:prstGeom prst="rect">
            <a:avLst/>
          </a:prstGeom>
          <a:noFill/>
          <a:ln>
            <a:noFill/>
          </a:ln>
        </p:spPr>
      </p:pic>
      <p:cxnSp>
        <p:nvCxnSpPr>
          <p:cNvPr id="62" name="Google Shape;62;p16"/>
          <p:cNvCxnSpPr/>
          <p:nvPr/>
        </p:nvCxnSpPr>
        <p:spPr>
          <a:xfrm>
            <a:off x="952500" y="5440217"/>
            <a:ext cx="10761200" cy="0"/>
          </a:xfrm>
          <a:prstGeom prst="straightConnector1">
            <a:avLst/>
          </a:prstGeom>
          <a:noFill/>
          <a:ln w="12700" cap="flat" cmpd="sng">
            <a:solidFill>
              <a:srgbClr val="EDEDED"/>
            </a:solidFill>
            <a:prstDash val="solid"/>
            <a:miter lim="800000"/>
            <a:headEnd type="none" w="sm" len="sm"/>
            <a:tailEnd type="none" w="sm" len="sm"/>
          </a:ln>
        </p:spPr>
      </p:cxnSp>
    </p:spTree>
    <p:extLst>
      <p:ext uri="{BB962C8B-B14F-4D97-AF65-F5344CB8AC3E}">
        <p14:creationId xmlns:p14="http://schemas.microsoft.com/office/powerpoint/2010/main" val="4198872424"/>
      </p:ext>
    </p:extLst>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1_Section title and description">
    <p:spTree>
      <p:nvGrpSpPr>
        <p:cNvPr id="1" name="Shape 90"/>
        <p:cNvGrpSpPr/>
        <p:nvPr/>
      </p:nvGrpSpPr>
      <p:grpSpPr>
        <a:xfrm>
          <a:off x="0" y="0"/>
          <a:ext cx="0" cy="0"/>
          <a:chOff x="0" y="0"/>
          <a:chExt cx="0" cy="0"/>
        </a:xfrm>
      </p:grpSpPr>
      <p:sp>
        <p:nvSpPr>
          <p:cNvPr id="91" name="Google Shape;91;p21"/>
          <p:cNvSpPr/>
          <p:nvPr/>
        </p:nvSpPr>
        <p:spPr>
          <a:xfrm flipH="1">
            <a:off x="-167" y="0"/>
            <a:ext cx="4834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 name="Google Shape;92;p21"/>
          <p:cNvSpPr/>
          <p:nvPr/>
        </p:nvSpPr>
        <p:spPr>
          <a:xfrm rot="5400000">
            <a:off x="14776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 name="Google Shape;93;p21"/>
          <p:cNvSpPr txBox="1">
            <a:spLocks noGrp="1"/>
          </p:cNvSpPr>
          <p:nvPr>
            <p:ph type="title"/>
          </p:nvPr>
        </p:nvSpPr>
        <p:spPr>
          <a:xfrm>
            <a:off x="354000" y="1644233"/>
            <a:ext cx="3923200" cy="19764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5600">
                <a:solidFill>
                  <a:schemeClr val="dk2"/>
                </a:solidFill>
              </a:defRPr>
            </a:lvl1pPr>
            <a:lvl2pPr lvl="1" algn="ctr" rtl="0">
              <a:spcBef>
                <a:spcPts val="0"/>
              </a:spcBef>
              <a:spcAft>
                <a:spcPts val="0"/>
              </a:spcAft>
              <a:buClr>
                <a:schemeClr val="dk2"/>
              </a:buClr>
              <a:buSzPts val="4200"/>
              <a:buNone/>
              <a:defRPr sz="5600">
                <a:solidFill>
                  <a:schemeClr val="dk2"/>
                </a:solidFill>
              </a:defRPr>
            </a:lvl2pPr>
            <a:lvl3pPr lvl="2" algn="ctr" rtl="0">
              <a:spcBef>
                <a:spcPts val="0"/>
              </a:spcBef>
              <a:spcAft>
                <a:spcPts val="0"/>
              </a:spcAft>
              <a:buClr>
                <a:schemeClr val="dk2"/>
              </a:buClr>
              <a:buSzPts val="4200"/>
              <a:buNone/>
              <a:defRPr sz="5600">
                <a:solidFill>
                  <a:schemeClr val="dk2"/>
                </a:solidFill>
              </a:defRPr>
            </a:lvl3pPr>
            <a:lvl4pPr lvl="3" algn="ctr" rtl="0">
              <a:spcBef>
                <a:spcPts val="0"/>
              </a:spcBef>
              <a:spcAft>
                <a:spcPts val="0"/>
              </a:spcAft>
              <a:buClr>
                <a:schemeClr val="dk2"/>
              </a:buClr>
              <a:buSzPts val="4200"/>
              <a:buNone/>
              <a:defRPr sz="5600">
                <a:solidFill>
                  <a:schemeClr val="dk2"/>
                </a:solidFill>
              </a:defRPr>
            </a:lvl4pPr>
            <a:lvl5pPr lvl="4" algn="ctr" rtl="0">
              <a:spcBef>
                <a:spcPts val="0"/>
              </a:spcBef>
              <a:spcAft>
                <a:spcPts val="0"/>
              </a:spcAft>
              <a:buClr>
                <a:schemeClr val="dk2"/>
              </a:buClr>
              <a:buSzPts val="4200"/>
              <a:buNone/>
              <a:defRPr sz="5600">
                <a:solidFill>
                  <a:schemeClr val="dk2"/>
                </a:solidFill>
              </a:defRPr>
            </a:lvl5pPr>
            <a:lvl6pPr lvl="5" algn="ctr" rtl="0">
              <a:spcBef>
                <a:spcPts val="0"/>
              </a:spcBef>
              <a:spcAft>
                <a:spcPts val="0"/>
              </a:spcAft>
              <a:buClr>
                <a:schemeClr val="dk2"/>
              </a:buClr>
              <a:buSzPts val="4200"/>
              <a:buNone/>
              <a:defRPr sz="5600">
                <a:solidFill>
                  <a:schemeClr val="dk2"/>
                </a:solidFill>
              </a:defRPr>
            </a:lvl6pPr>
            <a:lvl7pPr lvl="6" algn="ctr" rtl="0">
              <a:spcBef>
                <a:spcPts val="0"/>
              </a:spcBef>
              <a:spcAft>
                <a:spcPts val="0"/>
              </a:spcAft>
              <a:buClr>
                <a:schemeClr val="dk2"/>
              </a:buClr>
              <a:buSzPts val="4200"/>
              <a:buNone/>
              <a:defRPr sz="5600">
                <a:solidFill>
                  <a:schemeClr val="dk2"/>
                </a:solidFill>
              </a:defRPr>
            </a:lvl7pPr>
            <a:lvl8pPr lvl="7" algn="ctr" rtl="0">
              <a:spcBef>
                <a:spcPts val="0"/>
              </a:spcBef>
              <a:spcAft>
                <a:spcPts val="0"/>
              </a:spcAft>
              <a:buClr>
                <a:schemeClr val="dk2"/>
              </a:buClr>
              <a:buSzPts val="4200"/>
              <a:buNone/>
              <a:defRPr sz="5600">
                <a:solidFill>
                  <a:schemeClr val="dk2"/>
                </a:solidFill>
              </a:defRPr>
            </a:lvl8pPr>
            <a:lvl9pPr lvl="8" algn="ctr" rtl="0">
              <a:spcBef>
                <a:spcPts val="0"/>
              </a:spcBef>
              <a:spcAft>
                <a:spcPts val="0"/>
              </a:spcAft>
              <a:buClr>
                <a:schemeClr val="dk2"/>
              </a:buClr>
              <a:buSzPts val="4200"/>
              <a:buNone/>
              <a:defRPr sz="5600">
                <a:solidFill>
                  <a:schemeClr val="dk2"/>
                </a:solidFill>
              </a:defRPr>
            </a:lvl9pPr>
          </a:lstStyle>
          <a:p>
            <a:endParaRPr/>
          </a:p>
        </p:txBody>
      </p:sp>
      <p:sp>
        <p:nvSpPr>
          <p:cNvPr id="94" name="Google Shape;94;p21"/>
          <p:cNvSpPr txBox="1">
            <a:spLocks noGrp="1"/>
          </p:cNvSpPr>
          <p:nvPr>
            <p:ph type="body" idx="1"/>
          </p:nvPr>
        </p:nvSpPr>
        <p:spPr>
          <a:xfrm>
            <a:off x="5570000" y="965600"/>
            <a:ext cx="5794800" cy="4926800"/>
          </a:xfrm>
          <a:prstGeom prst="rect">
            <a:avLst/>
          </a:prstGeom>
        </p:spPr>
        <p:txBody>
          <a:bodyPr spcFirstLastPara="1" wrap="square" lIns="91425" tIns="91425" rIns="91425" bIns="91425" anchor="ctr" anchorCtr="0"/>
          <a:lstStyle>
            <a:lvl1pPr marL="609585" lvl="0" indent="-457189" rtl="0">
              <a:spcBef>
                <a:spcPts val="0"/>
              </a:spcBef>
              <a:spcAft>
                <a:spcPts val="0"/>
              </a:spcAft>
              <a:buClr>
                <a:schemeClr val="lt1"/>
              </a:buClr>
              <a:buSzPts val="1800"/>
              <a:buChar char="●"/>
              <a:defRPr>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95" name="Google Shape;95;p2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54207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4C78FD-29F9-46D5-9D80-2DE4722489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F607C6-BF05-4BF6-B04F-7E3735E42A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0AD08-E7FE-40C6-983E-A7766BB32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1469B-A772-4946-BACD-E36B4609DE81}" type="datetimeFigureOut">
              <a:rPr lang="en-US" smtClean="0"/>
              <a:t>4/23/2026</a:t>
            </a:fld>
            <a:endParaRPr lang="en-US"/>
          </a:p>
        </p:txBody>
      </p:sp>
      <p:sp>
        <p:nvSpPr>
          <p:cNvPr id="5" name="Footer Placeholder 4">
            <a:extLst>
              <a:ext uri="{FF2B5EF4-FFF2-40B4-BE49-F238E27FC236}">
                <a16:creationId xmlns:a16="http://schemas.microsoft.com/office/drawing/2014/main" id="{1F423307-5C16-4783-8F28-379BCF2DC3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C6E0E2-9F42-40FF-9D19-BAC567C909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BA1C0C-687E-4673-B319-D676DB1A7ADD}" type="slidenum">
              <a:rPr lang="en-US" smtClean="0"/>
              <a:t>‹#›</a:t>
            </a:fld>
            <a:endParaRPr lang="en-US"/>
          </a:p>
        </p:txBody>
      </p:sp>
    </p:spTree>
    <p:extLst>
      <p:ext uri="{BB962C8B-B14F-4D97-AF65-F5344CB8AC3E}">
        <p14:creationId xmlns:p14="http://schemas.microsoft.com/office/powerpoint/2010/main" val="206348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4" r:id="rId12"/>
    <p:sldLayoutId id="2147483695" r:id="rId13"/>
    <p:sldLayoutId id="214748369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A2646-8A1E-8849-91A5-607161DDBF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D2C9C3-F9F1-2948-A096-ECF6544975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2DF10-2C24-BA48-B16D-722348F78A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1C603F-6B5D-BD44-A2E6-931FE6C4C7C6}" type="datetimeFigureOut">
              <a:rPr lang="en-US" smtClean="0"/>
              <a:t>4/23/2026</a:t>
            </a:fld>
            <a:endParaRPr lang="en-US"/>
          </a:p>
        </p:txBody>
      </p:sp>
      <p:sp>
        <p:nvSpPr>
          <p:cNvPr id="5" name="Footer Placeholder 4">
            <a:extLst>
              <a:ext uri="{FF2B5EF4-FFF2-40B4-BE49-F238E27FC236}">
                <a16:creationId xmlns:a16="http://schemas.microsoft.com/office/drawing/2014/main" id="{3C1E78E0-69CD-DC48-856A-C10D83EDDD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6B705E8-AC18-4644-A0D3-8FB6122DBD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398D4-6A0A-484B-9FC9-C060976B9317}" type="slidenum">
              <a:rPr lang="en-US" smtClean="0"/>
              <a:t>‹#›</a:t>
            </a:fld>
            <a:endParaRPr lang="en-US"/>
          </a:p>
        </p:txBody>
      </p:sp>
    </p:spTree>
    <p:extLst>
      <p:ext uri="{BB962C8B-B14F-4D97-AF65-F5344CB8AC3E}">
        <p14:creationId xmlns:p14="http://schemas.microsoft.com/office/powerpoint/2010/main" val="748423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4" Type="http://schemas.openxmlformats.org/officeDocument/2006/relationships/hyperlink" Target="https://reminisce.tistory.com/entry/Zebra-Tech-2024%EB%85%84-%EC%83%81%EB%B0%98%EA%B8%B0-%EC%A3%BC%EA%B0%80-%EC%A0%84%EB%A7%9D%EC%9D%8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4.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6EA2-E199-F144-AE32-A66F801C0C8F}"/>
              </a:ext>
            </a:extLst>
          </p:cNvPr>
          <p:cNvSpPr>
            <a:spLocks noGrp="1"/>
          </p:cNvSpPr>
          <p:nvPr>
            <p:ph type="ctrTitle"/>
          </p:nvPr>
        </p:nvSpPr>
        <p:spPr>
          <a:xfrm>
            <a:off x="1524000" y="1029469"/>
            <a:ext cx="9144000" cy="1562630"/>
          </a:xfrm>
        </p:spPr>
        <p:txBody>
          <a:bodyPr>
            <a:normAutofit/>
          </a:bodyPr>
          <a:lstStyle/>
          <a:p>
            <a:r>
              <a:rPr lang="en-US">
                <a:solidFill>
                  <a:schemeClr val="bg1"/>
                </a:solidFill>
                <a:latin typeface="Gill Sans MT"/>
              </a:rPr>
              <a:t>Inventory Optimization</a:t>
            </a:r>
            <a:endParaRPr lang="en-US" sz="7200">
              <a:solidFill>
                <a:schemeClr val="bg1"/>
              </a:solidFill>
            </a:endParaRPr>
          </a:p>
        </p:txBody>
      </p:sp>
      <p:pic>
        <p:nvPicPr>
          <p:cNvPr id="5" name="Picture 4">
            <a:extLst>
              <a:ext uri="{FF2B5EF4-FFF2-40B4-BE49-F238E27FC236}">
                <a16:creationId xmlns:a16="http://schemas.microsoft.com/office/drawing/2014/main" id="{C1B42B2A-23E0-2C4E-B276-7513998C222A}"/>
              </a:ext>
            </a:extLst>
          </p:cNvPr>
          <p:cNvPicPr>
            <a:picLocks noChangeAspect="1"/>
          </p:cNvPicPr>
          <p:nvPr/>
        </p:nvPicPr>
        <p:blipFill>
          <a:blip r:embed="rId2"/>
          <a:stretch>
            <a:fillRect/>
          </a:stretch>
        </p:blipFill>
        <p:spPr>
          <a:xfrm>
            <a:off x="1524000" y="4703425"/>
            <a:ext cx="4208215" cy="2036233"/>
          </a:xfrm>
          <a:prstGeom prst="rect">
            <a:avLst/>
          </a:prstGeom>
        </p:spPr>
      </p:pic>
      <p:pic>
        <p:nvPicPr>
          <p:cNvPr id="4" name="Picture 3">
            <a:extLst>
              <a:ext uri="{FF2B5EF4-FFF2-40B4-BE49-F238E27FC236}">
                <a16:creationId xmlns:a16="http://schemas.microsoft.com/office/drawing/2014/main" id="{5A61C346-AD87-9BA0-8B02-10B09488A20B}"/>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734173" y="4778716"/>
            <a:ext cx="3310616" cy="1891273"/>
          </a:xfrm>
          <a:prstGeom prst="rect">
            <a:avLst/>
          </a:prstGeom>
        </p:spPr>
      </p:pic>
      <p:sp>
        <p:nvSpPr>
          <p:cNvPr id="7" name="Google Shape;61;p13">
            <a:extLst>
              <a:ext uri="{FF2B5EF4-FFF2-40B4-BE49-F238E27FC236}">
                <a16:creationId xmlns:a16="http://schemas.microsoft.com/office/drawing/2014/main" id="{DBD59CC1-869F-BA7D-01F2-171D21B48C1A}"/>
              </a:ext>
            </a:extLst>
          </p:cNvPr>
          <p:cNvSpPr txBox="1">
            <a:spLocks noGrp="1"/>
          </p:cNvSpPr>
          <p:nvPr>
            <p:ph type="subTitle" idx="1"/>
          </p:nvPr>
        </p:nvSpPr>
        <p:spPr>
          <a:xfrm>
            <a:off x="415600" y="2589232"/>
            <a:ext cx="11360800" cy="978000"/>
          </a:xfrm>
          <a:prstGeom prst="rect">
            <a:avLst/>
          </a:prstGeom>
        </p:spPr>
        <p:txBody>
          <a:bodyPr spcFirstLastPara="1" wrap="square" lIns="121900" tIns="121900" rIns="121900" bIns="121900" anchor="t" anchorCtr="0">
            <a:noAutofit/>
          </a:bodyPr>
          <a:lstStyle/>
          <a:p>
            <a:r>
              <a:rPr lang="en-US" sz="2000">
                <a:solidFill>
                  <a:srgbClr val="FFFFFF"/>
                </a:solidFill>
                <a:latin typeface="Gill Sans MT"/>
              </a:rPr>
              <a:t>Team 23: Chloe Ramirez, Connor Flaherty, Shriya Tarun, Somil Gupta, Radha Pawar</a:t>
            </a:r>
          </a:p>
          <a:p>
            <a:pPr marL="0" indent="0"/>
            <a:r>
              <a:rPr lang="en-US" sz="2000">
                <a:solidFill>
                  <a:srgbClr val="FFFFFF"/>
                </a:solidFill>
                <a:latin typeface="Gill Sans MT"/>
              </a:rPr>
              <a:t>Faculty Advisors: Robert Hammond, Daniel Mitchell</a:t>
            </a:r>
          </a:p>
        </p:txBody>
      </p:sp>
    </p:spTree>
    <p:extLst>
      <p:ext uri="{BB962C8B-B14F-4D97-AF65-F5344CB8AC3E}">
        <p14:creationId xmlns:p14="http://schemas.microsoft.com/office/powerpoint/2010/main" val="390140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05D917-84A9-451F-8670-B1C61BDBD3E8}"/>
              </a:ext>
            </a:extLst>
          </p:cNvPr>
          <p:cNvSpPr>
            <a:spLocks noGrp="1"/>
          </p:cNvSpPr>
          <p:nvPr>
            <p:ph type="body" sz="quarter" idx="10"/>
          </p:nvPr>
        </p:nvSpPr>
        <p:spPr>
          <a:xfrm>
            <a:off x="3332283" y="1283171"/>
            <a:ext cx="2637442" cy="694267"/>
          </a:xfrm>
          <a:noFill/>
        </p:spPr>
        <p:txBody>
          <a:bodyPr vert="horz" lIns="91440" tIns="45720" rIns="91440" bIns="45720" rtlCol="0" anchor="t">
            <a:normAutofit/>
          </a:bodyPr>
          <a:lstStyle/>
          <a:p>
            <a:pPr marL="0" indent="0">
              <a:buNone/>
            </a:pPr>
            <a:r>
              <a:rPr lang="en-US">
                <a:latin typeface="Gill Sans MT"/>
              </a:rPr>
              <a:t>01</a:t>
            </a:r>
            <a:endParaRPr lang="en-US">
              <a:ea typeface="Calibri" panose="020F0502020204030204"/>
              <a:cs typeface="Calibri" panose="020F0502020204030204"/>
            </a:endParaRPr>
          </a:p>
        </p:txBody>
      </p:sp>
      <p:sp>
        <p:nvSpPr>
          <p:cNvPr id="4" name="Text Placeholder 3">
            <a:extLst>
              <a:ext uri="{FF2B5EF4-FFF2-40B4-BE49-F238E27FC236}">
                <a16:creationId xmlns:a16="http://schemas.microsoft.com/office/drawing/2014/main" id="{477F431D-77F4-49FF-8275-37E53F397184}"/>
              </a:ext>
            </a:extLst>
          </p:cNvPr>
          <p:cNvSpPr>
            <a:spLocks noGrp="1"/>
          </p:cNvSpPr>
          <p:nvPr>
            <p:ph type="body" sz="quarter" idx="11"/>
          </p:nvPr>
        </p:nvSpPr>
        <p:spPr>
          <a:xfrm>
            <a:off x="6212284" y="1283170"/>
            <a:ext cx="2637442" cy="694267"/>
          </a:xfrm>
          <a:noFill/>
        </p:spPr>
        <p:txBody>
          <a:bodyPr vert="horz" lIns="91440" tIns="45720" rIns="91440" bIns="45720" rtlCol="0" anchor="t">
            <a:normAutofit/>
          </a:bodyPr>
          <a:lstStyle/>
          <a:p>
            <a:pPr marL="0" indent="0">
              <a:buNone/>
            </a:pPr>
            <a:r>
              <a:rPr lang="en-US">
                <a:latin typeface="Gill Sans MT"/>
              </a:rPr>
              <a:t>02</a:t>
            </a:r>
            <a:endParaRPr lang="en-US"/>
          </a:p>
        </p:txBody>
      </p:sp>
      <p:sp>
        <p:nvSpPr>
          <p:cNvPr id="5" name="Text Placeholder 4">
            <a:extLst>
              <a:ext uri="{FF2B5EF4-FFF2-40B4-BE49-F238E27FC236}">
                <a16:creationId xmlns:a16="http://schemas.microsoft.com/office/drawing/2014/main" id="{6B8D8764-B3F2-4435-87A5-08C1E5721215}"/>
              </a:ext>
            </a:extLst>
          </p:cNvPr>
          <p:cNvSpPr>
            <a:spLocks noGrp="1"/>
          </p:cNvSpPr>
          <p:nvPr>
            <p:ph type="body" sz="quarter" idx="12"/>
          </p:nvPr>
        </p:nvSpPr>
        <p:spPr>
          <a:xfrm>
            <a:off x="3332283" y="3861148"/>
            <a:ext cx="2637442" cy="694267"/>
          </a:xfrm>
          <a:noFill/>
        </p:spPr>
        <p:txBody>
          <a:bodyPr vert="horz" lIns="91440" tIns="45720" rIns="91440" bIns="45720" rtlCol="0" anchor="t">
            <a:normAutofit/>
          </a:bodyPr>
          <a:lstStyle/>
          <a:p>
            <a:pPr marL="0" indent="0">
              <a:buNone/>
            </a:pPr>
            <a:r>
              <a:rPr lang="en-US">
                <a:latin typeface="Gill Sans MT"/>
              </a:rPr>
              <a:t>04</a:t>
            </a:r>
            <a:endParaRPr lang="en-US"/>
          </a:p>
        </p:txBody>
      </p:sp>
      <p:sp>
        <p:nvSpPr>
          <p:cNvPr id="6"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6212284" y="3861148"/>
            <a:ext cx="2637442" cy="694267"/>
          </a:xfrm>
          <a:noFill/>
        </p:spPr>
        <p:txBody>
          <a:bodyPr vert="horz" lIns="91440" tIns="45720" rIns="91440" bIns="45720" rtlCol="0" anchor="t">
            <a:normAutofit/>
          </a:bodyPr>
          <a:lstStyle/>
          <a:p>
            <a:pPr marL="0" indent="0">
              <a:buNone/>
            </a:pPr>
            <a:r>
              <a:rPr lang="en-US">
                <a:latin typeface="Gill Sans MT"/>
              </a:rPr>
              <a:t>05</a:t>
            </a:r>
            <a:endParaRPr lang="en-US"/>
          </a:p>
        </p:txBody>
      </p:sp>
      <p:sp>
        <p:nvSpPr>
          <p:cNvPr id="8" name="Text Placeholder 7">
            <a:extLst>
              <a:ext uri="{FF2B5EF4-FFF2-40B4-BE49-F238E27FC236}">
                <a16:creationId xmlns:a16="http://schemas.microsoft.com/office/drawing/2014/main" id="{F26BFDB0-DFB8-4D59-95A4-911D99147B08}"/>
              </a:ext>
            </a:extLst>
          </p:cNvPr>
          <p:cNvSpPr>
            <a:spLocks noGrp="1"/>
          </p:cNvSpPr>
          <p:nvPr>
            <p:ph type="body" sz="quarter" idx="18"/>
          </p:nvPr>
        </p:nvSpPr>
        <p:spPr>
          <a:xfrm>
            <a:off x="9091495" y="1283169"/>
            <a:ext cx="2637442" cy="694267"/>
          </a:xfrm>
          <a:noFill/>
        </p:spPr>
        <p:txBody>
          <a:bodyPr vert="horz" lIns="91440" tIns="45720" rIns="91440" bIns="45720" rtlCol="0" anchor="t">
            <a:normAutofit/>
          </a:bodyPr>
          <a:lstStyle/>
          <a:p>
            <a:pPr marL="0" indent="0">
              <a:buNone/>
            </a:pPr>
            <a:r>
              <a:rPr lang="en-US">
                <a:latin typeface="Gill Sans MT"/>
              </a:rPr>
              <a:t>03</a:t>
            </a:r>
            <a:endParaRPr lang="en-US"/>
          </a:p>
        </p:txBody>
      </p:sp>
      <p:sp>
        <p:nvSpPr>
          <p:cNvPr id="7" name="Text Placeholder 6">
            <a:extLst>
              <a:ext uri="{FF2B5EF4-FFF2-40B4-BE49-F238E27FC236}">
                <a16:creationId xmlns:a16="http://schemas.microsoft.com/office/drawing/2014/main" id="{CB2EC579-FB4F-4DAC-A6BF-81AC4648982C}"/>
              </a:ext>
            </a:extLst>
          </p:cNvPr>
          <p:cNvSpPr>
            <a:spLocks noGrp="1"/>
          </p:cNvSpPr>
          <p:nvPr>
            <p:ph type="body" sz="quarter" idx="15"/>
          </p:nvPr>
        </p:nvSpPr>
        <p:spPr>
          <a:noFill/>
        </p:spPr>
        <p:txBody>
          <a:bodyPr vert="horz" lIns="91440" tIns="45720" rIns="91440" bIns="45720" rtlCol="0" anchor="t">
            <a:normAutofit/>
          </a:bodyPr>
          <a:lstStyle/>
          <a:p>
            <a:pPr marL="0" indent="0">
              <a:buNone/>
            </a:pPr>
            <a:r>
              <a:rPr lang="en-US">
                <a:latin typeface="Gill Sans MT"/>
              </a:rPr>
              <a:t>Approach &amp; Methodology</a:t>
            </a:r>
            <a:endParaRPr lang="en-US"/>
          </a:p>
        </p:txBody>
      </p:sp>
      <p:sp>
        <p:nvSpPr>
          <p:cNvPr id="10" name="Text Placeholder 9">
            <a:extLst>
              <a:ext uri="{FF2B5EF4-FFF2-40B4-BE49-F238E27FC236}">
                <a16:creationId xmlns:a16="http://schemas.microsoft.com/office/drawing/2014/main" id="{45EF8CE0-ACB2-4CF2-BEA8-C5E15FAFC5B4}"/>
              </a:ext>
            </a:extLst>
          </p:cNvPr>
          <p:cNvSpPr>
            <a:spLocks noGrp="1"/>
          </p:cNvSpPr>
          <p:nvPr>
            <p:ph type="body" sz="quarter" idx="20"/>
          </p:nvPr>
        </p:nvSpPr>
        <p:spPr>
          <a:noFill/>
        </p:spPr>
        <p:txBody>
          <a:bodyPr vert="horz" lIns="91440" tIns="45720" rIns="91440" bIns="45720" rtlCol="0" anchor="t">
            <a:normAutofit/>
          </a:bodyPr>
          <a:lstStyle/>
          <a:p>
            <a:pPr marL="0" indent="0">
              <a:buNone/>
            </a:pPr>
            <a:r>
              <a:rPr lang="en-US">
                <a:latin typeface="Gill Sans MT"/>
              </a:rPr>
              <a:t>Exploratory Data Analysis</a:t>
            </a:r>
            <a:endParaRPr lang="en-US"/>
          </a:p>
        </p:txBody>
      </p:sp>
      <p:sp>
        <p:nvSpPr>
          <p:cNvPr id="11" name="Text Placeholder 10">
            <a:extLst>
              <a:ext uri="{FF2B5EF4-FFF2-40B4-BE49-F238E27FC236}">
                <a16:creationId xmlns:a16="http://schemas.microsoft.com/office/drawing/2014/main" id="{E9FDF91D-DA91-4E01-858F-E464B25076F3}"/>
              </a:ext>
            </a:extLst>
          </p:cNvPr>
          <p:cNvSpPr>
            <a:spLocks noGrp="1"/>
          </p:cNvSpPr>
          <p:nvPr>
            <p:ph type="body" sz="quarter" idx="21"/>
          </p:nvPr>
        </p:nvSpPr>
        <p:spPr>
          <a:xfrm>
            <a:off x="3332282" y="1977438"/>
            <a:ext cx="2683163" cy="1447797"/>
          </a:xfrm>
          <a:noFill/>
        </p:spPr>
        <p:txBody>
          <a:bodyPr vert="horz" lIns="91440" tIns="45720" rIns="91440" bIns="45720" rtlCol="0" anchor="t">
            <a:normAutofit/>
          </a:bodyPr>
          <a:lstStyle/>
          <a:p>
            <a:pPr marL="0" indent="0">
              <a:buNone/>
            </a:pPr>
            <a:r>
              <a:rPr lang="en-US">
                <a:latin typeface="Gill Sans MT"/>
              </a:rPr>
              <a:t>Business Intent</a:t>
            </a:r>
            <a:endParaRPr lang="en-US">
              <a:ea typeface="Calibri" panose="020F0502020204030204"/>
              <a:cs typeface="Calibri" panose="020F0502020204030204"/>
            </a:endParaRPr>
          </a:p>
        </p:txBody>
      </p:sp>
      <p:sp>
        <p:nvSpPr>
          <p:cNvPr id="13"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noFill/>
        </p:spPr>
        <p:txBody>
          <a:bodyPr vert="horz" lIns="91440" tIns="45720" rIns="91440" bIns="45720" rtlCol="0" anchor="t">
            <a:normAutofit/>
          </a:bodyPr>
          <a:lstStyle/>
          <a:p>
            <a:pPr marL="0" indent="0">
              <a:buNone/>
            </a:pPr>
            <a:r>
              <a:rPr lang="en-US">
                <a:latin typeface="Gill Sans MT"/>
              </a:rPr>
              <a:t>Next Steps </a:t>
            </a:r>
            <a:endParaRPr lang="en-US"/>
          </a:p>
        </p:txBody>
      </p:sp>
      <p:sp>
        <p:nvSpPr>
          <p:cNvPr id="14" name="Text Placeholder 13">
            <a:extLst>
              <a:ext uri="{FF2B5EF4-FFF2-40B4-BE49-F238E27FC236}">
                <a16:creationId xmlns:a16="http://schemas.microsoft.com/office/drawing/2014/main" id="{E02ABD5E-8B95-4E13-8A0C-73849F9744C7}"/>
              </a:ext>
            </a:extLst>
          </p:cNvPr>
          <p:cNvSpPr>
            <a:spLocks noGrp="1"/>
          </p:cNvSpPr>
          <p:nvPr>
            <p:ph type="body" sz="quarter" idx="24"/>
          </p:nvPr>
        </p:nvSpPr>
        <p:spPr>
          <a:noFill/>
        </p:spPr>
        <p:txBody>
          <a:bodyPr vert="horz" lIns="91440" tIns="45720" rIns="91440" bIns="45720" rtlCol="0" anchor="t">
            <a:normAutofit/>
          </a:bodyPr>
          <a:lstStyle/>
          <a:p>
            <a:pPr marL="0" indent="0">
              <a:buNone/>
            </a:pPr>
            <a:r>
              <a:rPr lang="en-US">
                <a:latin typeface="Gill Sans MT"/>
              </a:rPr>
              <a:t>Answers to Business Questions</a:t>
            </a:r>
            <a:endParaRPr lang="en-US"/>
          </a:p>
        </p:txBody>
      </p:sp>
      <p:sp>
        <p:nvSpPr>
          <p:cNvPr id="18" name="Title 17"/>
          <p:cNvSpPr>
            <a:spLocks noGrp="1"/>
          </p:cNvSpPr>
          <p:nvPr>
            <p:ph type="title"/>
          </p:nvPr>
        </p:nvSpPr>
        <p:spPr/>
        <p:txBody>
          <a:bodyPr>
            <a:normAutofit/>
          </a:bodyPr>
          <a:lstStyle/>
          <a:p>
            <a:r>
              <a:rPr lang="en-US" sz="3700" b="1">
                <a:solidFill>
                  <a:schemeClr val="accent2"/>
                </a:solidFill>
                <a:latin typeface="Gill Sans MT"/>
                <a:ea typeface="+mn-ea"/>
                <a:cs typeface="+mn-cs"/>
              </a:rPr>
              <a:t>Agenda</a:t>
            </a:r>
          </a:p>
        </p:txBody>
      </p:sp>
      <p:sp>
        <p:nvSpPr>
          <p:cNvPr id="19"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9091495" y="3861148"/>
            <a:ext cx="2637442" cy="694267"/>
          </a:xfrm>
          <a:noFill/>
        </p:spPr>
        <p:txBody>
          <a:bodyPr vert="horz" lIns="91440" tIns="45720" rIns="91440" bIns="45720" rtlCol="0" anchor="t">
            <a:normAutofit/>
          </a:bodyPr>
          <a:lstStyle/>
          <a:p>
            <a:pPr marL="0" indent="0">
              <a:buNone/>
            </a:pPr>
            <a:r>
              <a:rPr lang="en-US">
                <a:latin typeface="Gill Sans MT"/>
              </a:rPr>
              <a:t>06</a:t>
            </a:r>
            <a:endParaRPr lang="en-US"/>
          </a:p>
        </p:txBody>
      </p:sp>
      <p:sp>
        <p:nvSpPr>
          <p:cNvPr id="20"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xfrm>
            <a:off x="9091495" y="4555415"/>
            <a:ext cx="2637442" cy="1506828"/>
          </a:xfrm>
          <a:noFill/>
        </p:spPr>
        <p:txBody>
          <a:bodyPr vert="horz" lIns="91440" tIns="45720" rIns="91440" bIns="45720" rtlCol="0" anchor="t">
            <a:normAutofit/>
          </a:bodyPr>
          <a:lstStyle/>
          <a:p>
            <a:pPr marL="0" indent="0">
              <a:buNone/>
            </a:pPr>
            <a:r>
              <a:rPr lang="en-US">
                <a:latin typeface="Gill Sans MT"/>
              </a:rPr>
              <a:t>Conclusion</a:t>
            </a:r>
            <a:endParaRPr lang="en-US"/>
          </a:p>
        </p:txBody>
      </p:sp>
    </p:spTree>
    <p:extLst>
      <p:ext uri="{BB962C8B-B14F-4D97-AF65-F5344CB8AC3E}">
        <p14:creationId xmlns:p14="http://schemas.microsoft.com/office/powerpoint/2010/main" val="4066911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8C5A5-8211-7F77-00D7-DA01A6FBBFF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4AD8320-FDB3-6416-1EA8-5B2A2BFF051B}"/>
              </a:ext>
            </a:extLst>
          </p:cNvPr>
          <p:cNvSpPr txBox="1"/>
          <p:nvPr/>
        </p:nvSpPr>
        <p:spPr>
          <a:xfrm>
            <a:off x="11589144" y="6467479"/>
            <a:ext cx="574289" cy="276999"/>
          </a:xfrm>
          <a:prstGeom prst="rect">
            <a:avLst/>
          </a:prstGeom>
          <a:noFill/>
        </p:spPr>
        <p:txBody>
          <a:bodyPr wrap="square" rtlCol="0">
            <a:spAutoFit/>
          </a:bodyPr>
          <a:lstStyle/>
          <a:p>
            <a:pPr algn="ctr"/>
            <a:r>
              <a:rPr lang="en-US" sz="1200"/>
              <a:t>3</a:t>
            </a:r>
          </a:p>
        </p:txBody>
      </p:sp>
      <p:sp>
        <p:nvSpPr>
          <p:cNvPr id="2" name="TextBox 1">
            <a:extLst>
              <a:ext uri="{FF2B5EF4-FFF2-40B4-BE49-F238E27FC236}">
                <a16:creationId xmlns:a16="http://schemas.microsoft.com/office/drawing/2014/main" id="{0ABDB215-3A6E-8205-7221-BCCD1FC08DBB}"/>
              </a:ext>
            </a:extLst>
          </p:cNvPr>
          <p:cNvSpPr txBox="1"/>
          <p:nvPr/>
        </p:nvSpPr>
        <p:spPr>
          <a:xfrm>
            <a:off x="602073" y="1053629"/>
            <a:ext cx="108655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latin typeface="Gill Sans MT"/>
            </a:endParaRPr>
          </a:p>
        </p:txBody>
      </p:sp>
      <p:sp>
        <p:nvSpPr>
          <p:cNvPr id="3" name="TextBox 2">
            <a:extLst>
              <a:ext uri="{FF2B5EF4-FFF2-40B4-BE49-F238E27FC236}">
                <a16:creationId xmlns:a16="http://schemas.microsoft.com/office/drawing/2014/main" id="{F9406238-6AAA-EF53-4909-E2B8F2C54786}"/>
              </a:ext>
            </a:extLst>
          </p:cNvPr>
          <p:cNvSpPr txBox="1"/>
          <p:nvPr/>
        </p:nvSpPr>
        <p:spPr>
          <a:xfrm>
            <a:off x="362208" y="1234591"/>
            <a:ext cx="1068681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latin typeface="Gill Sans MT"/>
                <a:ea typeface="+mn-lt"/>
                <a:cs typeface="+mn-lt"/>
              </a:rPr>
              <a:t>Leading American company in data capture &amp; automation solutions </a:t>
            </a:r>
            <a:endParaRPr lang="en-US" sz="2400">
              <a:latin typeface="Gill Sans MT"/>
              <a:ea typeface="Calibri"/>
              <a:cs typeface="Calibri"/>
            </a:endParaRPr>
          </a:p>
          <a:p>
            <a:pPr marL="342900" indent="-342900">
              <a:buFont typeface="Courier New"/>
              <a:buChar char="o"/>
            </a:pPr>
            <a:r>
              <a:rPr lang="en-US" sz="2400">
                <a:latin typeface="Gill Sans MT"/>
                <a:ea typeface="+mn-lt"/>
                <a:cs typeface="+mn-lt"/>
              </a:rPr>
              <a:t>Specializes in barcode scanning, RFID, mobile computing, and machine vision </a:t>
            </a:r>
            <a:endParaRPr lang="en-US" sz="2400">
              <a:latin typeface="Gill Sans MT"/>
              <a:ea typeface="Calibri"/>
              <a:cs typeface="Calibri"/>
            </a:endParaRPr>
          </a:p>
          <a:p>
            <a:pPr marL="342900" indent="-342900">
              <a:buFont typeface="Courier New"/>
              <a:buChar char="o"/>
            </a:pPr>
            <a:r>
              <a:rPr lang="en-US" sz="2400">
                <a:latin typeface="Gill Sans MT"/>
                <a:ea typeface="+mn-lt"/>
                <a:cs typeface="+mn-lt"/>
              </a:rPr>
              <a:t>Enables real-time visibility across business operations </a:t>
            </a:r>
            <a:endParaRPr lang="en-US" sz="2400">
              <a:latin typeface="Gill Sans MT"/>
              <a:ea typeface="Calibri"/>
              <a:cs typeface="Calibri"/>
            </a:endParaRPr>
          </a:p>
          <a:p>
            <a:pPr marL="342900" indent="-342900">
              <a:buFont typeface="Courier New"/>
              <a:buChar char="o"/>
            </a:pPr>
            <a:r>
              <a:rPr lang="en-US" sz="2400">
                <a:latin typeface="Gill Sans MT"/>
                <a:ea typeface="+mn-lt"/>
                <a:cs typeface="+mn-lt"/>
              </a:rPr>
              <a:t>Widely used in retail, healthcare, manufacturing, and logistics </a:t>
            </a:r>
            <a:endParaRPr lang="en-US" sz="2400">
              <a:latin typeface="Gill Sans MT"/>
              <a:ea typeface="Calibri"/>
              <a:cs typeface="Calibri"/>
            </a:endParaRPr>
          </a:p>
          <a:p>
            <a:pPr marL="342900" indent="-342900">
              <a:buFont typeface="Courier New"/>
              <a:buChar char="o"/>
            </a:pPr>
            <a:endParaRPr lang="en-US" sz="2400">
              <a:latin typeface="Gill Sans MT"/>
              <a:ea typeface="Calibri"/>
              <a:cs typeface="Calibri"/>
            </a:endParaRPr>
          </a:p>
        </p:txBody>
      </p:sp>
      <p:pic>
        <p:nvPicPr>
          <p:cNvPr id="4" name="Picture 3" descr="Warehousing and Distribution Solutions  | Zebra">
            <a:extLst>
              <a:ext uri="{FF2B5EF4-FFF2-40B4-BE49-F238E27FC236}">
                <a16:creationId xmlns:a16="http://schemas.microsoft.com/office/drawing/2014/main" id="{925C16EE-BF59-AC10-E955-31B5D458EAF3}"/>
              </a:ext>
            </a:extLst>
          </p:cNvPr>
          <p:cNvPicPr>
            <a:picLocks noChangeAspect="1"/>
          </p:cNvPicPr>
          <p:nvPr/>
        </p:nvPicPr>
        <p:blipFill>
          <a:blip r:embed="rId3"/>
          <a:stretch>
            <a:fillRect/>
          </a:stretch>
        </p:blipFill>
        <p:spPr>
          <a:xfrm>
            <a:off x="5703464" y="3249528"/>
            <a:ext cx="5582259" cy="3191829"/>
          </a:xfrm>
          <a:prstGeom prst="rect">
            <a:avLst/>
          </a:prstGeom>
        </p:spPr>
      </p:pic>
      <p:sp>
        <p:nvSpPr>
          <p:cNvPr id="7" name="TextBox 6">
            <a:extLst>
              <a:ext uri="{FF2B5EF4-FFF2-40B4-BE49-F238E27FC236}">
                <a16:creationId xmlns:a16="http://schemas.microsoft.com/office/drawing/2014/main" id="{F57846FA-A426-25FF-0CAB-4A9EAB78468D}"/>
              </a:ext>
            </a:extLst>
          </p:cNvPr>
          <p:cNvSpPr txBox="1"/>
          <p:nvPr/>
        </p:nvSpPr>
        <p:spPr>
          <a:xfrm>
            <a:off x="441433" y="236479"/>
            <a:ext cx="11153580" cy="666786"/>
          </a:xfrm>
          <a:prstGeom prst="rect">
            <a:avLst/>
          </a:prstGeom>
          <a:noFill/>
        </p:spPr>
        <p:txBody>
          <a:bodyPr wrap="square" lIns="91440" tIns="45720" rIns="91440" bIns="45720" rtlCol="0" anchor="t">
            <a:spAutoFit/>
          </a:bodyPr>
          <a:lstStyle/>
          <a:p>
            <a:r>
              <a:rPr lang="en-US" sz="3700" b="1">
                <a:solidFill>
                  <a:srgbClr val="ED7D31"/>
                </a:solidFill>
                <a:latin typeface="Gill Sans MT"/>
              </a:rPr>
              <a:t>About Zebra Technologies</a:t>
            </a:r>
            <a:endParaRPr lang="en-US" sz="3733" b="1">
              <a:solidFill>
                <a:srgbClr val="ED7D31"/>
              </a:solidFill>
              <a:latin typeface="Gill Sans MT"/>
            </a:endParaRPr>
          </a:p>
        </p:txBody>
      </p:sp>
    </p:spTree>
    <p:extLst>
      <p:ext uri="{BB962C8B-B14F-4D97-AF65-F5344CB8AC3E}">
        <p14:creationId xmlns:p14="http://schemas.microsoft.com/office/powerpoint/2010/main" val="3223451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10">
            <a:extLst>
              <a:ext uri="{FF2B5EF4-FFF2-40B4-BE49-F238E27FC236}">
                <a16:creationId xmlns:a16="http://schemas.microsoft.com/office/drawing/2014/main" id="{D8B60325-CB3C-A7AA-FEDF-21F2B33301A3}"/>
              </a:ext>
            </a:extLst>
          </p:cNvPr>
          <p:cNvSpPr/>
          <p:nvPr/>
        </p:nvSpPr>
        <p:spPr>
          <a:xfrm>
            <a:off x="673563" y="2895287"/>
            <a:ext cx="3474720" cy="2926080"/>
          </a:xfrm>
          <a:prstGeom prst="roundRect">
            <a:avLst>
              <a:gd name="adj" fmla="val 5833"/>
            </a:avLst>
          </a:prstGeom>
          <a:solidFill>
            <a:srgbClr val="FAFAFA"/>
          </a:solidFill>
          <a:ln w="9525">
            <a:solidFill>
              <a:srgbClr val="E5E7EB"/>
            </a:solidFill>
            <a:prstDash val="solid"/>
          </a:ln>
          <a:effectLst>
            <a:outerShdw blurRad="127000" dist="38100" dir="8100000" algn="bl" rotWithShape="0">
              <a:srgbClr val="000000">
                <a:alpha val="7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4" name="TextBox 3">
            <a:extLst>
              <a:ext uri="{FF2B5EF4-FFF2-40B4-BE49-F238E27FC236}">
                <a16:creationId xmlns:a16="http://schemas.microsoft.com/office/drawing/2014/main" id="{365EB105-7EA6-47E4-81B4-2E7DD76CBA19}"/>
              </a:ext>
            </a:extLst>
          </p:cNvPr>
          <p:cNvSpPr txBox="1"/>
          <p:nvPr/>
        </p:nvSpPr>
        <p:spPr>
          <a:xfrm>
            <a:off x="441433" y="236479"/>
            <a:ext cx="11153580" cy="666786"/>
          </a:xfrm>
          <a:prstGeom prst="rect">
            <a:avLst/>
          </a:prstGeom>
          <a:noFill/>
        </p:spPr>
        <p:txBody>
          <a:bodyPr wrap="square" rtlCol="0">
            <a:spAutoFit/>
          </a:bodyPr>
          <a:lstStyle/>
          <a:p>
            <a:r>
              <a:rPr lang="en-US" sz="3733" b="1">
                <a:solidFill>
                  <a:srgbClr val="ED7D31"/>
                </a:solidFill>
                <a:latin typeface="Gill Sans MT"/>
              </a:rPr>
              <a:t>Problem Statement</a:t>
            </a:r>
          </a:p>
        </p:txBody>
      </p:sp>
      <p:sp>
        <p:nvSpPr>
          <p:cNvPr id="5" name="TextBox 4">
            <a:extLst>
              <a:ext uri="{FF2B5EF4-FFF2-40B4-BE49-F238E27FC236}">
                <a16:creationId xmlns:a16="http://schemas.microsoft.com/office/drawing/2014/main" id="{0BF3C8BD-C574-48EB-8A5D-112F445CD76D}"/>
              </a:ext>
            </a:extLst>
          </p:cNvPr>
          <p:cNvSpPr txBox="1"/>
          <p:nvPr/>
        </p:nvSpPr>
        <p:spPr>
          <a:xfrm>
            <a:off x="11589144" y="6467479"/>
            <a:ext cx="574289" cy="276999"/>
          </a:xfrm>
          <a:prstGeom prst="rect">
            <a:avLst/>
          </a:prstGeom>
          <a:noFill/>
        </p:spPr>
        <p:txBody>
          <a:bodyPr wrap="square" rtlCol="0">
            <a:spAutoFit/>
          </a:bodyPr>
          <a:lstStyle/>
          <a:p>
            <a:pPr algn="ctr"/>
            <a:r>
              <a:rPr lang="en-US" sz="1200"/>
              <a:t>3</a:t>
            </a:r>
          </a:p>
        </p:txBody>
      </p:sp>
      <p:sp>
        <p:nvSpPr>
          <p:cNvPr id="2" name="TextBox 1">
            <a:extLst>
              <a:ext uri="{FF2B5EF4-FFF2-40B4-BE49-F238E27FC236}">
                <a16:creationId xmlns:a16="http://schemas.microsoft.com/office/drawing/2014/main" id="{A033D91F-4E5B-0477-A3C7-0F28730D42A2}"/>
              </a:ext>
            </a:extLst>
          </p:cNvPr>
          <p:cNvSpPr txBox="1"/>
          <p:nvPr/>
        </p:nvSpPr>
        <p:spPr>
          <a:xfrm>
            <a:off x="602073" y="1053629"/>
            <a:ext cx="108655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latin typeface="Gill Sans MT"/>
            </a:endParaRPr>
          </a:p>
        </p:txBody>
      </p:sp>
      <p:sp>
        <p:nvSpPr>
          <p:cNvPr id="3" name="TextBox 2">
            <a:extLst>
              <a:ext uri="{FF2B5EF4-FFF2-40B4-BE49-F238E27FC236}">
                <a16:creationId xmlns:a16="http://schemas.microsoft.com/office/drawing/2014/main" id="{A59E2880-FE19-61EA-1951-676F311B993C}"/>
              </a:ext>
            </a:extLst>
          </p:cNvPr>
          <p:cNvSpPr txBox="1"/>
          <p:nvPr/>
        </p:nvSpPr>
        <p:spPr>
          <a:xfrm>
            <a:off x="724370" y="1110074"/>
            <a:ext cx="10686814"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Gill Sans MT"/>
                <a:ea typeface="+mn-lt"/>
                <a:cs typeface="+mn-lt"/>
              </a:rPr>
              <a:t>This project provides a strategic framework for inventory optimization, analyzing stock levels and performance across Zebra's global service network.</a:t>
            </a:r>
            <a:endParaRPr lang="en-US">
              <a:latin typeface="Gill Sans MT"/>
              <a:ea typeface="+mn-lt"/>
              <a:cs typeface="+mn-lt"/>
            </a:endParaRPr>
          </a:p>
          <a:p>
            <a:endParaRPr lang="en-US" sz="2400">
              <a:latin typeface="Gill Sans MT"/>
              <a:ea typeface="Calibri"/>
              <a:cs typeface="Calibri"/>
            </a:endParaRPr>
          </a:p>
          <a:p>
            <a:r>
              <a:rPr lang="en-US" sz="2400">
                <a:latin typeface="Gill Sans MT"/>
                <a:ea typeface="Calibri"/>
                <a:cs typeface="Calibri"/>
              </a:rPr>
              <a:t>Our goal is to answer the following:</a:t>
            </a:r>
          </a:p>
          <a:p>
            <a:pPr marL="514350" indent="-514350">
              <a:buAutoNum type="arabicPeriod"/>
            </a:pPr>
            <a:endParaRPr lang="en-US" sz="2400">
              <a:latin typeface="Gill Sans MT"/>
              <a:ea typeface="Calibri"/>
              <a:cs typeface="Calibri"/>
            </a:endParaRPr>
          </a:p>
        </p:txBody>
      </p:sp>
      <p:sp>
        <p:nvSpPr>
          <p:cNvPr id="32" name="Shape 4">
            <a:extLst>
              <a:ext uri="{FF2B5EF4-FFF2-40B4-BE49-F238E27FC236}">
                <a16:creationId xmlns:a16="http://schemas.microsoft.com/office/drawing/2014/main" id="{36F6647D-8977-53A1-E772-69A9A690BE07}"/>
              </a:ext>
            </a:extLst>
          </p:cNvPr>
          <p:cNvSpPr/>
          <p:nvPr/>
        </p:nvSpPr>
        <p:spPr>
          <a:xfrm>
            <a:off x="673814" y="2893534"/>
            <a:ext cx="3472281" cy="52301"/>
          </a:xfrm>
          <a:prstGeom prst="rect">
            <a:avLst/>
          </a:prstGeom>
          <a:solidFill>
            <a:srgbClr val="C85A1A"/>
          </a:solidFill>
          <a:ln w="12700">
            <a:solidFill>
              <a:srgbClr val="C85A1A"/>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33" name="Shape 5">
            <a:extLst>
              <a:ext uri="{FF2B5EF4-FFF2-40B4-BE49-F238E27FC236}">
                <a16:creationId xmlns:a16="http://schemas.microsoft.com/office/drawing/2014/main" id="{387BC157-7394-83E0-50D9-A9A33F0E02F0}"/>
              </a:ext>
            </a:extLst>
          </p:cNvPr>
          <p:cNvSpPr/>
          <p:nvPr/>
        </p:nvSpPr>
        <p:spPr>
          <a:xfrm>
            <a:off x="940818" y="3137374"/>
            <a:ext cx="512064" cy="364860"/>
          </a:xfrm>
          <a:prstGeom prst="ellipse">
            <a:avLst/>
          </a:prstGeom>
          <a:solidFill>
            <a:srgbClr val="C85A1A"/>
          </a:solidFill>
          <a:ln w="12700">
            <a:solidFill>
              <a:srgbClr val="C85A1A"/>
            </a:solidFill>
            <a:prstDash val="solid"/>
          </a:ln>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34" name="Text 6">
            <a:extLst>
              <a:ext uri="{FF2B5EF4-FFF2-40B4-BE49-F238E27FC236}">
                <a16:creationId xmlns:a16="http://schemas.microsoft.com/office/drawing/2014/main" id="{5D1D3F03-927C-3275-21F1-DCCDBECD173E}"/>
              </a:ext>
            </a:extLst>
          </p:cNvPr>
          <p:cNvSpPr/>
          <p:nvPr/>
        </p:nvSpPr>
        <p:spPr>
          <a:xfrm>
            <a:off x="940818" y="3137374"/>
            <a:ext cx="512064" cy="364860"/>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50" b="1">
                <a:solidFill>
                  <a:srgbClr val="FFFFFF"/>
                </a:solidFill>
                <a:latin typeface="Gill Sans MT"/>
                <a:ea typeface="Calibri"/>
                <a:cs typeface="Calibri"/>
              </a:rPr>
              <a:t>01</a:t>
            </a:r>
            <a:endParaRPr lang="en-US" sz="1467">
              <a:latin typeface="Gill Sans MT"/>
            </a:endParaRPr>
          </a:p>
        </p:txBody>
      </p:sp>
      <p:sp>
        <p:nvSpPr>
          <p:cNvPr id="35" name="Text 7">
            <a:extLst>
              <a:ext uri="{FF2B5EF4-FFF2-40B4-BE49-F238E27FC236}">
                <a16:creationId xmlns:a16="http://schemas.microsoft.com/office/drawing/2014/main" id="{6138324D-8728-385A-CEBD-6CA4CCD3A367}"/>
              </a:ext>
            </a:extLst>
          </p:cNvPr>
          <p:cNvSpPr/>
          <p:nvPr/>
        </p:nvSpPr>
        <p:spPr>
          <a:xfrm>
            <a:off x="940818" y="3844510"/>
            <a:ext cx="2938272" cy="1169670"/>
          </a:xfrm>
          <a:prstGeom prst="rect">
            <a:avLst/>
          </a:prstGeom>
          <a:noFill/>
          <a:ln/>
        </p:spPr>
        <p:txBody>
          <a:bodyPr wrap="square" lIns="0" tIns="0" rIns="0" bIns="0" rtlCol="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a:latin typeface="Gill Sans MT"/>
                <a:ea typeface="+mn-lt"/>
                <a:cs typeface="+mn-lt"/>
              </a:rPr>
              <a:t>What is the optimal inventory level for each spare part/location combination? </a:t>
            </a:r>
            <a:endParaRPr lang="en-US">
              <a:latin typeface="Gill Sans MT"/>
              <a:ea typeface="+mn-lt"/>
              <a:cs typeface="+mn-lt"/>
            </a:endParaRPr>
          </a:p>
        </p:txBody>
      </p:sp>
      <p:sp>
        <p:nvSpPr>
          <p:cNvPr id="37" name="Shape 10">
            <a:extLst>
              <a:ext uri="{FF2B5EF4-FFF2-40B4-BE49-F238E27FC236}">
                <a16:creationId xmlns:a16="http://schemas.microsoft.com/office/drawing/2014/main" id="{D04643C6-524D-9217-10C1-55726D8A79F6}"/>
              </a:ext>
            </a:extLst>
          </p:cNvPr>
          <p:cNvSpPr/>
          <p:nvPr/>
        </p:nvSpPr>
        <p:spPr>
          <a:xfrm>
            <a:off x="4500882" y="2893534"/>
            <a:ext cx="3474720" cy="2926080"/>
          </a:xfrm>
          <a:prstGeom prst="roundRect">
            <a:avLst>
              <a:gd name="adj" fmla="val 5833"/>
            </a:avLst>
          </a:prstGeom>
          <a:solidFill>
            <a:srgbClr val="FAFAFA"/>
          </a:solidFill>
          <a:ln w="9525">
            <a:solidFill>
              <a:srgbClr val="E5E7EB"/>
            </a:solidFill>
            <a:prstDash val="solid"/>
          </a:ln>
          <a:effectLst>
            <a:outerShdw blurRad="127000" dist="38100" dir="8100000" algn="bl" rotWithShape="0">
              <a:srgbClr val="000000">
                <a:alpha val="7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38" name="Shape 11">
            <a:extLst>
              <a:ext uri="{FF2B5EF4-FFF2-40B4-BE49-F238E27FC236}">
                <a16:creationId xmlns:a16="http://schemas.microsoft.com/office/drawing/2014/main" id="{9608332A-91BC-06B2-9176-3D3D8624E734}"/>
              </a:ext>
            </a:extLst>
          </p:cNvPr>
          <p:cNvSpPr/>
          <p:nvPr/>
        </p:nvSpPr>
        <p:spPr>
          <a:xfrm>
            <a:off x="4502102" y="2893534"/>
            <a:ext cx="3472281" cy="60960"/>
          </a:xfrm>
          <a:prstGeom prst="rect">
            <a:avLst/>
          </a:prstGeom>
          <a:solidFill>
            <a:srgbClr val="C85A1A"/>
          </a:solidFill>
          <a:ln w="12700">
            <a:solidFill>
              <a:srgbClr val="C85A1A"/>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39" name="Shape 12">
            <a:extLst>
              <a:ext uri="{FF2B5EF4-FFF2-40B4-BE49-F238E27FC236}">
                <a16:creationId xmlns:a16="http://schemas.microsoft.com/office/drawing/2014/main" id="{EB34E630-271B-8879-C3E2-9536C80E6127}"/>
              </a:ext>
            </a:extLst>
          </p:cNvPr>
          <p:cNvSpPr/>
          <p:nvPr/>
        </p:nvSpPr>
        <p:spPr>
          <a:xfrm>
            <a:off x="4769106" y="3137374"/>
            <a:ext cx="512064" cy="512064"/>
          </a:xfrm>
          <a:prstGeom prst="ellipse">
            <a:avLst/>
          </a:prstGeom>
          <a:solidFill>
            <a:srgbClr val="C85A1A"/>
          </a:solidFill>
          <a:ln w="12700">
            <a:solidFill>
              <a:srgbClr val="C85A1A"/>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40" name="Text 13">
            <a:extLst>
              <a:ext uri="{FF2B5EF4-FFF2-40B4-BE49-F238E27FC236}">
                <a16:creationId xmlns:a16="http://schemas.microsoft.com/office/drawing/2014/main" id="{7CDA75E4-89FC-7575-F060-EEEE9D8AE10B}"/>
              </a:ext>
            </a:extLst>
          </p:cNvPr>
          <p:cNvSpPr/>
          <p:nvPr/>
        </p:nvSpPr>
        <p:spPr>
          <a:xfrm>
            <a:off x="4769106" y="3137374"/>
            <a:ext cx="512064" cy="512064"/>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67" b="1">
                <a:solidFill>
                  <a:srgbClr val="FFFFFF"/>
                </a:solidFill>
                <a:latin typeface="Gill Sans MT"/>
                <a:ea typeface="Calibri" pitchFamily="34" charset="-122"/>
                <a:cs typeface="Calibri" pitchFamily="34" charset="-120"/>
              </a:rPr>
              <a:t>02</a:t>
            </a:r>
            <a:endParaRPr lang="en-US" sz="1467">
              <a:latin typeface="Gill Sans MT"/>
            </a:endParaRPr>
          </a:p>
        </p:txBody>
      </p:sp>
      <p:sp>
        <p:nvSpPr>
          <p:cNvPr id="41" name="Text 14">
            <a:extLst>
              <a:ext uri="{FF2B5EF4-FFF2-40B4-BE49-F238E27FC236}">
                <a16:creationId xmlns:a16="http://schemas.microsoft.com/office/drawing/2014/main" id="{8500C0DD-13A4-722B-7392-761462070E45}"/>
              </a:ext>
            </a:extLst>
          </p:cNvPr>
          <p:cNvSpPr/>
          <p:nvPr/>
        </p:nvSpPr>
        <p:spPr>
          <a:xfrm>
            <a:off x="4769106" y="3844510"/>
            <a:ext cx="3098197" cy="1608291"/>
          </a:xfrm>
          <a:prstGeom prst="rect">
            <a:avLst/>
          </a:prstGeom>
          <a:noFill/>
          <a:ln/>
        </p:spPr>
        <p:txBody>
          <a:bodyPr wrap="square" lIns="0" tIns="0" rIns="0" bIns="0" rtlCol="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a:latin typeface="Gill Sans MT"/>
                <a:ea typeface="+mn-lt"/>
                <a:cs typeface="+mn-lt"/>
              </a:rPr>
              <a:t>Can Zebra improve or maintain current customer satisfaction scores/material fill rate with a lower wide inventory level? </a:t>
            </a:r>
            <a:endParaRPr lang="en-US">
              <a:latin typeface="Gill Sans MT"/>
              <a:ea typeface="+mn-lt"/>
              <a:cs typeface="+mn-lt"/>
            </a:endParaRPr>
          </a:p>
        </p:txBody>
      </p:sp>
      <p:sp>
        <p:nvSpPr>
          <p:cNvPr id="42" name="Shape 15">
            <a:extLst>
              <a:ext uri="{FF2B5EF4-FFF2-40B4-BE49-F238E27FC236}">
                <a16:creationId xmlns:a16="http://schemas.microsoft.com/office/drawing/2014/main" id="{B4E0A8CD-1E13-E09B-5511-0402C7C64A00}"/>
              </a:ext>
            </a:extLst>
          </p:cNvPr>
          <p:cNvSpPr/>
          <p:nvPr/>
        </p:nvSpPr>
        <p:spPr>
          <a:xfrm>
            <a:off x="4769106" y="5392895"/>
            <a:ext cx="2938272" cy="9753"/>
          </a:xfrm>
          <a:prstGeom prst="rect">
            <a:avLst/>
          </a:prstGeom>
          <a:solidFill>
            <a:srgbClr val="E5E7EB"/>
          </a:solidFill>
          <a:ln w="12700">
            <a:solidFill>
              <a:srgbClr val="E5E7E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43" name="Text 16">
            <a:extLst>
              <a:ext uri="{FF2B5EF4-FFF2-40B4-BE49-F238E27FC236}">
                <a16:creationId xmlns:a16="http://schemas.microsoft.com/office/drawing/2014/main" id="{E8676F55-1F85-C721-8B17-80569D709F1F}"/>
              </a:ext>
            </a:extLst>
          </p:cNvPr>
          <p:cNvSpPr/>
          <p:nvPr/>
        </p:nvSpPr>
        <p:spPr>
          <a:xfrm>
            <a:off x="4769106" y="5453854"/>
            <a:ext cx="2938272" cy="268224"/>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l">
              <a:buNone/>
            </a:pPr>
            <a:endParaRPr lang="en-US" sz="1133">
              <a:latin typeface="Gill Sans MT"/>
            </a:endParaRPr>
          </a:p>
        </p:txBody>
      </p:sp>
      <p:sp>
        <p:nvSpPr>
          <p:cNvPr id="44" name="Shape 17">
            <a:extLst>
              <a:ext uri="{FF2B5EF4-FFF2-40B4-BE49-F238E27FC236}">
                <a16:creationId xmlns:a16="http://schemas.microsoft.com/office/drawing/2014/main" id="{1BF07B3A-CBAD-6C7C-7093-648509487024}"/>
              </a:ext>
            </a:extLst>
          </p:cNvPr>
          <p:cNvSpPr/>
          <p:nvPr/>
        </p:nvSpPr>
        <p:spPr>
          <a:xfrm>
            <a:off x="8329170" y="2893534"/>
            <a:ext cx="3474720" cy="2926080"/>
          </a:xfrm>
          <a:prstGeom prst="roundRect">
            <a:avLst>
              <a:gd name="adj" fmla="val 5833"/>
            </a:avLst>
          </a:prstGeom>
          <a:solidFill>
            <a:srgbClr val="FAFAFA"/>
          </a:solidFill>
          <a:ln w="9525">
            <a:solidFill>
              <a:srgbClr val="E5E7EB"/>
            </a:solidFill>
            <a:prstDash val="solid"/>
          </a:ln>
          <a:effectLst>
            <a:outerShdw blurRad="127000" dist="38100" dir="8100000" algn="bl" rotWithShape="0">
              <a:srgbClr val="000000">
                <a:alpha val="7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45" name="Shape 18">
            <a:extLst>
              <a:ext uri="{FF2B5EF4-FFF2-40B4-BE49-F238E27FC236}">
                <a16:creationId xmlns:a16="http://schemas.microsoft.com/office/drawing/2014/main" id="{04470B3D-E63B-DE1B-F496-7AE669864704}"/>
              </a:ext>
            </a:extLst>
          </p:cNvPr>
          <p:cNvSpPr/>
          <p:nvPr/>
        </p:nvSpPr>
        <p:spPr>
          <a:xfrm>
            <a:off x="8330390" y="2893534"/>
            <a:ext cx="3472281" cy="60960"/>
          </a:xfrm>
          <a:prstGeom prst="rect">
            <a:avLst/>
          </a:prstGeom>
          <a:solidFill>
            <a:srgbClr val="C85A1A"/>
          </a:solidFill>
          <a:ln w="12700">
            <a:solidFill>
              <a:srgbClr val="C85A1A"/>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46" name="Shape 19">
            <a:extLst>
              <a:ext uri="{FF2B5EF4-FFF2-40B4-BE49-F238E27FC236}">
                <a16:creationId xmlns:a16="http://schemas.microsoft.com/office/drawing/2014/main" id="{45AD349E-7AF3-46F5-AE32-8661E6D602A4}"/>
              </a:ext>
            </a:extLst>
          </p:cNvPr>
          <p:cNvSpPr/>
          <p:nvPr/>
        </p:nvSpPr>
        <p:spPr>
          <a:xfrm>
            <a:off x="8597394" y="3137374"/>
            <a:ext cx="512064" cy="512064"/>
          </a:xfrm>
          <a:prstGeom prst="ellipse">
            <a:avLst/>
          </a:prstGeom>
          <a:solidFill>
            <a:srgbClr val="C85A1A"/>
          </a:solidFill>
          <a:ln w="12700">
            <a:solidFill>
              <a:srgbClr val="C85A1A"/>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47" name="Text 20">
            <a:extLst>
              <a:ext uri="{FF2B5EF4-FFF2-40B4-BE49-F238E27FC236}">
                <a16:creationId xmlns:a16="http://schemas.microsoft.com/office/drawing/2014/main" id="{5FC6C91E-6F36-FCCB-E769-052B4F84628B}"/>
              </a:ext>
            </a:extLst>
          </p:cNvPr>
          <p:cNvSpPr/>
          <p:nvPr/>
        </p:nvSpPr>
        <p:spPr>
          <a:xfrm>
            <a:off x="8597394" y="3137374"/>
            <a:ext cx="512064" cy="512064"/>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450" b="1">
                <a:solidFill>
                  <a:srgbClr val="FFFFFF"/>
                </a:solidFill>
                <a:latin typeface="Gill Sans MT"/>
                <a:ea typeface="Calibri"/>
                <a:cs typeface="Calibri"/>
              </a:rPr>
              <a:t>03</a:t>
            </a:r>
            <a:endParaRPr lang="en-US" sz="1450">
              <a:solidFill>
                <a:srgbClr val="FFFFFF"/>
              </a:solidFill>
              <a:latin typeface="Gill Sans MT"/>
              <a:ea typeface="Calibri"/>
              <a:cs typeface="Calibri"/>
            </a:endParaRPr>
          </a:p>
        </p:txBody>
      </p:sp>
      <p:sp>
        <p:nvSpPr>
          <p:cNvPr id="48" name="Text 21">
            <a:extLst>
              <a:ext uri="{FF2B5EF4-FFF2-40B4-BE49-F238E27FC236}">
                <a16:creationId xmlns:a16="http://schemas.microsoft.com/office/drawing/2014/main" id="{327627D1-1DFA-BA34-75B0-ABA79098629B}"/>
              </a:ext>
            </a:extLst>
          </p:cNvPr>
          <p:cNvSpPr/>
          <p:nvPr/>
        </p:nvSpPr>
        <p:spPr>
          <a:xfrm>
            <a:off x="8597394" y="3844510"/>
            <a:ext cx="2938272" cy="1645920"/>
          </a:xfrm>
          <a:prstGeom prst="rect">
            <a:avLst/>
          </a:prstGeom>
          <a:noFill/>
          <a:ln/>
        </p:spPr>
        <p:txBody>
          <a:bodyPr wrap="square" lIns="0" tIns="0" rIns="0" bIns="0" rtlCol="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sz="1600">
                <a:latin typeface="Gill Sans MT"/>
                <a:ea typeface="+mn-lt"/>
                <a:cs typeface="+mn-lt"/>
              </a:rPr>
              <a:t>What are the key dependencies for operating under optimal inventory levels? </a:t>
            </a:r>
            <a:endParaRPr lang="en-US">
              <a:latin typeface="Gill Sans MT"/>
              <a:ea typeface="Calibri"/>
              <a:cs typeface="Calibri"/>
            </a:endParaRPr>
          </a:p>
        </p:txBody>
      </p:sp>
      <p:sp>
        <p:nvSpPr>
          <p:cNvPr id="49" name="Shape 22">
            <a:extLst>
              <a:ext uri="{FF2B5EF4-FFF2-40B4-BE49-F238E27FC236}">
                <a16:creationId xmlns:a16="http://schemas.microsoft.com/office/drawing/2014/main" id="{3C83C6C2-4544-0B5F-93F4-8903503D2155}"/>
              </a:ext>
            </a:extLst>
          </p:cNvPr>
          <p:cNvSpPr/>
          <p:nvPr/>
        </p:nvSpPr>
        <p:spPr>
          <a:xfrm>
            <a:off x="8597394" y="5392895"/>
            <a:ext cx="2938272" cy="9753"/>
          </a:xfrm>
          <a:prstGeom prst="rect">
            <a:avLst/>
          </a:prstGeom>
          <a:solidFill>
            <a:srgbClr val="E5E7EB"/>
          </a:solidFill>
          <a:ln w="12700">
            <a:solidFill>
              <a:srgbClr val="E5E7E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
        <p:nvSpPr>
          <p:cNvPr id="50" name="Text 23">
            <a:extLst>
              <a:ext uri="{FF2B5EF4-FFF2-40B4-BE49-F238E27FC236}">
                <a16:creationId xmlns:a16="http://schemas.microsoft.com/office/drawing/2014/main" id="{5ADF397A-46E3-B638-5A44-BCCEBA7CDF40}"/>
              </a:ext>
            </a:extLst>
          </p:cNvPr>
          <p:cNvSpPr/>
          <p:nvPr/>
        </p:nvSpPr>
        <p:spPr>
          <a:xfrm>
            <a:off x="8597394" y="5453854"/>
            <a:ext cx="2938272" cy="268224"/>
          </a:xfrm>
          <a:prstGeom prst="rect">
            <a:avLst/>
          </a:prstGeom>
          <a:noFill/>
          <a:ln/>
        </p:spPr>
        <p:txBody>
          <a:bodyPr wrap="square" lIns="0" tIns="0" rIns="0" b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lang="en-US" sz="1133">
              <a:latin typeface="Gill Sans MT"/>
            </a:endParaRPr>
          </a:p>
        </p:txBody>
      </p:sp>
      <p:sp>
        <p:nvSpPr>
          <p:cNvPr id="7" name="Shape 22">
            <a:extLst>
              <a:ext uri="{FF2B5EF4-FFF2-40B4-BE49-F238E27FC236}">
                <a16:creationId xmlns:a16="http://schemas.microsoft.com/office/drawing/2014/main" id="{B0813CD6-1BEF-1C5C-EF89-4218C54381CE}"/>
              </a:ext>
            </a:extLst>
          </p:cNvPr>
          <p:cNvSpPr/>
          <p:nvPr/>
        </p:nvSpPr>
        <p:spPr>
          <a:xfrm>
            <a:off x="929166" y="5402541"/>
            <a:ext cx="2938272" cy="9753"/>
          </a:xfrm>
          <a:prstGeom prst="rect">
            <a:avLst/>
          </a:prstGeom>
          <a:solidFill>
            <a:srgbClr val="E5E7EB"/>
          </a:solidFill>
          <a:ln w="12700">
            <a:solidFill>
              <a:srgbClr val="E5E7E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Gill Sans MT"/>
            </a:endParaRPr>
          </a:p>
        </p:txBody>
      </p:sp>
    </p:spTree>
    <p:extLst>
      <p:ext uri="{BB962C8B-B14F-4D97-AF65-F5344CB8AC3E}">
        <p14:creationId xmlns:p14="http://schemas.microsoft.com/office/powerpoint/2010/main" val="3024435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41433" y="236479"/>
            <a:ext cx="11153580" cy="666786"/>
          </a:xfrm>
          <a:prstGeom prst="rect">
            <a:avLst/>
          </a:prstGeom>
          <a:noFill/>
        </p:spPr>
        <p:txBody>
          <a:bodyPr wrap="square" lIns="91440" tIns="45720" rIns="91440" bIns="45720" rtlCol="0" anchor="t">
            <a:spAutoFit/>
          </a:bodyPr>
          <a:lstStyle/>
          <a:p>
            <a:r>
              <a:rPr lang="en-US" sz="3700" b="1">
                <a:solidFill>
                  <a:schemeClr val="accent2"/>
                </a:solidFill>
                <a:latin typeface="Gill Sans MT"/>
              </a:rPr>
              <a:t>Business Value</a:t>
            </a: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6" name="TextBox 5">
            <a:extLst>
              <a:ext uri="{FF2B5EF4-FFF2-40B4-BE49-F238E27FC236}">
                <a16:creationId xmlns:a16="http://schemas.microsoft.com/office/drawing/2014/main" id="{F1F062C3-1495-6D54-7C9F-49D2E615E803}"/>
              </a:ext>
            </a:extLst>
          </p:cNvPr>
          <p:cNvSpPr txBox="1"/>
          <p:nvPr/>
        </p:nvSpPr>
        <p:spPr>
          <a:xfrm>
            <a:off x="528349" y="1012117"/>
            <a:ext cx="1068230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latin typeface="Gill Sans MT"/>
                <a:ea typeface="+mn-lt"/>
                <a:cs typeface="+mn-lt"/>
              </a:rPr>
              <a:t>Provides </a:t>
            </a:r>
            <a:r>
              <a:rPr lang="en-US" sz="2400" b="1">
                <a:latin typeface="Gill Sans MT"/>
                <a:ea typeface="+mn-lt"/>
                <a:cs typeface="+mn-lt"/>
              </a:rPr>
              <a:t>actionable recommendations</a:t>
            </a:r>
            <a:r>
              <a:rPr lang="en-US" sz="2400">
                <a:latin typeface="Gill Sans MT"/>
                <a:ea typeface="+mn-lt"/>
                <a:cs typeface="+mn-lt"/>
              </a:rPr>
              <a:t> for inventory optimization </a:t>
            </a:r>
            <a:endParaRPr lang="en-US" sz="2400">
              <a:latin typeface="Gill Sans MT"/>
            </a:endParaRPr>
          </a:p>
          <a:p>
            <a:pPr marL="342900" indent="-342900">
              <a:buFont typeface="Courier New"/>
              <a:buChar char="o"/>
            </a:pPr>
            <a:r>
              <a:rPr lang="en-US" sz="2400">
                <a:latin typeface="Gill Sans MT"/>
                <a:ea typeface="+mn-lt"/>
                <a:cs typeface="+mn-lt"/>
              </a:rPr>
              <a:t>Helps balance </a:t>
            </a:r>
            <a:r>
              <a:rPr lang="en-US" sz="2400" b="1">
                <a:latin typeface="Gill Sans MT"/>
                <a:ea typeface="+mn-lt"/>
                <a:cs typeface="+mn-lt"/>
              </a:rPr>
              <a:t>inventory cost vs. customer service levels</a:t>
            </a:r>
            <a:r>
              <a:rPr lang="en-US" sz="2400">
                <a:latin typeface="Gill Sans MT"/>
                <a:ea typeface="+mn-lt"/>
                <a:cs typeface="+mn-lt"/>
              </a:rPr>
              <a:t> </a:t>
            </a:r>
            <a:endParaRPr lang="en-US" sz="2400">
              <a:latin typeface="Gill Sans MT"/>
            </a:endParaRPr>
          </a:p>
          <a:p>
            <a:pPr marL="342900" indent="-342900">
              <a:buFont typeface="Courier New"/>
              <a:buChar char="o"/>
            </a:pPr>
            <a:r>
              <a:rPr lang="en-US" sz="2400">
                <a:latin typeface="Gill Sans MT"/>
                <a:ea typeface="+mn-lt"/>
                <a:cs typeface="+mn-lt"/>
              </a:rPr>
              <a:t>Aligns </a:t>
            </a:r>
            <a:r>
              <a:rPr lang="en-US" sz="2400" b="1">
                <a:latin typeface="Gill Sans MT"/>
                <a:ea typeface="+mn-lt"/>
                <a:cs typeface="+mn-lt"/>
              </a:rPr>
              <a:t>inventory placement with demand and lead times</a:t>
            </a:r>
            <a:r>
              <a:rPr lang="en-US" sz="2400">
                <a:latin typeface="Gill Sans MT"/>
                <a:ea typeface="+mn-lt"/>
                <a:cs typeface="+mn-lt"/>
              </a:rPr>
              <a:t> </a:t>
            </a:r>
            <a:endParaRPr lang="en-US" sz="2400">
              <a:latin typeface="Gill Sans MT"/>
            </a:endParaRPr>
          </a:p>
          <a:p>
            <a:pPr marL="342900" indent="-342900">
              <a:buFont typeface="Courier New"/>
              <a:buChar char="o"/>
            </a:pPr>
            <a:r>
              <a:rPr lang="en-US" sz="2400">
                <a:latin typeface="Gill Sans MT"/>
                <a:ea typeface="+mn-lt"/>
                <a:cs typeface="+mn-lt"/>
              </a:rPr>
              <a:t>Reduces </a:t>
            </a:r>
            <a:r>
              <a:rPr lang="en-US" sz="2400" b="1">
                <a:latin typeface="Gill Sans MT"/>
                <a:ea typeface="+mn-lt"/>
                <a:cs typeface="+mn-lt"/>
              </a:rPr>
              <a:t>excess stock while ensuring product availability</a:t>
            </a:r>
            <a:endParaRPr lang="en-US" sz="2400">
              <a:latin typeface="Gill Sans MT"/>
            </a:endParaRPr>
          </a:p>
          <a:p>
            <a:pPr marL="342900" indent="-342900">
              <a:buFont typeface="Courier New"/>
              <a:buChar char="o"/>
            </a:pPr>
            <a:endParaRPr lang="en-US" sz="2400">
              <a:latin typeface="Gill Sans MT"/>
              <a:ea typeface="Calibri"/>
              <a:cs typeface="Calibri"/>
            </a:endParaRPr>
          </a:p>
        </p:txBody>
      </p:sp>
      <p:pic>
        <p:nvPicPr>
          <p:cNvPr id="2" name="Picture 1" descr="Smart warehouse management system">
            <a:extLst>
              <a:ext uri="{FF2B5EF4-FFF2-40B4-BE49-F238E27FC236}">
                <a16:creationId xmlns:a16="http://schemas.microsoft.com/office/drawing/2014/main" id="{793D7595-C021-12E6-BE9E-DC2E468A8220}"/>
              </a:ext>
            </a:extLst>
          </p:cNvPr>
          <p:cNvPicPr>
            <a:picLocks noChangeAspect="1"/>
          </p:cNvPicPr>
          <p:nvPr/>
        </p:nvPicPr>
        <p:blipFill>
          <a:blip r:embed="rId3"/>
          <a:stretch>
            <a:fillRect/>
          </a:stretch>
        </p:blipFill>
        <p:spPr>
          <a:xfrm>
            <a:off x="1026968" y="3430782"/>
            <a:ext cx="4038598" cy="2646119"/>
          </a:xfrm>
          <a:prstGeom prst="rect">
            <a:avLst/>
          </a:prstGeom>
        </p:spPr>
      </p:pic>
      <p:pic>
        <p:nvPicPr>
          <p:cNvPr id="5" name="Picture 4" descr="Explore efficient logistics and intelligent inventory solutions for innovative automation and logistics in future commerce, efficient warehouse management, and delivery solutions for supply chains.">
            <a:extLst>
              <a:ext uri="{FF2B5EF4-FFF2-40B4-BE49-F238E27FC236}">
                <a16:creationId xmlns:a16="http://schemas.microsoft.com/office/drawing/2014/main" id="{D5C04818-21B6-0CD4-5FC6-BA5D6A8CFE2F}"/>
              </a:ext>
            </a:extLst>
          </p:cNvPr>
          <p:cNvPicPr>
            <a:picLocks noChangeAspect="1"/>
          </p:cNvPicPr>
          <p:nvPr/>
        </p:nvPicPr>
        <p:blipFill>
          <a:blip r:embed="rId4"/>
          <a:stretch>
            <a:fillRect/>
          </a:stretch>
        </p:blipFill>
        <p:spPr>
          <a:xfrm>
            <a:off x="6414904" y="3426156"/>
            <a:ext cx="4495798" cy="2631620"/>
          </a:xfrm>
          <a:prstGeom prst="rect">
            <a:avLst/>
          </a:prstGeom>
        </p:spPr>
      </p:pic>
    </p:spTree>
    <p:extLst>
      <p:ext uri="{BB962C8B-B14F-4D97-AF65-F5344CB8AC3E}">
        <p14:creationId xmlns:p14="http://schemas.microsoft.com/office/powerpoint/2010/main" val="2840763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76557" y="1137039"/>
            <a:ext cx="2936325" cy="2434561"/>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err="1">
              <a:latin typeface="Gill Sans MT"/>
            </a:endParaRPr>
          </a:p>
        </p:txBody>
      </p:sp>
      <p:sp>
        <p:nvSpPr>
          <p:cNvPr id="3" name="Text Placeholder 2">
            <a:extLst>
              <a:ext uri="{FF2B5EF4-FFF2-40B4-BE49-F238E27FC236}">
                <a16:creationId xmlns:a16="http://schemas.microsoft.com/office/drawing/2014/main" id="{2705D917-84A9-451F-8670-B1C61BDBD3E8}"/>
              </a:ext>
            </a:extLst>
          </p:cNvPr>
          <p:cNvSpPr>
            <a:spLocks noGrp="1"/>
          </p:cNvSpPr>
          <p:nvPr>
            <p:ph type="body" sz="quarter" idx="10"/>
          </p:nvPr>
        </p:nvSpPr>
        <p:spPr>
          <a:xfrm>
            <a:off x="3332283" y="1283171"/>
            <a:ext cx="2637442" cy="694267"/>
          </a:xfrm>
          <a:noFill/>
        </p:spPr>
        <p:txBody>
          <a:bodyPr vert="horz" lIns="91440" tIns="45720" rIns="91440" bIns="45720" rtlCol="0" anchor="t">
            <a:normAutofit/>
          </a:bodyPr>
          <a:lstStyle/>
          <a:p>
            <a:pPr marL="0" indent="0">
              <a:buNone/>
            </a:pPr>
            <a:r>
              <a:rPr lang="en-US">
                <a:latin typeface="Gill Sans MT"/>
              </a:rPr>
              <a:t>01</a:t>
            </a:r>
            <a:endParaRPr lang="en-US"/>
          </a:p>
        </p:txBody>
      </p:sp>
      <p:sp>
        <p:nvSpPr>
          <p:cNvPr id="4" name="Text Placeholder 3">
            <a:extLst>
              <a:ext uri="{FF2B5EF4-FFF2-40B4-BE49-F238E27FC236}">
                <a16:creationId xmlns:a16="http://schemas.microsoft.com/office/drawing/2014/main" id="{477F431D-77F4-49FF-8275-37E53F397184}"/>
              </a:ext>
            </a:extLst>
          </p:cNvPr>
          <p:cNvSpPr>
            <a:spLocks noGrp="1"/>
          </p:cNvSpPr>
          <p:nvPr>
            <p:ph type="body" sz="quarter" idx="11"/>
          </p:nvPr>
        </p:nvSpPr>
        <p:spPr>
          <a:xfrm>
            <a:off x="6212284" y="1283170"/>
            <a:ext cx="2637442" cy="694267"/>
          </a:xfrm>
          <a:noFill/>
        </p:spPr>
        <p:txBody>
          <a:bodyPr vert="horz" lIns="91440" tIns="45720" rIns="91440" bIns="45720" rtlCol="0" anchor="t">
            <a:normAutofit/>
          </a:bodyPr>
          <a:lstStyle/>
          <a:p>
            <a:pPr marL="0" indent="0">
              <a:buNone/>
            </a:pPr>
            <a:r>
              <a:rPr lang="en-US">
                <a:latin typeface="Gill Sans MT"/>
              </a:rPr>
              <a:t>02</a:t>
            </a:r>
            <a:endParaRPr lang="en-US"/>
          </a:p>
        </p:txBody>
      </p:sp>
      <p:sp>
        <p:nvSpPr>
          <p:cNvPr id="5" name="Text Placeholder 4">
            <a:extLst>
              <a:ext uri="{FF2B5EF4-FFF2-40B4-BE49-F238E27FC236}">
                <a16:creationId xmlns:a16="http://schemas.microsoft.com/office/drawing/2014/main" id="{6B8D8764-B3F2-4435-87A5-08C1E5721215}"/>
              </a:ext>
            </a:extLst>
          </p:cNvPr>
          <p:cNvSpPr>
            <a:spLocks noGrp="1"/>
          </p:cNvSpPr>
          <p:nvPr>
            <p:ph type="body" sz="quarter" idx="12"/>
          </p:nvPr>
        </p:nvSpPr>
        <p:spPr>
          <a:xfrm>
            <a:off x="3332283" y="3861148"/>
            <a:ext cx="2637442" cy="694267"/>
          </a:xfrm>
          <a:noFill/>
        </p:spPr>
        <p:txBody>
          <a:bodyPr vert="horz" lIns="91440" tIns="45720" rIns="91440" bIns="45720" rtlCol="0" anchor="t">
            <a:normAutofit/>
          </a:bodyPr>
          <a:lstStyle/>
          <a:p>
            <a:pPr marL="0" indent="0">
              <a:buNone/>
            </a:pPr>
            <a:r>
              <a:rPr lang="en-US">
                <a:latin typeface="Gill Sans MT"/>
              </a:rPr>
              <a:t>04</a:t>
            </a:r>
            <a:endParaRPr lang="en-US"/>
          </a:p>
        </p:txBody>
      </p:sp>
      <p:sp>
        <p:nvSpPr>
          <p:cNvPr id="6"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6212284" y="3861148"/>
            <a:ext cx="2637442" cy="694267"/>
          </a:xfrm>
          <a:noFill/>
        </p:spPr>
        <p:txBody>
          <a:bodyPr vert="horz" lIns="91440" tIns="45720" rIns="91440" bIns="45720" rtlCol="0" anchor="t">
            <a:normAutofit/>
          </a:bodyPr>
          <a:lstStyle/>
          <a:p>
            <a:pPr marL="0" indent="0">
              <a:buNone/>
            </a:pPr>
            <a:r>
              <a:rPr lang="en-US">
                <a:latin typeface="Gill Sans MT"/>
              </a:rPr>
              <a:t>05</a:t>
            </a:r>
            <a:endParaRPr lang="en-US"/>
          </a:p>
        </p:txBody>
      </p:sp>
      <p:sp>
        <p:nvSpPr>
          <p:cNvPr id="8" name="Text Placeholder 7">
            <a:extLst>
              <a:ext uri="{FF2B5EF4-FFF2-40B4-BE49-F238E27FC236}">
                <a16:creationId xmlns:a16="http://schemas.microsoft.com/office/drawing/2014/main" id="{F26BFDB0-DFB8-4D59-95A4-911D99147B08}"/>
              </a:ext>
            </a:extLst>
          </p:cNvPr>
          <p:cNvSpPr>
            <a:spLocks noGrp="1"/>
          </p:cNvSpPr>
          <p:nvPr>
            <p:ph type="body" sz="quarter" idx="18"/>
          </p:nvPr>
        </p:nvSpPr>
        <p:spPr>
          <a:xfrm>
            <a:off x="9091495" y="1283169"/>
            <a:ext cx="2637442" cy="694267"/>
          </a:xfrm>
          <a:noFill/>
        </p:spPr>
        <p:txBody>
          <a:bodyPr vert="horz" lIns="91440" tIns="45720" rIns="91440" bIns="45720" rtlCol="0" anchor="t">
            <a:normAutofit/>
          </a:bodyPr>
          <a:lstStyle/>
          <a:p>
            <a:pPr marL="0" indent="0">
              <a:buNone/>
            </a:pPr>
            <a:r>
              <a:rPr lang="en-US">
                <a:latin typeface="Gill Sans MT"/>
              </a:rPr>
              <a:t>03</a:t>
            </a:r>
            <a:endParaRPr lang="en-US"/>
          </a:p>
        </p:txBody>
      </p:sp>
      <p:sp>
        <p:nvSpPr>
          <p:cNvPr id="7" name="Text Placeholder 6">
            <a:extLst>
              <a:ext uri="{FF2B5EF4-FFF2-40B4-BE49-F238E27FC236}">
                <a16:creationId xmlns:a16="http://schemas.microsoft.com/office/drawing/2014/main" id="{CB2EC579-FB4F-4DAC-A6BF-81AC4648982C}"/>
              </a:ext>
            </a:extLst>
          </p:cNvPr>
          <p:cNvSpPr>
            <a:spLocks noGrp="1"/>
          </p:cNvSpPr>
          <p:nvPr>
            <p:ph type="body" sz="quarter" idx="15"/>
          </p:nvPr>
        </p:nvSpPr>
        <p:spPr>
          <a:noFill/>
        </p:spPr>
        <p:txBody>
          <a:bodyPr vert="horz" lIns="91440" tIns="45720" rIns="91440" bIns="45720" rtlCol="0" anchor="t">
            <a:normAutofit/>
          </a:bodyPr>
          <a:lstStyle/>
          <a:p>
            <a:pPr marL="0" indent="0">
              <a:buNone/>
            </a:pPr>
            <a:r>
              <a:rPr lang="en-US">
                <a:latin typeface="Gill Sans MT"/>
              </a:rPr>
              <a:t>Approach &amp; Methodology</a:t>
            </a:r>
            <a:endParaRPr lang="en-US"/>
          </a:p>
        </p:txBody>
      </p:sp>
      <p:sp>
        <p:nvSpPr>
          <p:cNvPr id="10" name="Text Placeholder 9">
            <a:extLst>
              <a:ext uri="{FF2B5EF4-FFF2-40B4-BE49-F238E27FC236}">
                <a16:creationId xmlns:a16="http://schemas.microsoft.com/office/drawing/2014/main" id="{45EF8CE0-ACB2-4CF2-BEA8-C5E15FAFC5B4}"/>
              </a:ext>
            </a:extLst>
          </p:cNvPr>
          <p:cNvSpPr>
            <a:spLocks noGrp="1"/>
          </p:cNvSpPr>
          <p:nvPr>
            <p:ph type="body" sz="quarter" idx="20"/>
          </p:nvPr>
        </p:nvSpPr>
        <p:spPr>
          <a:noFill/>
        </p:spPr>
        <p:txBody>
          <a:bodyPr vert="horz" lIns="91440" tIns="45720" rIns="91440" bIns="45720" rtlCol="0" anchor="t">
            <a:normAutofit/>
          </a:bodyPr>
          <a:lstStyle/>
          <a:p>
            <a:pPr marL="0" indent="0">
              <a:buNone/>
            </a:pPr>
            <a:r>
              <a:rPr lang="en-US">
                <a:latin typeface="Gill Sans MT"/>
              </a:rPr>
              <a:t>Exploratory Data Analysis</a:t>
            </a:r>
            <a:endParaRPr lang="en-US"/>
          </a:p>
        </p:txBody>
      </p:sp>
      <p:sp>
        <p:nvSpPr>
          <p:cNvPr id="11" name="Text Placeholder 10">
            <a:extLst>
              <a:ext uri="{FF2B5EF4-FFF2-40B4-BE49-F238E27FC236}">
                <a16:creationId xmlns:a16="http://schemas.microsoft.com/office/drawing/2014/main" id="{E9FDF91D-DA91-4E01-858F-E464B25076F3}"/>
              </a:ext>
            </a:extLst>
          </p:cNvPr>
          <p:cNvSpPr>
            <a:spLocks noGrp="1"/>
          </p:cNvSpPr>
          <p:nvPr>
            <p:ph type="body" sz="quarter" idx="21"/>
          </p:nvPr>
        </p:nvSpPr>
        <p:spPr>
          <a:xfrm>
            <a:off x="3332282" y="1977438"/>
            <a:ext cx="2683163" cy="1447797"/>
          </a:xfrm>
          <a:noFill/>
        </p:spPr>
        <p:txBody>
          <a:bodyPr vert="horz" lIns="91440" tIns="45720" rIns="91440" bIns="45720" rtlCol="0" anchor="t">
            <a:normAutofit/>
          </a:bodyPr>
          <a:lstStyle/>
          <a:p>
            <a:pPr marL="0" indent="0">
              <a:buNone/>
            </a:pPr>
            <a:r>
              <a:rPr lang="en-US">
                <a:latin typeface="Gill Sans MT"/>
              </a:rPr>
              <a:t>Business Intent</a:t>
            </a:r>
            <a:endParaRPr lang="en-US"/>
          </a:p>
        </p:txBody>
      </p:sp>
      <p:sp>
        <p:nvSpPr>
          <p:cNvPr id="13"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noFill/>
        </p:spPr>
        <p:txBody>
          <a:bodyPr vert="horz" lIns="91440" tIns="45720" rIns="91440" bIns="45720" rtlCol="0" anchor="t">
            <a:normAutofit/>
          </a:bodyPr>
          <a:lstStyle/>
          <a:p>
            <a:pPr marL="0" indent="0">
              <a:buNone/>
            </a:pPr>
            <a:r>
              <a:rPr lang="en-US">
                <a:latin typeface="Gill Sans MT"/>
              </a:rPr>
              <a:t>Next Steps </a:t>
            </a:r>
            <a:endParaRPr lang="en-US"/>
          </a:p>
        </p:txBody>
      </p:sp>
      <p:sp>
        <p:nvSpPr>
          <p:cNvPr id="14" name="Text Placeholder 13">
            <a:extLst>
              <a:ext uri="{FF2B5EF4-FFF2-40B4-BE49-F238E27FC236}">
                <a16:creationId xmlns:a16="http://schemas.microsoft.com/office/drawing/2014/main" id="{E02ABD5E-8B95-4E13-8A0C-73849F9744C7}"/>
              </a:ext>
            </a:extLst>
          </p:cNvPr>
          <p:cNvSpPr>
            <a:spLocks noGrp="1"/>
          </p:cNvSpPr>
          <p:nvPr>
            <p:ph type="body" sz="quarter" idx="24"/>
          </p:nvPr>
        </p:nvSpPr>
        <p:spPr>
          <a:noFill/>
        </p:spPr>
        <p:txBody>
          <a:bodyPr vert="horz" lIns="91440" tIns="45720" rIns="91440" bIns="45720" rtlCol="0" anchor="t">
            <a:normAutofit/>
          </a:bodyPr>
          <a:lstStyle/>
          <a:p>
            <a:pPr marL="0" indent="0">
              <a:buNone/>
            </a:pPr>
            <a:r>
              <a:rPr lang="en-US">
                <a:latin typeface="Gill Sans MT"/>
              </a:rPr>
              <a:t>Answer to Business Questions </a:t>
            </a:r>
            <a:endParaRPr lang="en-US">
              <a:ea typeface="Calibri" panose="020F0502020204030204"/>
              <a:cs typeface="Calibri" panose="020F0502020204030204"/>
            </a:endParaRPr>
          </a:p>
        </p:txBody>
      </p:sp>
      <p:sp>
        <p:nvSpPr>
          <p:cNvPr id="18" name="Title 17"/>
          <p:cNvSpPr>
            <a:spLocks noGrp="1"/>
          </p:cNvSpPr>
          <p:nvPr>
            <p:ph type="title"/>
          </p:nvPr>
        </p:nvSpPr>
        <p:spPr/>
        <p:txBody>
          <a:bodyPr>
            <a:normAutofit/>
          </a:bodyPr>
          <a:lstStyle/>
          <a:p>
            <a:r>
              <a:rPr lang="en-US" sz="3700" b="1">
                <a:solidFill>
                  <a:schemeClr val="accent2"/>
                </a:solidFill>
                <a:latin typeface="Gill Sans MT"/>
                <a:ea typeface="+mn-ea"/>
                <a:cs typeface="+mn-cs"/>
              </a:rPr>
              <a:t>Agenda</a:t>
            </a:r>
          </a:p>
        </p:txBody>
      </p:sp>
      <p:sp>
        <p:nvSpPr>
          <p:cNvPr id="19"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9091495" y="3861148"/>
            <a:ext cx="2637442" cy="694267"/>
          </a:xfrm>
          <a:noFill/>
        </p:spPr>
        <p:txBody>
          <a:bodyPr vert="horz" lIns="91440" tIns="45720" rIns="91440" bIns="45720" rtlCol="0" anchor="t">
            <a:normAutofit/>
          </a:bodyPr>
          <a:lstStyle/>
          <a:p>
            <a:pPr marL="0" indent="0">
              <a:buNone/>
            </a:pPr>
            <a:r>
              <a:rPr lang="en-US">
                <a:latin typeface="Gill Sans MT"/>
              </a:rPr>
              <a:t>06</a:t>
            </a:r>
            <a:endParaRPr lang="en-US"/>
          </a:p>
        </p:txBody>
      </p:sp>
      <p:sp>
        <p:nvSpPr>
          <p:cNvPr id="20"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xfrm>
            <a:off x="9091495" y="4555415"/>
            <a:ext cx="2637442" cy="1506828"/>
          </a:xfrm>
          <a:noFill/>
        </p:spPr>
        <p:txBody>
          <a:bodyPr vert="horz" lIns="91440" tIns="45720" rIns="91440" bIns="45720" rtlCol="0" anchor="t">
            <a:normAutofit/>
          </a:bodyPr>
          <a:lstStyle/>
          <a:p>
            <a:pPr marL="0" indent="0">
              <a:buNone/>
            </a:pPr>
            <a:r>
              <a:rPr lang="en-US">
                <a:latin typeface="Gill Sans MT"/>
              </a:rPr>
              <a:t>Conclusion</a:t>
            </a:r>
            <a:endParaRPr lang="en-US"/>
          </a:p>
        </p:txBody>
      </p:sp>
    </p:spTree>
    <p:extLst>
      <p:ext uri="{BB962C8B-B14F-4D97-AF65-F5344CB8AC3E}">
        <p14:creationId xmlns:p14="http://schemas.microsoft.com/office/powerpoint/2010/main" val="1196422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41433" y="236479"/>
            <a:ext cx="11153580" cy="666786"/>
          </a:xfrm>
          <a:prstGeom prst="rect">
            <a:avLst/>
          </a:prstGeom>
          <a:noFill/>
        </p:spPr>
        <p:txBody>
          <a:bodyPr wrap="square" lIns="91440" tIns="45720" rIns="91440" bIns="45720" rtlCol="0" anchor="t">
            <a:spAutoFit/>
          </a:bodyPr>
          <a:lstStyle/>
          <a:p>
            <a:r>
              <a:rPr lang="en-US" sz="3700" b="1">
                <a:solidFill>
                  <a:schemeClr val="accent2"/>
                </a:solidFill>
                <a:latin typeface="Gill Sans MT"/>
              </a:rPr>
              <a:t>Data Analysis – Descriptive Analysis</a:t>
            </a: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6" name="TextBox 5">
            <a:extLst>
              <a:ext uri="{FF2B5EF4-FFF2-40B4-BE49-F238E27FC236}">
                <a16:creationId xmlns:a16="http://schemas.microsoft.com/office/drawing/2014/main" id="{4920E803-7F29-AA44-7C7A-56831983B3F0}"/>
              </a:ext>
            </a:extLst>
          </p:cNvPr>
          <p:cNvSpPr txBox="1"/>
          <p:nvPr/>
        </p:nvSpPr>
        <p:spPr>
          <a:xfrm>
            <a:off x="438620" y="902256"/>
            <a:ext cx="10686814"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Gill Sans MT"/>
                <a:ea typeface="Calibri"/>
                <a:cs typeface="Calibri"/>
              </a:rPr>
              <a:t>This analysis was based on multiple data sources and reports including</a:t>
            </a:r>
            <a:r>
              <a:rPr lang="en-US" sz="2400" b="1">
                <a:latin typeface="Gill Sans MT"/>
                <a:ea typeface="Calibri"/>
                <a:cs typeface="Calibri"/>
              </a:rPr>
              <a:t> On hand Report, Consumption Planning, Supplier Commit Metrics, </a:t>
            </a:r>
            <a:r>
              <a:rPr lang="en-US" sz="2400">
                <a:latin typeface="Gill Sans MT"/>
                <a:ea typeface="Calibri"/>
                <a:cs typeface="Calibri"/>
              </a:rPr>
              <a:t>and </a:t>
            </a:r>
            <a:r>
              <a:rPr lang="en-US" sz="2400" b="1">
                <a:latin typeface="Gill Sans MT"/>
                <a:ea typeface="Calibri"/>
                <a:cs typeface="Calibri"/>
              </a:rPr>
              <a:t>Inbound ASN</a:t>
            </a:r>
            <a:r>
              <a:rPr lang="en-US" sz="2400">
                <a:latin typeface="Gill Sans MT"/>
                <a:ea typeface="Calibri"/>
                <a:cs typeface="Calibri"/>
              </a:rPr>
              <a:t>. </a:t>
            </a:r>
            <a:endParaRPr lang="en-US" sz="2400" i="1">
              <a:latin typeface="Gill Sans MT"/>
              <a:ea typeface="Calibri"/>
              <a:cs typeface="Calibri"/>
            </a:endParaRPr>
          </a:p>
          <a:p>
            <a:endParaRPr lang="en-US" sz="2400">
              <a:latin typeface="Gill Sans MT"/>
              <a:ea typeface="Calibri"/>
              <a:cs typeface="Calibri"/>
            </a:endParaRPr>
          </a:p>
          <a:p>
            <a:r>
              <a:rPr lang="en-US" sz="2400">
                <a:latin typeface="Gill Sans MT"/>
                <a:ea typeface="Calibri"/>
                <a:cs typeface="Calibri"/>
              </a:rPr>
              <a:t>Using these reports as guide, we narrowed down most of our analysis to the following tables: </a:t>
            </a:r>
          </a:p>
          <a:p>
            <a:pPr marL="800100" lvl="1" indent="-342900">
              <a:buFont typeface="Courier New,monospace"/>
              <a:buChar char="o"/>
            </a:pPr>
            <a:r>
              <a:rPr lang="en-US" sz="2400">
                <a:latin typeface="Gill Sans MT"/>
                <a:ea typeface="Calibri"/>
                <a:cs typeface="Calibri"/>
              </a:rPr>
              <a:t>Table 1</a:t>
            </a:r>
          </a:p>
          <a:p>
            <a:pPr marL="800100" lvl="1" indent="-342900">
              <a:buFont typeface="Courier New,monospace"/>
              <a:buChar char="o"/>
            </a:pPr>
            <a:r>
              <a:rPr lang="en-US" sz="2400">
                <a:latin typeface="Gill Sans MT"/>
                <a:ea typeface="Calibri"/>
                <a:cs typeface="Calibri"/>
              </a:rPr>
              <a:t>Table 2</a:t>
            </a:r>
          </a:p>
          <a:p>
            <a:pPr marL="800100" lvl="1" indent="-342900">
              <a:buFont typeface="Courier New,monospace"/>
              <a:buChar char="o"/>
            </a:pPr>
            <a:r>
              <a:rPr lang="en-US" sz="2400">
                <a:latin typeface="Gill Sans MT"/>
                <a:ea typeface="Calibri"/>
                <a:cs typeface="Calibri"/>
              </a:rPr>
              <a:t>Table 3 </a:t>
            </a:r>
          </a:p>
          <a:p>
            <a:pPr marL="800100" lvl="1" indent="-342900">
              <a:buFont typeface="Courier New,monospace"/>
              <a:buChar char="o"/>
            </a:pPr>
            <a:r>
              <a:rPr lang="en-US" sz="2400">
                <a:latin typeface="Gill Sans MT"/>
                <a:ea typeface="Calibri"/>
                <a:cs typeface="Calibri"/>
              </a:rPr>
              <a:t>Table 4</a:t>
            </a:r>
          </a:p>
          <a:p>
            <a:pPr marL="800100" lvl="1" indent="-342900">
              <a:buFont typeface="Courier New,monospace"/>
              <a:buChar char="o"/>
            </a:pPr>
            <a:endParaRPr lang="en-US">
              <a:latin typeface="Gill Sans MT"/>
              <a:ea typeface="Calibri"/>
              <a:cs typeface="Calibri"/>
            </a:endParaRPr>
          </a:p>
        </p:txBody>
      </p:sp>
    </p:spTree>
    <p:extLst>
      <p:ext uri="{BB962C8B-B14F-4D97-AF65-F5344CB8AC3E}">
        <p14:creationId xmlns:p14="http://schemas.microsoft.com/office/powerpoint/2010/main" val="3664051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41433" y="236479"/>
            <a:ext cx="11153580" cy="666786"/>
          </a:xfrm>
          <a:prstGeom prst="rect">
            <a:avLst/>
          </a:prstGeom>
          <a:noFill/>
        </p:spPr>
        <p:txBody>
          <a:bodyPr wrap="square" lIns="91440" tIns="45720" rIns="91440" bIns="45720" rtlCol="0" anchor="t">
            <a:spAutoFit/>
          </a:bodyPr>
          <a:lstStyle/>
          <a:p>
            <a:r>
              <a:rPr lang="en-US" sz="3700" b="1">
                <a:solidFill>
                  <a:srgbClr val="ED7D31"/>
                </a:solidFill>
                <a:latin typeface="Gill Sans MT"/>
              </a:rPr>
              <a:t>Data Analysis: Plots</a:t>
            </a: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3" name="TextBox 2">
            <a:extLst>
              <a:ext uri="{FF2B5EF4-FFF2-40B4-BE49-F238E27FC236}">
                <a16:creationId xmlns:a16="http://schemas.microsoft.com/office/drawing/2014/main" id="{420FA48E-E898-8829-8346-0C652CD8B5DA}"/>
              </a:ext>
            </a:extLst>
          </p:cNvPr>
          <p:cNvSpPr txBox="1"/>
          <p:nvPr/>
        </p:nvSpPr>
        <p:spPr>
          <a:xfrm>
            <a:off x="6883979" y="2822863"/>
            <a:ext cx="471054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latin typeface="Gill Sans MT"/>
                <a:cs typeface="Segoe UI"/>
              </a:rPr>
              <a:t>Each Organization ID contained a large amount of product families</a:t>
            </a:r>
            <a:endParaRPr lang="en-US"/>
          </a:p>
          <a:p>
            <a:pPr marL="342900" indent="-342900">
              <a:buFont typeface="Courier New"/>
              <a:buChar char="o"/>
            </a:pPr>
            <a:r>
              <a:rPr lang="en-US" sz="2400">
                <a:latin typeface="Gill Sans MT"/>
                <a:cs typeface="Segoe UI"/>
              </a:rPr>
              <a:t>This led us to look deeper into product families as a whole</a:t>
            </a:r>
          </a:p>
        </p:txBody>
      </p:sp>
      <p:pic>
        <p:nvPicPr>
          <p:cNvPr id="8" name="Picture 7" descr="A chart of a number of unique product families&#10;&#10;AI-generated content may be incorrect.">
            <a:extLst>
              <a:ext uri="{FF2B5EF4-FFF2-40B4-BE49-F238E27FC236}">
                <a16:creationId xmlns:a16="http://schemas.microsoft.com/office/drawing/2014/main" id="{4C5F5334-94F0-5CC3-9B8C-F35C72376068}"/>
              </a:ext>
            </a:extLst>
          </p:cNvPr>
          <p:cNvPicPr>
            <a:picLocks noChangeAspect="1"/>
          </p:cNvPicPr>
          <p:nvPr/>
        </p:nvPicPr>
        <p:blipFill>
          <a:blip r:embed="rId3"/>
          <a:stretch>
            <a:fillRect/>
          </a:stretch>
        </p:blipFill>
        <p:spPr>
          <a:xfrm>
            <a:off x="242455" y="955964"/>
            <a:ext cx="6052705" cy="5119255"/>
          </a:xfrm>
          <a:prstGeom prst="rect">
            <a:avLst/>
          </a:prstGeom>
        </p:spPr>
      </p:pic>
      <p:sp>
        <p:nvSpPr>
          <p:cNvPr id="5" name="TextBox 4">
            <a:extLst>
              <a:ext uri="{FF2B5EF4-FFF2-40B4-BE49-F238E27FC236}">
                <a16:creationId xmlns:a16="http://schemas.microsoft.com/office/drawing/2014/main" id="{1880A2C9-3DB1-A20A-A9AB-5F02B8580659}"/>
              </a:ext>
            </a:extLst>
          </p:cNvPr>
          <p:cNvSpPr txBox="1"/>
          <p:nvPr/>
        </p:nvSpPr>
        <p:spPr>
          <a:xfrm>
            <a:off x="239513" y="6079498"/>
            <a:ext cx="934887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Gill Sans MT"/>
                <a:ea typeface="Calibri" panose="020F0502020204030204"/>
                <a:cs typeface="Segoe UI"/>
              </a:rPr>
              <a:t>*Organization ID variables have been anonymized</a:t>
            </a:r>
          </a:p>
          <a:p>
            <a:pPr algn="ctr"/>
            <a:endParaRPr lang="en-US" sz="1200">
              <a:ea typeface="Calibri" panose="020F0502020204030204"/>
              <a:cs typeface="Calibri" panose="020F0502020204030204"/>
            </a:endParaRPr>
          </a:p>
        </p:txBody>
      </p:sp>
    </p:spTree>
    <p:extLst>
      <p:ext uri="{BB962C8B-B14F-4D97-AF65-F5344CB8AC3E}">
        <p14:creationId xmlns:p14="http://schemas.microsoft.com/office/powerpoint/2010/main" val="1875754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CA970-6B8B-67C1-6214-0F1F6F13878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D43590-F26A-0347-4712-CA47DC6545A6}"/>
              </a:ext>
            </a:extLst>
          </p:cNvPr>
          <p:cNvSpPr txBox="1"/>
          <p:nvPr/>
        </p:nvSpPr>
        <p:spPr>
          <a:xfrm>
            <a:off x="441433" y="236479"/>
            <a:ext cx="11153580" cy="666786"/>
          </a:xfrm>
          <a:prstGeom prst="rect">
            <a:avLst/>
          </a:prstGeom>
          <a:noFill/>
        </p:spPr>
        <p:txBody>
          <a:bodyPr wrap="square" lIns="91440" tIns="45720" rIns="91440" bIns="45720" rtlCol="0" anchor="t">
            <a:spAutoFit/>
          </a:bodyPr>
          <a:lstStyle/>
          <a:p>
            <a:r>
              <a:rPr lang="en-US" sz="3700" b="1">
                <a:solidFill>
                  <a:srgbClr val="ED7D31"/>
                </a:solidFill>
                <a:latin typeface="Gill Sans MT"/>
              </a:rPr>
              <a:t>Data Analysis: Plots</a:t>
            </a:r>
          </a:p>
        </p:txBody>
      </p:sp>
      <p:sp>
        <p:nvSpPr>
          <p:cNvPr id="9" name="TextBox 8">
            <a:extLst>
              <a:ext uri="{FF2B5EF4-FFF2-40B4-BE49-F238E27FC236}">
                <a16:creationId xmlns:a16="http://schemas.microsoft.com/office/drawing/2014/main" id="{38D070B7-15F2-98A7-0960-F4583C27DBB4}"/>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pic>
        <p:nvPicPr>
          <p:cNvPr id="5" name="Picture 4" descr="A graph showing a number of products&#10;&#10;AI-generated content may be incorrect.">
            <a:extLst>
              <a:ext uri="{FF2B5EF4-FFF2-40B4-BE49-F238E27FC236}">
                <a16:creationId xmlns:a16="http://schemas.microsoft.com/office/drawing/2014/main" id="{98EF324A-BFF8-6E76-2B9C-03971D40FE9B}"/>
              </a:ext>
            </a:extLst>
          </p:cNvPr>
          <p:cNvPicPr>
            <a:picLocks noChangeAspect="1"/>
          </p:cNvPicPr>
          <p:nvPr/>
        </p:nvPicPr>
        <p:blipFill>
          <a:blip r:embed="rId3"/>
          <a:stretch>
            <a:fillRect/>
          </a:stretch>
        </p:blipFill>
        <p:spPr>
          <a:xfrm>
            <a:off x="274560" y="1300301"/>
            <a:ext cx="6469924" cy="4255997"/>
          </a:xfrm>
          <a:prstGeom prst="rect">
            <a:avLst/>
          </a:prstGeom>
        </p:spPr>
      </p:pic>
      <p:sp>
        <p:nvSpPr>
          <p:cNvPr id="3" name="TextBox 2">
            <a:extLst>
              <a:ext uri="{FF2B5EF4-FFF2-40B4-BE49-F238E27FC236}">
                <a16:creationId xmlns:a16="http://schemas.microsoft.com/office/drawing/2014/main" id="{754E059A-3D7A-7E27-0C28-A18EE585970F}"/>
              </a:ext>
            </a:extLst>
          </p:cNvPr>
          <p:cNvSpPr txBox="1"/>
          <p:nvPr/>
        </p:nvSpPr>
        <p:spPr>
          <a:xfrm>
            <a:off x="7117773" y="1956954"/>
            <a:ext cx="4762500"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latin typeface="Gill Sans MT"/>
                <a:ea typeface="Segoe UI"/>
                <a:cs typeface="Segoe UI"/>
              </a:rPr>
              <a:t>Some</a:t>
            </a:r>
            <a:r>
              <a:rPr lang="en-US" sz="2400" baseline="0">
                <a:latin typeface="Gill Sans MT"/>
                <a:ea typeface="Segoe UI"/>
                <a:cs typeface="Segoe UI"/>
              </a:rPr>
              <a:t> product families carried a considerable proportion of products </a:t>
            </a:r>
            <a:r>
              <a:rPr lang="en-US" sz="2400">
                <a:latin typeface="Gill Sans MT"/>
                <a:ea typeface="Segoe UI"/>
                <a:cs typeface="Segoe UI"/>
              </a:rPr>
              <a:t>in inventory</a:t>
            </a:r>
            <a:r>
              <a:rPr lang="en-US" sz="2400" baseline="0">
                <a:latin typeface="Gill Sans MT"/>
                <a:ea typeface="Segoe UI"/>
                <a:cs typeface="Segoe UI"/>
              </a:rPr>
              <a:t>  </a:t>
            </a:r>
            <a:endParaRPr lang="en-US" sz="2400">
              <a:latin typeface="Gill Sans MT"/>
              <a:ea typeface="Calibri" panose="020F0502020204030204"/>
              <a:cs typeface="Segoe UI"/>
            </a:endParaRPr>
          </a:p>
          <a:p>
            <a:pPr marL="342900" indent="-342900">
              <a:buFont typeface="Courier New"/>
              <a:buChar char="o"/>
            </a:pPr>
            <a:r>
              <a:rPr lang="en-US" sz="2400" b="1">
                <a:latin typeface="Gill Sans MT"/>
                <a:ea typeface="Segoe UI"/>
                <a:cs typeface="Segoe UI"/>
              </a:rPr>
              <a:t>Idea:</a:t>
            </a:r>
            <a:r>
              <a:rPr lang="en-US" sz="2400">
                <a:latin typeface="Gill Sans MT"/>
                <a:ea typeface="Segoe UI"/>
                <a:cs typeface="Segoe UI"/>
              </a:rPr>
              <a:t> </a:t>
            </a:r>
            <a:r>
              <a:rPr lang="en-US" sz="2400" baseline="0">
                <a:latin typeface="Gill Sans MT"/>
                <a:ea typeface="Segoe UI"/>
                <a:cs typeface="Segoe UI"/>
              </a:rPr>
              <a:t>produce a </a:t>
            </a:r>
            <a:r>
              <a:rPr lang="en-US" sz="2400">
                <a:latin typeface="Gill Sans MT"/>
                <a:ea typeface="Segoe UI"/>
                <a:cs typeface="Segoe UI"/>
              </a:rPr>
              <a:t>segmented grading</a:t>
            </a:r>
            <a:r>
              <a:rPr lang="en-US" sz="2400" baseline="0">
                <a:latin typeface="Gill Sans MT"/>
                <a:ea typeface="Segoe UI"/>
                <a:cs typeface="Segoe UI"/>
              </a:rPr>
              <a:t> </a:t>
            </a:r>
            <a:r>
              <a:rPr lang="en-US" sz="2400">
                <a:latin typeface="Gill Sans MT"/>
                <a:ea typeface="Segoe UI"/>
                <a:cs typeface="Segoe UI"/>
              </a:rPr>
              <a:t>system containing these</a:t>
            </a:r>
            <a:r>
              <a:rPr lang="en-US" sz="2400" baseline="0">
                <a:latin typeface="Gill Sans MT"/>
                <a:ea typeface="Segoe UI"/>
                <a:cs typeface="Segoe UI"/>
              </a:rPr>
              <a:t> product families for each organization code</a:t>
            </a:r>
            <a:endParaRPr lang="en-US">
              <a:ea typeface="Calibri" panose="020F0502020204030204"/>
              <a:cs typeface="Calibri" panose="020F0502020204030204"/>
            </a:endParaRPr>
          </a:p>
          <a:p>
            <a:pPr marL="285750" indent="-285750" algn="ctr">
              <a:buFont typeface="Courier New"/>
              <a:buChar char="o"/>
            </a:pPr>
            <a:endParaRPr lang="en-US">
              <a:ea typeface="Calibri" panose="020F0502020204030204"/>
              <a:cs typeface="Calibri" panose="020F0502020204030204"/>
            </a:endParaRPr>
          </a:p>
        </p:txBody>
      </p:sp>
      <p:sp>
        <p:nvSpPr>
          <p:cNvPr id="2" name="TextBox 1">
            <a:extLst>
              <a:ext uri="{FF2B5EF4-FFF2-40B4-BE49-F238E27FC236}">
                <a16:creationId xmlns:a16="http://schemas.microsoft.com/office/drawing/2014/main" id="{DC15B026-835B-BA44-5D97-C495708D82AE}"/>
              </a:ext>
            </a:extLst>
          </p:cNvPr>
          <p:cNvSpPr txBox="1"/>
          <p:nvPr/>
        </p:nvSpPr>
        <p:spPr>
          <a:xfrm>
            <a:off x="274149" y="5551293"/>
            <a:ext cx="934887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Gill Sans MT"/>
                <a:ea typeface="Calibri" panose="020F0502020204030204"/>
                <a:cs typeface="Segoe UI"/>
              </a:rPr>
              <a:t>*Product Family ID variables have been anonymized</a:t>
            </a:r>
          </a:p>
          <a:p>
            <a:pPr algn="ctr"/>
            <a:endParaRPr lang="en-US" sz="1200">
              <a:ea typeface="Calibri" panose="020F0502020204030204"/>
              <a:cs typeface="Calibri" panose="020F0502020204030204"/>
            </a:endParaRPr>
          </a:p>
        </p:txBody>
      </p:sp>
    </p:spTree>
    <p:extLst>
      <p:ext uri="{BB962C8B-B14F-4D97-AF65-F5344CB8AC3E}">
        <p14:creationId xmlns:p14="http://schemas.microsoft.com/office/powerpoint/2010/main" val="3277541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35564" y="236479"/>
            <a:ext cx="11153580" cy="1231106"/>
          </a:xfrm>
          <a:prstGeom prst="rect">
            <a:avLst/>
          </a:prstGeom>
          <a:noFill/>
        </p:spPr>
        <p:txBody>
          <a:bodyPr wrap="square" lIns="91440" tIns="45720" rIns="91440" bIns="45720" rtlCol="0" anchor="t">
            <a:spAutoFit/>
          </a:bodyPr>
          <a:lstStyle/>
          <a:p>
            <a:r>
              <a:rPr lang="en-US" sz="3700" b="1">
                <a:solidFill>
                  <a:srgbClr val="ED7D31"/>
                </a:solidFill>
                <a:latin typeface="Gill Sans MT"/>
              </a:rPr>
              <a:t>Data Analysis: Demand Extraction &amp; Manual Cleaning</a:t>
            </a: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graphicFrame>
        <p:nvGraphicFramePr>
          <p:cNvPr id="3" name="Table 2">
            <a:extLst>
              <a:ext uri="{FF2B5EF4-FFF2-40B4-BE49-F238E27FC236}">
                <a16:creationId xmlns:a16="http://schemas.microsoft.com/office/drawing/2014/main" id="{ECBEA834-C77A-ACA9-486A-D3414DEBB5B8}"/>
              </a:ext>
            </a:extLst>
          </p:cNvPr>
          <p:cNvGraphicFramePr>
            <a:graphicFrameLocks noGrp="1"/>
          </p:cNvGraphicFramePr>
          <p:nvPr>
            <p:extLst>
              <p:ext uri="{D42A27DB-BD31-4B8C-83A1-F6EECF244321}">
                <p14:modId xmlns:p14="http://schemas.microsoft.com/office/powerpoint/2010/main" val="2848184067"/>
              </p:ext>
            </p:extLst>
          </p:nvPr>
        </p:nvGraphicFramePr>
        <p:xfrm>
          <a:off x="2433637" y="1717365"/>
          <a:ext cx="7324725" cy="3152944"/>
        </p:xfrm>
        <a:graphic>
          <a:graphicData uri="http://schemas.openxmlformats.org/drawingml/2006/table">
            <a:tbl>
              <a:tblPr bandRow="1">
                <a:tableStyleId>{5C22544A-7EE6-4342-B048-85BDC9FD1C3A}</a:tableStyleId>
              </a:tblPr>
              <a:tblGrid>
                <a:gridCol w="1266825">
                  <a:extLst>
                    <a:ext uri="{9D8B030D-6E8A-4147-A177-3AD203B41FA5}">
                      <a16:colId xmlns:a16="http://schemas.microsoft.com/office/drawing/2014/main" val="2910182931"/>
                    </a:ext>
                  </a:extLst>
                </a:gridCol>
                <a:gridCol w="1266825">
                  <a:extLst>
                    <a:ext uri="{9D8B030D-6E8A-4147-A177-3AD203B41FA5}">
                      <a16:colId xmlns:a16="http://schemas.microsoft.com/office/drawing/2014/main" val="1503255046"/>
                    </a:ext>
                  </a:extLst>
                </a:gridCol>
                <a:gridCol w="1162050">
                  <a:extLst>
                    <a:ext uri="{9D8B030D-6E8A-4147-A177-3AD203B41FA5}">
                      <a16:colId xmlns:a16="http://schemas.microsoft.com/office/drawing/2014/main" val="1952825104"/>
                    </a:ext>
                  </a:extLst>
                </a:gridCol>
                <a:gridCol w="1200150">
                  <a:extLst>
                    <a:ext uri="{9D8B030D-6E8A-4147-A177-3AD203B41FA5}">
                      <a16:colId xmlns:a16="http://schemas.microsoft.com/office/drawing/2014/main" val="3586537488"/>
                    </a:ext>
                  </a:extLst>
                </a:gridCol>
                <a:gridCol w="1304925">
                  <a:extLst>
                    <a:ext uri="{9D8B030D-6E8A-4147-A177-3AD203B41FA5}">
                      <a16:colId xmlns:a16="http://schemas.microsoft.com/office/drawing/2014/main" val="2668570407"/>
                    </a:ext>
                  </a:extLst>
                </a:gridCol>
                <a:gridCol w="1123950">
                  <a:extLst>
                    <a:ext uri="{9D8B030D-6E8A-4147-A177-3AD203B41FA5}">
                      <a16:colId xmlns:a16="http://schemas.microsoft.com/office/drawing/2014/main" val="3885157327"/>
                    </a:ext>
                  </a:extLst>
                </a:gridCol>
              </a:tblGrid>
              <a:tr h="190500">
                <a:tc>
                  <a:txBody>
                    <a:bodyPr/>
                    <a:lstStyle/>
                    <a:p>
                      <a:pPr fontAlgn="base">
                        <a:lnSpc>
                          <a:spcPts val="1350"/>
                        </a:lnSpc>
                        <a:buNone/>
                      </a:pPr>
                      <a:r>
                        <a:rPr lang="en-US" sz="1100">
                          <a:effectLst/>
                          <a:latin typeface="Gill Sans MT" panose="020B0502020104020203" pitchFamily="34" charset="0"/>
                        </a:rPr>
                        <a:t>Product Number</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Product Family</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Organization Code</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Date</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Demand</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53059226"/>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8778910"/>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2025/04</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02157996"/>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2025/05</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520361552"/>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2025/06</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59983833"/>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2025/07</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121531605"/>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2025/08</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689082742"/>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2025/09</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345411209"/>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2025/10</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017825193"/>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2025/11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59776936"/>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2025/12</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155775271"/>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2026/01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76309708"/>
                  </a:ext>
                </a:extLst>
              </a:tr>
              <a:tr h="190500">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2026/02</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623640799"/>
                  </a:ext>
                </a:extLst>
              </a:tr>
              <a:tr h="231493">
                <a:tc>
                  <a:txBody>
                    <a:bodyPr/>
                    <a:lstStyle/>
                    <a:p>
                      <a:pPr fontAlgn="base">
                        <a:lnSpc>
                          <a:spcPts val="1350"/>
                        </a:lnSpc>
                        <a:buNone/>
                      </a:pPr>
                      <a:r>
                        <a:rPr lang="en-US" sz="1100">
                          <a:effectLst/>
                          <a:latin typeface="Gill Sans MT" panose="020B0502020104020203" pitchFamily="34" charset="0"/>
                        </a:rPr>
                        <a:t>Product A</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highlight>
                            <a:srgbClr val="FFFF00"/>
                          </a:highlight>
                          <a:latin typeface="Gill Sans MT" panose="020B0502020104020203" pitchFamily="34" charset="0"/>
                        </a:rPr>
                        <a:t>Family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00"/>
                    </a:solidFill>
                  </a:tcPr>
                </a:tc>
                <a:tc>
                  <a:txBody>
                    <a:bodyPr/>
                    <a:lstStyle/>
                    <a:p>
                      <a:pPr fontAlgn="base">
                        <a:lnSpc>
                          <a:spcPts val="1350"/>
                        </a:lnSpc>
                        <a:buNone/>
                      </a:pPr>
                      <a:r>
                        <a:rPr lang="en-US" sz="1100">
                          <a:effectLst/>
                          <a:latin typeface="Gill Sans MT" panose="020B0502020104020203" pitchFamily="34" charset="0"/>
                        </a:rPr>
                        <a:t>003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Attribute 1</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Gill Sans MT" panose="020B0502020104020203" pitchFamily="34" charset="0"/>
                        </a:rPr>
                        <a:t>2026/03</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r" fontAlgn="base">
                        <a:lnSpc>
                          <a:spcPts val="1350"/>
                        </a:lnSpc>
                        <a:buNone/>
                      </a:pPr>
                      <a:r>
                        <a:rPr lang="en-US" sz="1100">
                          <a:effectLst/>
                          <a:latin typeface="Gill Sans MT" panose="020B0502020104020203" pitchFamily="34" charset="0"/>
                        </a:rPr>
                        <a:t>X</a:t>
                      </a:r>
                      <a:endParaRPr lang="en-US">
                        <a:effectLst/>
                      </a:endParaRPr>
                    </a:p>
                  </a:txBody>
                  <a:tcPr marL="9525" marR="9525" marT="9525"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585190781"/>
                  </a:ext>
                </a:extLst>
              </a:tr>
            </a:tbl>
          </a:graphicData>
        </a:graphic>
      </p:graphicFrame>
      <p:sp>
        <p:nvSpPr>
          <p:cNvPr id="5" name="TextBox 2">
            <a:extLst>
              <a:ext uri="{FF2B5EF4-FFF2-40B4-BE49-F238E27FC236}">
                <a16:creationId xmlns:a16="http://schemas.microsoft.com/office/drawing/2014/main" id="{8F5E30DF-C43E-E600-1CC5-EF4A7974BECE}"/>
              </a:ext>
            </a:extLst>
          </p:cNvPr>
          <p:cNvSpPr txBox="1"/>
          <p:nvPr/>
        </p:nvSpPr>
        <p:spPr>
          <a:xfrm>
            <a:off x="7357233" y="1628476"/>
            <a:ext cx="4079928"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Gill Sans MT"/>
              <a:ea typeface="Calibri"/>
              <a:cs typeface="Calibri"/>
            </a:endParaRPr>
          </a:p>
        </p:txBody>
      </p:sp>
      <p:sp>
        <p:nvSpPr>
          <p:cNvPr id="7" name="TextBox 6">
            <a:extLst>
              <a:ext uri="{FF2B5EF4-FFF2-40B4-BE49-F238E27FC236}">
                <a16:creationId xmlns:a16="http://schemas.microsoft.com/office/drawing/2014/main" id="{E7D402B0-98D4-9203-528C-F0808E4124C1}"/>
              </a:ext>
            </a:extLst>
          </p:cNvPr>
          <p:cNvSpPr txBox="1"/>
          <p:nvPr/>
        </p:nvSpPr>
        <p:spPr>
          <a:xfrm>
            <a:off x="1073726" y="5048250"/>
            <a:ext cx="1004454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latin typeface="Gill Sans MT"/>
                <a:ea typeface="Calibri" panose="020F0502020204030204"/>
                <a:cs typeface="Segoe UI"/>
              </a:rPr>
              <a:t>Extracted monthly demand for each spare part in each organization code</a:t>
            </a:r>
          </a:p>
          <a:p>
            <a:pPr marL="342900" indent="-342900">
              <a:buFont typeface="Courier New"/>
              <a:buChar char="o"/>
            </a:pPr>
            <a:r>
              <a:rPr lang="en-US" sz="2400">
                <a:latin typeface="Gill Sans MT"/>
                <a:ea typeface="Calibri" panose="020F0502020204030204"/>
                <a:cs typeface="Segoe UI"/>
              </a:rPr>
              <a:t>Joining issues between Table 1 and Table 2</a:t>
            </a:r>
          </a:p>
          <a:p>
            <a:pPr marL="342900" indent="-342900">
              <a:buFont typeface="Courier New"/>
              <a:buChar char="o"/>
            </a:pPr>
            <a:r>
              <a:rPr lang="en-US" sz="2400">
                <a:latin typeface="Gill Sans MT"/>
                <a:ea typeface="Calibri" panose="020F0502020204030204"/>
                <a:cs typeface="Segoe UI"/>
              </a:rPr>
              <a:t>Required manual matching and cleaning</a:t>
            </a:r>
          </a:p>
        </p:txBody>
      </p:sp>
    </p:spTree>
    <p:extLst>
      <p:ext uri="{BB962C8B-B14F-4D97-AF65-F5344CB8AC3E}">
        <p14:creationId xmlns:p14="http://schemas.microsoft.com/office/powerpoint/2010/main" val="887779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49726" y="949570"/>
            <a:ext cx="2936325" cy="2434561"/>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err="1">
              <a:latin typeface="Gill Sans MT"/>
            </a:endParaRPr>
          </a:p>
        </p:txBody>
      </p:sp>
      <p:sp>
        <p:nvSpPr>
          <p:cNvPr id="3" name="Text Placeholder 2">
            <a:extLst>
              <a:ext uri="{FF2B5EF4-FFF2-40B4-BE49-F238E27FC236}">
                <a16:creationId xmlns:a16="http://schemas.microsoft.com/office/drawing/2014/main" id="{2705D917-84A9-451F-8670-B1C61BDBD3E8}"/>
              </a:ext>
            </a:extLst>
          </p:cNvPr>
          <p:cNvSpPr>
            <a:spLocks noGrp="1"/>
          </p:cNvSpPr>
          <p:nvPr>
            <p:ph type="body" sz="quarter" idx="10"/>
          </p:nvPr>
        </p:nvSpPr>
        <p:spPr>
          <a:xfrm>
            <a:off x="3332283" y="1283171"/>
            <a:ext cx="2637442" cy="694267"/>
          </a:xfrm>
          <a:noFill/>
        </p:spPr>
        <p:txBody>
          <a:bodyPr vert="horz" lIns="91440" tIns="45720" rIns="91440" bIns="45720" rtlCol="0" anchor="t">
            <a:normAutofit/>
          </a:bodyPr>
          <a:lstStyle/>
          <a:p>
            <a:pPr marL="0" indent="0">
              <a:buNone/>
            </a:pPr>
            <a:r>
              <a:rPr lang="en-US">
                <a:latin typeface="Gill Sans MT"/>
              </a:rPr>
              <a:t>01</a:t>
            </a:r>
            <a:endParaRPr lang="en-US"/>
          </a:p>
        </p:txBody>
      </p:sp>
      <p:sp>
        <p:nvSpPr>
          <p:cNvPr id="4" name="Text Placeholder 3">
            <a:extLst>
              <a:ext uri="{FF2B5EF4-FFF2-40B4-BE49-F238E27FC236}">
                <a16:creationId xmlns:a16="http://schemas.microsoft.com/office/drawing/2014/main" id="{477F431D-77F4-49FF-8275-37E53F397184}"/>
              </a:ext>
            </a:extLst>
          </p:cNvPr>
          <p:cNvSpPr>
            <a:spLocks noGrp="1"/>
          </p:cNvSpPr>
          <p:nvPr>
            <p:ph type="body" sz="quarter" idx="11"/>
          </p:nvPr>
        </p:nvSpPr>
        <p:spPr>
          <a:xfrm>
            <a:off x="6212284" y="1283170"/>
            <a:ext cx="2637442" cy="694267"/>
          </a:xfrm>
          <a:noFill/>
        </p:spPr>
        <p:txBody>
          <a:bodyPr vert="horz" lIns="91440" tIns="45720" rIns="91440" bIns="45720" rtlCol="0" anchor="t">
            <a:normAutofit/>
          </a:bodyPr>
          <a:lstStyle/>
          <a:p>
            <a:pPr marL="0" indent="0">
              <a:buNone/>
            </a:pPr>
            <a:r>
              <a:rPr lang="en-US">
                <a:latin typeface="Gill Sans MT"/>
              </a:rPr>
              <a:t>02</a:t>
            </a:r>
            <a:endParaRPr lang="en-US"/>
          </a:p>
        </p:txBody>
      </p:sp>
      <p:sp>
        <p:nvSpPr>
          <p:cNvPr id="5" name="Text Placeholder 4">
            <a:extLst>
              <a:ext uri="{FF2B5EF4-FFF2-40B4-BE49-F238E27FC236}">
                <a16:creationId xmlns:a16="http://schemas.microsoft.com/office/drawing/2014/main" id="{6B8D8764-B3F2-4435-87A5-08C1E5721215}"/>
              </a:ext>
            </a:extLst>
          </p:cNvPr>
          <p:cNvSpPr>
            <a:spLocks noGrp="1"/>
          </p:cNvSpPr>
          <p:nvPr>
            <p:ph type="body" sz="quarter" idx="12"/>
          </p:nvPr>
        </p:nvSpPr>
        <p:spPr>
          <a:xfrm>
            <a:off x="3332283" y="3861148"/>
            <a:ext cx="2637442" cy="694267"/>
          </a:xfrm>
          <a:noFill/>
        </p:spPr>
        <p:txBody>
          <a:bodyPr vert="horz" lIns="91440" tIns="45720" rIns="91440" bIns="45720" rtlCol="0" anchor="t">
            <a:normAutofit/>
          </a:bodyPr>
          <a:lstStyle/>
          <a:p>
            <a:pPr marL="0" indent="0">
              <a:buNone/>
            </a:pPr>
            <a:r>
              <a:rPr lang="en-US">
                <a:latin typeface="Gill Sans MT"/>
              </a:rPr>
              <a:t>04</a:t>
            </a:r>
            <a:endParaRPr lang="en-US"/>
          </a:p>
        </p:txBody>
      </p:sp>
      <p:sp>
        <p:nvSpPr>
          <p:cNvPr id="6"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6212284" y="3861148"/>
            <a:ext cx="2637442" cy="694267"/>
          </a:xfrm>
          <a:noFill/>
        </p:spPr>
        <p:txBody>
          <a:bodyPr vert="horz" lIns="91440" tIns="45720" rIns="91440" bIns="45720" rtlCol="0" anchor="t">
            <a:normAutofit/>
          </a:bodyPr>
          <a:lstStyle/>
          <a:p>
            <a:pPr marL="0" indent="0">
              <a:buNone/>
            </a:pPr>
            <a:r>
              <a:rPr lang="en-US">
                <a:latin typeface="Gill Sans MT"/>
              </a:rPr>
              <a:t>05</a:t>
            </a:r>
            <a:endParaRPr lang="en-US"/>
          </a:p>
        </p:txBody>
      </p:sp>
      <p:sp>
        <p:nvSpPr>
          <p:cNvPr id="8" name="Text Placeholder 7">
            <a:extLst>
              <a:ext uri="{FF2B5EF4-FFF2-40B4-BE49-F238E27FC236}">
                <a16:creationId xmlns:a16="http://schemas.microsoft.com/office/drawing/2014/main" id="{F26BFDB0-DFB8-4D59-95A4-911D99147B08}"/>
              </a:ext>
            </a:extLst>
          </p:cNvPr>
          <p:cNvSpPr>
            <a:spLocks noGrp="1"/>
          </p:cNvSpPr>
          <p:nvPr>
            <p:ph type="body" sz="quarter" idx="18"/>
          </p:nvPr>
        </p:nvSpPr>
        <p:spPr>
          <a:xfrm>
            <a:off x="9091495" y="1283169"/>
            <a:ext cx="2637442" cy="694267"/>
          </a:xfrm>
          <a:noFill/>
        </p:spPr>
        <p:txBody>
          <a:bodyPr vert="horz" lIns="91440" tIns="45720" rIns="91440" bIns="45720" rtlCol="0" anchor="t">
            <a:normAutofit/>
          </a:bodyPr>
          <a:lstStyle/>
          <a:p>
            <a:pPr marL="0" indent="0">
              <a:buNone/>
            </a:pPr>
            <a:r>
              <a:rPr lang="en-US">
                <a:latin typeface="Gill Sans MT"/>
              </a:rPr>
              <a:t>03</a:t>
            </a:r>
            <a:endParaRPr lang="en-US"/>
          </a:p>
        </p:txBody>
      </p:sp>
      <p:sp>
        <p:nvSpPr>
          <p:cNvPr id="7" name="Text Placeholder 6">
            <a:extLst>
              <a:ext uri="{FF2B5EF4-FFF2-40B4-BE49-F238E27FC236}">
                <a16:creationId xmlns:a16="http://schemas.microsoft.com/office/drawing/2014/main" id="{CB2EC579-FB4F-4DAC-A6BF-81AC4648982C}"/>
              </a:ext>
            </a:extLst>
          </p:cNvPr>
          <p:cNvSpPr>
            <a:spLocks noGrp="1"/>
          </p:cNvSpPr>
          <p:nvPr>
            <p:ph type="body" sz="quarter" idx="15"/>
          </p:nvPr>
        </p:nvSpPr>
        <p:spPr>
          <a:noFill/>
        </p:spPr>
        <p:txBody>
          <a:bodyPr vert="horz" lIns="91440" tIns="45720" rIns="91440" bIns="45720" rtlCol="0" anchor="t">
            <a:normAutofit/>
          </a:bodyPr>
          <a:lstStyle/>
          <a:p>
            <a:pPr marL="0" indent="0">
              <a:buNone/>
            </a:pPr>
            <a:r>
              <a:rPr lang="en-US">
                <a:latin typeface="Gill Sans MT"/>
              </a:rPr>
              <a:t>Approach &amp; Methodology</a:t>
            </a:r>
            <a:endParaRPr lang="en-US"/>
          </a:p>
        </p:txBody>
      </p:sp>
      <p:sp>
        <p:nvSpPr>
          <p:cNvPr id="10" name="Text Placeholder 9">
            <a:extLst>
              <a:ext uri="{FF2B5EF4-FFF2-40B4-BE49-F238E27FC236}">
                <a16:creationId xmlns:a16="http://schemas.microsoft.com/office/drawing/2014/main" id="{45EF8CE0-ACB2-4CF2-BEA8-C5E15FAFC5B4}"/>
              </a:ext>
            </a:extLst>
          </p:cNvPr>
          <p:cNvSpPr>
            <a:spLocks noGrp="1"/>
          </p:cNvSpPr>
          <p:nvPr>
            <p:ph type="body" sz="quarter" idx="20"/>
          </p:nvPr>
        </p:nvSpPr>
        <p:spPr>
          <a:noFill/>
        </p:spPr>
        <p:txBody>
          <a:bodyPr vert="horz" lIns="91440" tIns="45720" rIns="91440" bIns="45720" rtlCol="0" anchor="t">
            <a:normAutofit/>
          </a:bodyPr>
          <a:lstStyle/>
          <a:p>
            <a:pPr marL="0" indent="0">
              <a:buNone/>
            </a:pPr>
            <a:r>
              <a:rPr lang="en-US">
                <a:latin typeface="Gill Sans MT"/>
              </a:rPr>
              <a:t>Exploratory Data Analysis</a:t>
            </a:r>
            <a:endParaRPr lang="en-US"/>
          </a:p>
        </p:txBody>
      </p:sp>
      <p:sp>
        <p:nvSpPr>
          <p:cNvPr id="11" name="Text Placeholder 10">
            <a:extLst>
              <a:ext uri="{FF2B5EF4-FFF2-40B4-BE49-F238E27FC236}">
                <a16:creationId xmlns:a16="http://schemas.microsoft.com/office/drawing/2014/main" id="{E9FDF91D-DA91-4E01-858F-E464B25076F3}"/>
              </a:ext>
            </a:extLst>
          </p:cNvPr>
          <p:cNvSpPr>
            <a:spLocks noGrp="1"/>
          </p:cNvSpPr>
          <p:nvPr>
            <p:ph type="body" sz="quarter" idx="21"/>
          </p:nvPr>
        </p:nvSpPr>
        <p:spPr>
          <a:xfrm>
            <a:off x="3332282" y="1977438"/>
            <a:ext cx="2683163" cy="1447797"/>
          </a:xfrm>
          <a:noFill/>
        </p:spPr>
        <p:txBody>
          <a:bodyPr vert="horz" lIns="91440" tIns="45720" rIns="91440" bIns="45720" rtlCol="0" anchor="t">
            <a:normAutofit/>
          </a:bodyPr>
          <a:lstStyle/>
          <a:p>
            <a:pPr marL="0" indent="0">
              <a:buNone/>
            </a:pPr>
            <a:r>
              <a:rPr lang="en-US">
                <a:latin typeface="Gill Sans MT"/>
              </a:rPr>
              <a:t>Business Intent</a:t>
            </a:r>
            <a:endParaRPr lang="en-US"/>
          </a:p>
        </p:txBody>
      </p:sp>
      <p:sp>
        <p:nvSpPr>
          <p:cNvPr id="13"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noFill/>
        </p:spPr>
        <p:txBody>
          <a:bodyPr vert="horz" lIns="91440" tIns="45720" rIns="91440" bIns="45720" rtlCol="0" anchor="t">
            <a:normAutofit/>
          </a:bodyPr>
          <a:lstStyle/>
          <a:p>
            <a:pPr marL="0" indent="0">
              <a:buNone/>
            </a:pPr>
            <a:r>
              <a:rPr lang="en-US">
                <a:latin typeface="Gill Sans MT"/>
              </a:rPr>
              <a:t>Next Steps </a:t>
            </a:r>
            <a:endParaRPr lang="en-US"/>
          </a:p>
        </p:txBody>
      </p:sp>
      <p:sp>
        <p:nvSpPr>
          <p:cNvPr id="14" name="Text Placeholder 13">
            <a:extLst>
              <a:ext uri="{FF2B5EF4-FFF2-40B4-BE49-F238E27FC236}">
                <a16:creationId xmlns:a16="http://schemas.microsoft.com/office/drawing/2014/main" id="{E02ABD5E-8B95-4E13-8A0C-73849F9744C7}"/>
              </a:ext>
            </a:extLst>
          </p:cNvPr>
          <p:cNvSpPr>
            <a:spLocks noGrp="1"/>
          </p:cNvSpPr>
          <p:nvPr>
            <p:ph type="body" sz="quarter" idx="24"/>
          </p:nvPr>
        </p:nvSpPr>
        <p:spPr>
          <a:noFill/>
        </p:spPr>
        <p:txBody>
          <a:bodyPr vert="horz" lIns="91440" tIns="45720" rIns="91440" bIns="45720" rtlCol="0" anchor="t">
            <a:normAutofit/>
          </a:bodyPr>
          <a:lstStyle/>
          <a:p>
            <a:pPr marL="0" indent="0">
              <a:buNone/>
            </a:pPr>
            <a:r>
              <a:rPr lang="en-US">
                <a:latin typeface="Gill Sans MT"/>
              </a:rPr>
              <a:t>Answer to Business Questions</a:t>
            </a:r>
            <a:endParaRPr lang="en-US">
              <a:ea typeface="Calibri" panose="020F0502020204030204"/>
              <a:cs typeface="Calibri" panose="020F0502020204030204"/>
            </a:endParaRPr>
          </a:p>
        </p:txBody>
      </p:sp>
      <p:sp>
        <p:nvSpPr>
          <p:cNvPr id="18" name="Title 17"/>
          <p:cNvSpPr>
            <a:spLocks noGrp="1"/>
          </p:cNvSpPr>
          <p:nvPr>
            <p:ph type="title"/>
          </p:nvPr>
        </p:nvSpPr>
        <p:spPr/>
        <p:txBody>
          <a:bodyPr>
            <a:normAutofit/>
          </a:bodyPr>
          <a:lstStyle/>
          <a:p>
            <a:r>
              <a:rPr lang="en-US" sz="3700" b="1">
                <a:solidFill>
                  <a:schemeClr val="accent2"/>
                </a:solidFill>
                <a:latin typeface="Gill Sans MT"/>
                <a:ea typeface="+mn-ea"/>
                <a:cs typeface="+mn-cs"/>
              </a:rPr>
              <a:t>Agenda</a:t>
            </a:r>
          </a:p>
        </p:txBody>
      </p:sp>
      <p:sp>
        <p:nvSpPr>
          <p:cNvPr id="19"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9091495" y="3861148"/>
            <a:ext cx="2637442" cy="694267"/>
          </a:xfrm>
          <a:noFill/>
        </p:spPr>
        <p:txBody>
          <a:bodyPr vert="horz" lIns="91440" tIns="45720" rIns="91440" bIns="45720" rtlCol="0" anchor="t">
            <a:normAutofit/>
          </a:bodyPr>
          <a:lstStyle/>
          <a:p>
            <a:pPr marL="0" indent="0">
              <a:buNone/>
            </a:pPr>
            <a:r>
              <a:rPr lang="en-US">
                <a:latin typeface="Gill Sans MT"/>
              </a:rPr>
              <a:t>06</a:t>
            </a:r>
            <a:endParaRPr lang="en-US"/>
          </a:p>
        </p:txBody>
      </p:sp>
      <p:sp>
        <p:nvSpPr>
          <p:cNvPr id="20"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xfrm>
            <a:off x="9091495" y="4555415"/>
            <a:ext cx="2637442" cy="1506828"/>
          </a:xfrm>
          <a:noFill/>
        </p:spPr>
        <p:txBody>
          <a:bodyPr vert="horz" lIns="91440" tIns="45720" rIns="91440" bIns="45720" rtlCol="0" anchor="t">
            <a:normAutofit/>
          </a:bodyPr>
          <a:lstStyle/>
          <a:p>
            <a:pPr marL="0" indent="0">
              <a:buNone/>
            </a:pPr>
            <a:r>
              <a:rPr lang="en-US">
                <a:latin typeface="Gill Sans MT"/>
              </a:rPr>
              <a:t>Conclusion</a:t>
            </a:r>
            <a:endParaRPr lang="en-US"/>
          </a:p>
        </p:txBody>
      </p:sp>
    </p:spTree>
    <p:extLst>
      <p:ext uri="{BB962C8B-B14F-4D97-AF65-F5344CB8AC3E}">
        <p14:creationId xmlns:p14="http://schemas.microsoft.com/office/powerpoint/2010/main" val="1230961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35564" y="236479"/>
            <a:ext cx="11153580" cy="666786"/>
          </a:xfrm>
          <a:prstGeom prst="rect">
            <a:avLst/>
          </a:prstGeom>
          <a:noFill/>
        </p:spPr>
        <p:txBody>
          <a:bodyPr wrap="square" lIns="91440" tIns="45720" rIns="91440" bIns="45720" rtlCol="0" anchor="t">
            <a:spAutoFit/>
          </a:bodyPr>
          <a:lstStyle/>
          <a:p>
            <a:r>
              <a:rPr lang="en-US" sz="3700" b="1">
                <a:solidFill>
                  <a:schemeClr val="accent2"/>
                </a:solidFill>
                <a:latin typeface="Gill Sans MT"/>
              </a:rPr>
              <a:t>Method: Description</a:t>
            </a:r>
            <a:endParaRPr lang="en-US" sz="3733" b="1">
              <a:solidFill>
                <a:schemeClr val="accent2"/>
              </a:solidFill>
              <a:latin typeface="Gill Sans MT"/>
            </a:endParaRP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982" name="TextBox 31">
            <a:extLst>
              <a:ext uri="{FF2B5EF4-FFF2-40B4-BE49-F238E27FC236}">
                <a16:creationId xmlns:a16="http://schemas.microsoft.com/office/drawing/2014/main" id="{0FE511EA-5C2F-3E05-0180-CF45D00610F9}"/>
              </a:ext>
            </a:extLst>
          </p:cNvPr>
          <p:cNvSpPr txBox="1"/>
          <p:nvPr/>
        </p:nvSpPr>
        <p:spPr>
          <a:xfrm>
            <a:off x="437233" y="901536"/>
            <a:ext cx="11585165" cy="37856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latin typeface="Gill Sans MT"/>
              </a:rPr>
              <a:t>We used a hybrid strategy to create the most mathematically accurate model: </a:t>
            </a:r>
            <a:endParaRPr lang="en-US" sz="2400">
              <a:latin typeface="Gill Sans MT"/>
              <a:ea typeface="Calibri"/>
              <a:cs typeface="Calibri"/>
            </a:endParaRPr>
          </a:p>
          <a:p>
            <a:pPr marL="800100" lvl="1" indent="-342900">
              <a:buFont typeface="Courier New"/>
              <a:buChar char="o"/>
            </a:pPr>
            <a:r>
              <a:rPr lang="en-US" sz="2400">
                <a:latin typeface="Gill Sans MT"/>
                <a:ea typeface="Calibri"/>
                <a:cs typeface="Calibri"/>
              </a:rPr>
              <a:t>Linkable Installed Base </a:t>
            </a:r>
            <a:r>
              <a:rPr lang="en-US" sz="2400">
                <a:latin typeface="Gill Sans MT"/>
                <a:ea typeface="+mn-lt"/>
                <a:cs typeface="+mn-lt"/>
              </a:rPr>
              <a:t>→ Poisson Distribution </a:t>
            </a:r>
            <a:endParaRPr lang="en-US">
              <a:latin typeface="Calibri" panose="020F0502020204030204"/>
              <a:ea typeface="Calibri"/>
              <a:cs typeface="Calibri"/>
            </a:endParaRPr>
          </a:p>
          <a:p>
            <a:pPr marL="1257300" lvl="2" indent="-342900">
              <a:buFont typeface="Wingdings"/>
              <a:buChar char="§"/>
            </a:pPr>
            <a:r>
              <a:rPr lang="en-US" sz="2400">
                <a:latin typeface="Gill Sans MT"/>
                <a:ea typeface="Calibri"/>
                <a:cs typeface="Calibri"/>
              </a:rPr>
              <a:t>Models "rare events" </a:t>
            </a:r>
          </a:p>
          <a:p>
            <a:pPr marL="800100" lvl="1" indent="-342900">
              <a:buFont typeface="Courier New"/>
              <a:buChar char="o"/>
            </a:pPr>
            <a:r>
              <a:rPr lang="en-US" sz="2400">
                <a:latin typeface="Gill Sans MT"/>
                <a:ea typeface="Calibri"/>
                <a:cs typeface="Calibri"/>
              </a:rPr>
              <a:t>Independent Demand History </a:t>
            </a:r>
            <a:r>
              <a:rPr lang="en-US" sz="2400">
                <a:latin typeface="Gill Sans MT"/>
                <a:ea typeface="+mn-lt"/>
                <a:cs typeface="+mn-lt"/>
              </a:rPr>
              <a:t>→ Time-Series Fallback with weighted monthly average</a:t>
            </a:r>
          </a:p>
          <a:p>
            <a:pPr marL="1257300" lvl="2" indent="-342900">
              <a:buFont typeface="Wingdings"/>
              <a:buChar char="§"/>
            </a:pPr>
            <a:r>
              <a:rPr lang="en-US" sz="2400">
                <a:latin typeface="Gill Sans MT"/>
                <a:ea typeface="+mn-lt"/>
                <a:cs typeface="+mn-lt"/>
              </a:rPr>
              <a:t>Alleviates</a:t>
            </a:r>
            <a:r>
              <a:rPr lang="en-US" sz="2400">
                <a:latin typeface="Gill Sans MT"/>
                <a:ea typeface="Calibri"/>
                <a:cs typeface="Calibri"/>
              </a:rPr>
              <a:t> missing information</a:t>
            </a:r>
          </a:p>
          <a:p>
            <a:pPr marL="1257300" lvl="2" indent="-342900">
              <a:buFont typeface="Wingdings"/>
              <a:buChar char="§"/>
            </a:pPr>
            <a:endParaRPr lang="en-US" sz="2400">
              <a:latin typeface="Gill Sans MT"/>
              <a:ea typeface="Calibri"/>
              <a:cs typeface="Calibri"/>
            </a:endParaRPr>
          </a:p>
          <a:p>
            <a:r>
              <a:rPr lang="en-US" sz="2400">
                <a:latin typeface="Gill Sans MT"/>
                <a:ea typeface="Calibri"/>
                <a:cs typeface="Calibri"/>
              </a:rPr>
              <a:t>Automated Decision Gate:</a:t>
            </a:r>
          </a:p>
          <a:p>
            <a:pPr marL="742950" lvl="1" indent="-285750">
              <a:buFont typeface="Courier New"/>
              <a:buChar char="o"/>
            </a:pPr>
            <a:r>
              <a:rPr lang="en-US" sz="2400">
                <a:latin typeface="Gill Sans MT"/>
                <a:ea typeface="Calibri"/>
                <a:cs typeface="Calibri"/>
              </a:rPr>
              <a:t>If total install base is found, Poisson model is ran</a:t>
            </a:r>
          </a:p>
          <a:p>
            <a:pPr marL="742950" lvl="1" indent="-285750">
              <a:buFont typeface="Courier New"/>
              <a:buChar char="o"/>
            </a:pPr>
            <a:r>
              <a:rPr lang="en-US" sz="2400">
                <a:latin typeface="Gill Sans MT"/>
                <a:ea typeface="Calibri"/>
                <a:cs typeface="Calibri"/>
              </a:rPr>
              <a:t>If no family match: Trigger time-series fallback</a:t>
            </a:r>
          </a:p>
          <a:p>
            <a:pPr marL="742950" lvl="1" indent="-285750">
              <a:buFont typeface="Courier New"/>
              <a:buChar char="o"/>
            </a:pPr>
            <a:r>
              <a:rPr lang="en-US" sz="2400">
                <a:latin typeface="Gill Sans MT"/>
                <a:ea typeface="Calibri"/>
                <a:cs typeface="Calibri"/>
              </a:rPr>
              <a:t>Maintain a service level of 95% for a fill rate</a:t>
            </a:r>
          </a:p>
        </p:txBody>
      </p:sp>
    </p:spTree>
    <p:extLst>
      <p:ext uri="{BB962C8B-B14F-4D97-AF65-F5344CB8AC3E}">
        <p14:creationId xmlns:p14="http://schemas.microsoft.com/office/powerpoint/2010/main" val="1428984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FBC638D-45DC-08E4-A4A7-C1F8CB8A4A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6F7284-C767-A709-2AE7-0D43CF434921}"/>
              </a:ext>
            </a:extLst>
          </p:cNvPr>
          <p:cNvSpPr txBox="1"/>
          <p:nvPr/>
        </p:nvSpPr>
        <p:spPr>
          <a:xfrm>
            <a:off x="233235" y="906233"/>
            <a:ext cx="11723323"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sz="2800">
                <a:solidFill>
                  <a:srgbClr val="1F1F1F"/>
                </a:solidFill>
                <a:latin typeface="Gill Sans MT"/>
              </a:rPr>
              <a:t>We then created a Power BI dashboard to show all the predicted values for each part number for each depot </a:t>
            </a:r>
            <a:endParaRPr lang="en-US" sz="2800">
              <a:solidFill>
                <a:srgbClr val="000000"/>
              </a:solidFill>
              <a:latin typeface="Calibri" panose="020F0502020204030204"/>
              <a:ea typeface="Calibri" panose="020F0502020204030204"/>
              <a:cs typeface="Calibri" panose="020F0502020204030204"/>
            </a:endParaRPr>
          </a:p>
          <a:p>
            <a:pPr marL="1371600" lvl="2" indent="-457200">
              <a:buFont typeface="Courier New"/>
              <a:buChar char="o"/>
            </a:pPr>
            <a:r>
              <a:rPr lang="en-US" sz="2800">
                <a:solidFill>
                  <a:srgbClr val="1F1F1F"/>
                </a:solidFill>
                <a:latin typeface="Gill Sans MT"/>
              </a:rPr>
              <a:t>If price data found and confirmed for the specific product number, we would also reclassify the part within a A,B,C rating based on the 80,15,5 rule</a:t>
            </a:r>
            <a:endParaRPr lang="en-US" sz="2800">
              <a:solidFill>
                <a:srgbClr val="000000"/>
              </a:solidFill>
              <a:latin typeface="Calibri" panose="020F0502020204030204"/>
              <a:ea typeface="Calibri" panose="020F0502020204030204"/>
              <a:cs typeface="Calibri" panose="020F0502020204030204"/>
            </a:endParaRPr>
          </a:p>
          <a:p>
            <a:pPr marL="457200" indent="-457200">
              <a:buFont typeface="Arial"/>
              <a:buChar char="•"/>
            </a:pPr>
            <a:endParaRPr lang="en-US" sz="2800">
              <a:solidFill>
                <a:srgbClr val="1F1F1F"/>
              </a:solidFill>
              <a:latin typeface="Gill Sans MT"/>
            </a:endParaRPr>
          </a:p>
          <a:p>
            <a:endParaRPr lang="en-US" sz="2400">
              <a:solidFill>
                <a:srgbClr val="1F1F1F"/>
              </a:solidFill>
              <a:latin typeface="Gill Sans MT"/>
              <a:ea typeface="Calibri" panose="020F0502020204030204"/>
              <a:cs typeface="Calibri" panose="020F0502020204030204"/>
            </a:endParaRPr>
          </a:p>
          <a:p>
            <a:endParaRPr lang="en-US" sz="2400">
              <a:solidFill>
                <a:srgbClr val="1F1F1F"/>
              </a:solidFill>
              <a:latin typeface="Gill Sans MT"/>
            </a:endParaRPr>
          </a:p>
          <a:p>
            <a:pPr marL="171450" indent="-171450">
              <a:buFont typeface="Arial"/>
              <a:buChar char="•"/>
            </a:pPr>
            <a:endParaRPr lang="en-US" sz="2400">
              <a:solidFill>
                <a:srgbClr val="1F1F1F"/>
              </a:solidFill>
              <a:latin typeface="Gill Sans MT"/>
            </a:endParaRPr>
          </a:p>
        </p:txBody>
      </p:sp>
      <p:sp>
        <p:nvSpPr>
          <p:cNvPr id="9" name="TextBox 8">
            <a:extLst>
              <a:ext uri="{FF2B5EF4-FFF2-40B4-BE49-F238E27FC236}">
                <a16:creationId xmlns:a16="http://schemas.microsoft.com/office/drawing/2014/main" id="{51EA5E75-51C9-60AA-261A-C5268E61763E}"/>
              </a:ext>
            </a:extLst>
          </p:cNvPr>
          <p:cNvSpPr txBox="1"/>
          <p:nvPr/>
        </p:nvSpPr>
        <p:spPr>
          <a:xfrm>
            <a:off x="435564" y="236479"/>
            <a:ext cx="11153580" cy="666786"/>
          </a:xfrm>
          <a:prstGeom prst="rect">
            <a:avLst/>
          </a:prstGeom>
          <a:noFill/>
        </p:spPr>
        <p:txBody>
          <a:bodyPr wrap="square" lIns="91440" tIns="45720" rIns="91440" bIns="45720" rtlCol="0" anchor="t">
            <a:spAutoFit/>
          </a:bodyPr>
          <a:lstStyle/>
          <a:p>
            <a:r>
              <a:rPr lang="en-US" sz="3700" b="1">
                <a:solidFill>
                  <a:schemeClr val="accent2"/>
                </a:solidFill>
                <a:latin typeface="Gill Sans MT"/>
              </a:rPr>
              <a:t>Model Results</a:t>
            </a:r>
            <a:endParaRPr lang="en-US">
              <a:solidFill>
                <a:schemeClr val="accent2"/>
              </a:solidFill>
            </a:endParaRPr>
          </a:p>
        </p:txBody>
      </p:sp>
      <p:graphicFrame>
        <p:nvGraphicFramePr>
          <p:cNvPr id="6" name="Table 5">
            <a:extLst>
              <a:ext uri="{FF2B5EF4-FFF2-40B4-BE49-F238E27FC236}">
                <a16:creationId xmlns:a16="http://schemas.microsoft.com/office/drawing/2014/main" id="{3F423530-4650-73F8-5C7F-18E3E7ED37E9}"/>
              </a:ext>
            </a:extLst>
          </p:cNvPr>
          <p:cNvGraphicFramePr>
            <a:graphicFrameLocks noGrp="1"/>
          </p:cNvGraphicFramePr>
          <p:nvPr>
            <p:extLst>
              <p:ext uri="{D42A27DB-BD31-4B8C-83A1-F6EECF244321}">
                <p14:modId xmlns:p14="http://schemas.microsoft.com/office/powerpoint/2010/main" val="1646752311"/>
              </p:ext>
            </p:extLst>
          </p:nvPr>
        </p:nvGraphicFramePr>
        <p:xfrm>
          <a:off x="1232362" y="3432672"/>
          <a:ext cx="9729929" cy="1076611"/>
        </p:xfrm>
        <a:graphic>
          <a:graphicData uri="http://schemas.openxmlformats.org/drawingml/2006/table">
            <a:tbl>
              <a:tblPr firstRow="1" bandRow="1">
                <a:tableStyleId>{5C22544A-7EE6-4342-B048-85BDC9FD1C3A}</a:tableStyleId>
              </a:tblPr>
              <a:tblGrid>
                <a:gridCol w="2227384">
                  <a:extLst>
                    <a:ext uri="{9D8B030D-6E8A-4147-A177-3AD203B41FA5}">
                      <a16:colId xmlns:a16="http://schemas.microsoft.com/office/drawing/2014/main" val="582218733"/>
                    </a:ext>
                  </a:extLst>
                </a:gridCol>
                <a:gridCol w="1664587">
                  <a:extLst>
                    <a:ext uri="{9D8B030D-6E8A-4147-A177-3AD203B41FA5}">
                      <a16:colId xmlns:a16="http://schemas.microsoft.com/office/drawing/2014/main" val="2864232537"/>
                    </a:ext>
                  </a:extLst>
                </a:gridCol>
                <a:gridCol w="1945986">
                  <a:extLst>
                    <a:ext uri="{9D8B030D-6E8A-4147-A177-3AD203B41FA5}">
                      <a16:colId xmlns:a16="http://schemas.microsoft.com/office/drawing/2014/main" val="2047514814"/>
                    </a:ext>
                  </a:extLst>
                </a:gridCol>
                <a:gridCol w="1945986">
                  <a:extLst>
                    <a:ext uri="{9D8B030D-6E8A-4147-A177-3AD203B41FA5}">
                      <a16:colId xmlns:a16="http://schemas.microsoft.com/office/drawing/2014/main" val="882713370"/>
                    </a:ext>
                  </a:extLst>
                </a:gridCol>
                <a:gridCol w="1945986">
                  <a:extLst>
                    <a:ext uri="{9D8B030D-6E8A-4147-A177-3AD203B41FA5}">
                      <a16:colId xmlns:a16="http://schemas.microsoft.com/office/drawing/2014/main" val="434778170"/>
                    </a:ext>
                  </a:extLst>
                </a:gridCol>
              </a:tblGrid>
              <a:tr h="527538">
                <a:tc>
                  <a:txBody>
                    <a:bodyPr/>
                    <a:lstStyle/>
                    <a:p>
                      <a:r>
                        <a:rPr lang="en-US">
                          <a:latin typeface="Gill Sans MT"/>
                        </a:rPr>
                        <a:t>Product Number</a:t>
                      </a:r>
                    </a:p>
                  </a:txBody>
                  <a:tcPr/>
                </a:tc>
                <a:tc>
                  <a:txBody>
                    <a:bodyPr/>
                    <a:lstStyle/>
                    <a:p>
                      <a:r>
                        <a:rPr lang="en-US">
                          <a:latin typeface="Gill Sans MT"/>
                        </a:rPr>
                        <a:t>Target Level</a:t>
                      </a:r>
                    </a:p>
                  </a:txBody>
                  <a:tcPr/>
                </a:tc>
                <a:tc>
                  <a:txBody>
                    <a:bodyPr/>
                    <a:lstStyle/>
                    <a:p>
                      <a:r>
                        <a:rPr lang="en-US">
                          <a:latin typeface="Gill Sans MT"/>
                        </a:rPr>
                        <a:t>Model Used</a:t>
                      </a:r>
                    </a:p>
                  </a:txBody>
                  <a:tcPr/>
                </a:tc>
                <a:tc>
                  <a:txBody>
                    <a:bodyPr/>
                    <a:lstStyle/>
                    <a:p>
                      <a:r>
                        <a:rPr lang="en-US">
                          <a:latin typeface="Gill Sans MT"/>
                        </a:rPr>
                        <a:t>Location</a:t>
                      </a:r>
                    </a:p>
                  </a:txBody>
                  <a:tcPr/>
                </a:tc>
                <a:tc>
                  <a:txBody>
                    <a:bodyPr/>
                    <a:lstStyle/>
                    <a:p>
                      <a:r>
                        <a:rPr lang="en-US">
                          <a:latin typeface="Gill Sans MT"/>
                        </a:rPr>
                        <a:t>ABC Rating</a:t>
                      </a:r>
                    </a:p>
                  </a:txBody>
                  <a:tcPr/>
                </a:tc>
                <a:extLst>
                  <a:ext uri="{0D108BD9-81ED-4DB2-BD59-A6C34878D82A}">
                    <a16:rowId xmlns:a16="http://schemas.microsoft.com/office/drawing/2014/main" val="2794764913"/>
                  </a:ext>
                </a:extLst>
              </a:tr>
              <a:tr h="549073">
                <a:tc>
                  <a:txBody>
                    <a:bodyPr/>
                    <a:lstStyle/>
                    <a:p>
                      <a:r>
                        <a:rPr lang="en-US">
                          <a:latin typeface="Gill Sans MT"/>
                        </a:rPr>
                        <a:t>Part XYZ</a:t>
                      </a:r>
                    </a:p>
                  </a:txBody>
                  <a:tcPr/>
                </a:tc>
                <a:tc>
                  <a:txBody>
                    <a:bodyPr/>
                    <a:lstStyle/>
                    <a:p>
                      <a:r>
                        <a:rPr lang="en-US">
                          <a:latin typeface="Gill Sans MT"/>
                        </a:rPr>
                        <a:t>X</a:t>
                      </a:r>
                    </a:p>
                  </a:txBody>
                  <a:tcPr/>
                </a:tc>
                <a:tc>
                  <a:txBody>
                    <a:bodyPr/>
                    <a:lstStyle/>
                    <a:p>
                      <a:r>
                        <a:rPr lang="en-US">
                          <a:latin typeface="Gill Sans MT"/>
                        </a:rPr>
                        <a:t>Poisson</a:t>
                      </a:r>
                    </a:p>
                  </a:txBody>
                  <a:tcPr/>
                </a:tc>
                <a:tc>
                  <a:txBody>
                    <a:bodyPr/>
                    <a:lstStyle/>
                    <a:p>
                      <a:r>
                        <a:rPr lang="en-US">
                          <a:latin typeface="Gill Sans MT"/>
                        </a:rPr>
                        <a:t>Location Z</a:t>
                      </a:r>
                    </a:p>
                  </a:txBody>
                  <a:tcPr/>
                </a:tc>
                <a:tc>
                  <a:txBody>
                    <a:bodyPr/>
                    <a:lstStyle/>
                    <a:p>
                      <a:r>
                        <a:rPr lang="en-US">
                          <a:latin typeface="Gill Sans MT"/>
                        </a:rPr>
                        <a:t>A</a:t>
                      </a:r>
                    </a:p>
                  </a:txBody>
                  <a:tcPr/>
                </a:tc>
                <a:extLst>
                  <a:ext uri="{0D108BD9-81ED-4DB2-BD59-A6C34878D82A}">
                    <a16:rowId xmlns:a16="http://schemas.microsoft.com/office/drawing/2014/main" val="788735755"/>
                  </a:ext>
                </a:extLst>
              </a:tr>
            </a:tbl>
          </a:graphicData>
        </a:graphic>
      </p:graphicFrame>
    </p:spTree>
    <p:extLst>
      <p:ext uri="{BB962C8B-B14F-4D97-AF65-F5344CB8AC3E}">
        <p14:creationId xmlns:p14="http://schemas.microsoft.com/office/powerpoint/2010/main" val="1239768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32282" y="3861148"/>
            <a:ext cx="2936325" cy="2434561"/>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err="1">
              <a:latin typeface="Gill Sans MT"/>
            </a:endParaRPr>
          </a:p>
        </p:txBody>
      </p:sp>
      <p:sp>
        <p:nvSpPr>
          <p:cNvPr id="3" name="Text Placeholder 2">
            <a:extLst>
              <a:ext uri="{FF2B5EF4-FFF2-40B4-BE49-F238E27FC236}">
                <a16:creationId xmlns:a16="http://schemas.microsoft.com/office/drawing/2014/main" id="{2705D917-84A9-451F-8670-B1C61BDBD3E8}"/>
              </a:ext>
            </a:extLst>
          </p:cNvPr>
          <p:cNvSpPr>
            <a:spLocks noGrp="1"/>
          </p:cNvSpPr>
          <p:nvPr>
            <p:ph type="body" sz="quarter" idx="10"/>
          </p:nvPr>
        </p:nvSpPr>
        <p:spPr>
          <a:xfrm>
            <a:off x="3332283" y="1283171"/>
            <a:ext cx="2637442" cy="694267"/>
          </a:xfrm>
          <a:noFill/>
        </p:spPr>
        <p:txBody>
          <a:bodyPr vert="horz" lIns="91440" tIns="45720" rIns="91440" bIns="45720" rtlCol="0" anchor="t">
            <a:normAutofit/>
          </a:bodyPr>
          <a:lstStyle/>
          <a:p>
            <a:pPr marL="0" indent="0">
              <a:buNone/>
            </a:pPr>
            <a:r>
              <a:rPr lang="en-US">
                <a:latin typeface="Gill Sans MT"/>
              </a:rPr>
              <a:t>01</a:t>
            </a:r>
            <a:endParaRPr lang="en-US"/>
          </a:p>
        </p:txBody>
      </p:sp>
      <p:sp>
        <p:nvSpPr>
          <p:cNvPr id="4" name="Text Placeholder 3">
            <a:extLst>
              <a:ext uri="{FF2B5EF4-FFF2-40B4-BE49-F238E27FC236}">
                <a16:creationId xmlns:a16="http://schemas.microsoft.com/office/drawing/2014/main" id="{477F431D-77F4-49FF-8275-37E53F397184}"/>
              </a:ext>
            </a:extLst>
          </p:cNvPr>
          <p:cNvSpPr>
            <a:spLocks noGrp="1"/>
          </p:cNvSpPr>
          <p:nvPr>
            <p:ph type="body" sz="quarter" idx="11"/>
          </p:nvPr>
        </p:nvSpPr>
        <p:spPr>
          <a:xfrm>
            <a:off x="6212284" y="1283170"/>
            <a:ext cx="2637442" cy="694267"/>
          </a:xfrm>
          <a:noFill/>
        </p:spPr>
        <p:txBody>
          <a:bodyPr vert="horz" lIns="91440" tIns="45720" rIns="91440" bIns="45720" rtlCol="0" anchor="t">
            <a:normAutofit/>
          </a:bodyPr>
          <a:lstStyle/>
          <a:p>
            <a:pPr marL="0" indent="0">
              <a:buNone/>
            </a:pPr>
            <a:r>
              <a:rPr lang="en-US">
                <a:latin typeface="Gill Sans MT"/>
              </a:rPr>
              <a:t>02</a:t>
            </a:r>
            <a:endParaRPr lang="en-US"/>
          </a:p>
        </p:txBody>
      </p:sp>
      <p:sp>
        <p:nvSpPr>
          <p:cNvPr id="5" name="Text Placeholder 4">
            <a:extLst>
              <a:ext uri="{FF2B5EF4-FFF2-40B4-BE49-F238E27FC236}">
                <a16:creationId xmlns:a16="http://schemas.microsoft.com/office/drawing/2014/main" id="{6B8D8764-B3F2-4435-87A5-08C1E5721215}"/>
              </a:ext>
            </a:extLst>
          </p:cNvPr>
          <p:cNvSpPr>
            <a:spLocks noGrp="1"/>
          </p:cNvSpPr>
          <p:nvPr>
            <p:ph type="body" sz="quarter" idx="12"/>
          </p:nvPr>
        </p:nvSpPr>
        <p:spPr>
          <a:xfrm>
            <a:off x="3332283" y="3861148"/>
            <a:ext cx="2637442" cy="694267"/>
          </a:xfrm>
          <a:noFill/>
        </p:spPr>
        <p:txBody>
          <a:bodyPr vert="horz" lIns="91440" tIns="45720" rIns="91440" bIns="45720" rtlCol="0" anchor="t">
            <a:normAutofit/>
          </a:bodyPr>
          <a:lstStyle/>
          <a:p>
            <a:pPr marL="0" indent="0">
              <a:buNone/>
            </a:pPr>
            <a:r>
              <a:rPr lang="en-US">
                <a:latin typeface="Gill Sans MT"/>
              </a:rPr>
              <a:t>04</a:t>
            </a:r>
            <a:endParaRPr lang="en-US"/>
          </a:p>
        </p:txBody>
      </p:sp>
      <p:sp>
        <p:nvSpPr>
          <p:cNvPr id="6"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6212284" y="3861148"/>
            <a:ext cx="2637442" cy="694267"/>
          </a:xfrm>
          <a:noFill/>
        </p:spPr>
        <p:txBody>
          <a:bodyPr vert="horz" lIns="91440" tIns="45720" rIns="91440" bIns="45720" rtlCol="0" anchor="t">
            <a:normAutofit/>
          </a:bodyPr>
          <a:lstStyle/>
          <a:p>
            <a:pPr marL="0" indent="0">
              <a:buNone/>
            </a:pPr>
            <a:r>
              <a:rPr lang="en-US">
                <a:latin typeface="Gill Sans MT"/>
              </a:rPr>
              <a:t>05</a:t>
            </a:r>
            <a:endParaRPr lang="en-US"/>
          </a:p>
        </p:txBody>
      </p:sp>
      <p:sp>
        <p:nvSpPr>
          <p:cNvPr id="8" name="Text Placeholder 7">
            <a:extLst>
              <a:ext uri="{FF2B5EF4-FFF2-40B4-BE49-F238E27FC236}">
                <a16:creationId xmlns:a16="http://schemas.microsoft.com/office/drawing/2014/main" id="{F26BFDB0-DFB8-4D59-95A4-911D99147B08}"/>
              </a:ext>
            </a:extLst>
          </p:cNvPr>
          <p:cNvSpPr>
            <a:spLocks noGrp="1"/>
          </p:cNvSpPr>
          <p:nvPr>
            <p:ph type="body" sz="quarter" idx="18"/>
          </p:nvPr>
        </p:nvSpPr>
        <p:spPr>
          <a:xfrm>
            <a:off x="9091495" y="1283169"/>
            <a:ext cx="2637442" cy="694267"/>
          </a:xfrm>
          <a:noFill/>
        </p:spPr>
        <p:txBody>
          <a:bodyPr vert="horz" lIns="91440" tIns="45720" rIns="91440" bIns="45720" rtlCol="0" anchor="t">
            <a:normAutofit/>
          </a:bodyPr>
          <a:lstStyle/>
          <a:p>
            <a:pPr marL="0" indent="0">
              <a:buNone/>
            </a:pPr>
            <a:r>
              <a:rPr lang="en-US">
                <a:latin typeface="Gill Sans MT"/>
              </a:rPr>
              <a:t>03</a:t>
            </a:r>
            <a:endParaRPr lang="en-US"/>
          </a:p>
        </p:txBody>
      </p:sp>
      <p:sp>
        <p:nvSpPr>
          <p:cNvPr id="7" name="Text Placeholder 6">
            <a:extLst>
              <a:ext uri="{FF2B5EF4-FFF2-40B4-BE49-F238E27FC236}">
                <a16:creationId xmlns:a16="http://schemas.microsoft.com/office/drawing/2014/main" id="{CB2EC579-FB4F-4DAC-A6BF-81AC4648982C}"/>
              </a:ext>
            </a:extLst>
          </p:cNvPr>
          <p:cNvSpPr>
            <a:spLocks noGrp="1"/>
          </p:cNvSpPr>
          <p:nvPr>
            <p:ph type="body" sz="quarter" idx="15"/>
          </p:nvPr>
        </p:nvSpPr>
        <p:spPr>
          <a:noFill/>
        </p:spPr>
        <p:txBody>
          <a:bodyPr vert="horz" lIns="91440" tIns="45720" rIns="91440" bIns="45720" rtlCol="0" anchor="t">
            <a:normAutofit/>
          </a:bodyPr>
          <a:lstStyle/>
          <a:p>
            <a:pPr marL="0" indent="0">
              <a:buNone/>
            </a:pPr>
            <a:r>
              <a:rPr lang="en-US">
                <a:latin typeface="Gill Sans MT"/>
              </a:rPr>
              <a:t>Approach &amp; Methodology</a:t>
            </a:r>
            <a:endParaRPr lang="en-US"/>
          </a:p>
        </p:txBody>
      </p:sp>
      <p:sp>
        <p:nvSpPr>
          <p:cNvPr id="10" name="Text Placeholder 9">
            <a:extLst>
              <a:ext uri="{FF2B5EF4-FFF2-40B4-BE49-F238E27FC236}">
                <a16:creationId xmlns:a16="http://schemas.microsoft.com/office/drawing/2014/main" id="{45EF8CE0-ACB2-4CF2-BEA8-C5E15FAFC5B4}"/>
              </a:ext>
            </a:extLst>
          </p:cNvPr>
          <p:cNvSpPr>
            <a:spLocks noGrp="1"/>
          </p:cNvSpPr>
          <p:nvPr>
            <p:ph type="body" sz="quarter" idx="20"/>
          </p:nvPr>
        </p:nvSpPr>
        <p:spPr>
          <a:noFill/>
        </p:spPr>
        <p:txBody>
          <a:bodyPr vert="horz" lIns="91440" tIns="45720" rIns="91440" bIns="45720" rtlCol="0" anchor="t">
            <a:normAutofit/>
          </a:bodyPr>
          <a:lstStyle/>
          <a:p>
            <a:pPr marL="0" indent="0">
              <a:buNone/>
            </a:pPr>
            <a:r>
              <a:rPr lang="en-US">
                <a:latin typeface="Gill Sans MT"/>
              </a:rPr>
              <a:t>Exploratory Data Analysis</a:t>
            </a:r>
            <a:endParaRPr lang="en-US"/>
          </a:p>
        </p:txBody>
      </p:sp>
      <p:sp>
        <p:nvSpPr>
          <p:cNvPr id="11" name="Text Placeholder 10">
            <a:extLst>
              <a:ext uri="{FF2B5EF4-FFF2-40B4-BE49-F238E27FC236}">
                <a16:creationId xmlns:a16="http://schemas.microsoft.com/office/drawing/2014/main" id="{E9FDF91D-DA91-4E01-858F-E464B25076F3}"/>
              </a:ext>
            </a:extLst>
          </p:cNvPr>
          <p:cNvSpPr>
            <a:spLocks noGrp="1"/>
          </p:cNvSpPr>
          <p:nvPr>
            <p:ph type="body" sz="quarter" idx="21"/>
          </p:nvPr>
        </p:nvSpPr>
        <p:spPr>
          <a:xfrm>
            <a:off x="3332282" y="1977438"/>
            <a:ext cx="2683163" cy="1447797"/>
          </a:xfrm>
          <a:noFill/>
        </p:spPr>
        <p:txBody>
          <a:bodyPr vert="horz" lIns="91440" tIns="45720" rIns="91440" bIns="45720" rtlCol="0" anchor="t">
            <a:normAutofit/>
          </a:bodyPr>
          <a:lstStyle/>
          <a:p>
            <a:pPr marL="0" indent="0">
              <a:buNone/>
            </a:pPr>
            <a:r>
              <a:rPr lang="en-US">
                <a:latin typeface="Gill Sans MT"/>
              </a:rPr>
              <a:t>Business Intent</a:t>
            </a:r>
            <a:endParaRPr lang="en-US"/>
          </a:p>
        </p:txBody>
      </p:sp>
      <p:sp>
        <p:nvSpPr>
          <p:cNvPr id="13"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noFill/>
        </p:spPr>
        <p:txBody>
          <a:bodyPr vert="horz" lIns="91440" tIns="45720" rIns="91440" bIns="45720" rtlCol="0" anchor="t">
            <a:normAutofit/>
          </a:bodyPr>
          <a:lstStyle/>
          <a:p>
            <a:pPr marL="0" indent="0">
              <a:buNone/>
            </a:pPr>
            <a:r>
              <a:rPr lang="en-US">
                <a:latin typeface="Gill Sans MT"/>
              </a:rPr>
              <a:t>Next Steps</a:t>
            </a:r>
            <a:endParaRPr lang="en-US"/>
          </a:p>
        </p:txBody>
      </p:sp>
      <p:sp>
        <p:nvSpPr>
          <p:cNvPr id="14" name="Text Placeholder 13">
            <a:extLst>
              <a:ext uri="{FF2B5EF4-FFF2-40B4-BE49-F238E27FC236}">
                <a16:creationId xmlns:a16="http://schemas.microsoft.com/office/drawing/2014/main" id="{E02ABD5E-8B95-4E13-8A0C-73849F9744C7}"/>
              </a:ext>
            </a:extLst>
          </p:cNvPr>
          <p:cNvSpPr>
            <a:spLocks noGrp="1"/>
          </p:cNvSpPr>
          <p:nvPr>
            <p:ph type="body" sz="quarter" idx="24"/>
          </p:nvPr>
        </p:nvSpPr>
        <p:spPr>
          <a:noFill/>
        </p:spPr>
        <p:txBody>
          <a:bodyPr vert="horz" lIns="91440" tIns="45720" rIns="91440" bIns="45720" rtlCol="0" anchor="t">
            <a:normAutofit/>
          </a:bodyPr>
          <a:lstStyle/>
          <a:p>
            <a:pPr marL="0" indent="0">
              <a:buNone/>
            </a:pPr>
            <a:r>
              <a:rPr lang="en-US">
                <a:latin typeface="Gill Sans MT"/>
              </a:rPr>
              <a:t>Answer to Business Questions </a:t>
            </a:r>
            <a:endParaRPr lang="en-US">
              <a:ea typeface="Calibri" panose="020F0502020204030204"/>
              <a:cs typeface="Calibri" panose="020F0502020204030204"/>
            </a:endParaRPr>
          </a:p>
        </p:txBody>
      </p:sp>
      <p:sp>
        <p:nvSpPr>
          <p:cNvPr id="18" name="Title 17"/>
          <p:cNvSpPr>
            <a:spLocks noGrp="1"/>
          </p:cNvSpPr>
          <p:nvPr>
            <p:ph type="title"/>
          </p:nvPr>
        </p:nvSpPr>
        <p:spPr/>
        <p:txBody>
          <a:bodyPr>
            <a:normAutofit/>
          </a:bodyPr>
          <a:lstStyle/>
          <a:p>
            <a:r>
              <a:rPr lang="en-US" sz="3700" b="1">
                <a:solidFill>
                  <a:schemeClr val="accent2"/>
                </a:solidFill>
                <a:latin typeface="Gill Sans MT"/>
                <a:ea typeface="+mn-ea"/>
                <a:cs typeface="+mn-cs"/>
              </a:rPr>
              <a:t>Agenda</a:t>
            </a:r>
          </a:p>
        </p:txBody>
      </p:sp>
      <p:sp>
        <p:nvSpPr>
          <p:cNvPr id="19"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9091495" y="3861148"/>
            <a:ext cx="2637442" cy="694267"/>
          </a:xfrm>
          <a:noFill/>
        </p:spPr>
        <p:txBody>
          <a:bodyPr vert="horz" lIns="91440" tIns="45720" rIns="91440" bIns="45720" rtlCol="0" anchor="t">
            <a:normAutofit/>
          </a:bodyPr>
          <a:lstStyle/>
          <a:p>
            <a:pPr marL="0" indent="0">
              <a:buNone/>
            </a:pPr>
            <a:r>
              <a:rPr lang="en-US">
                <a:latin typeface="Gill Sans MT"/>
              </a:rPr>
              <a:t>06</a:t>
            </a:r>
            <a:endParaRPr lang="en-US"/>
          </a:p>
        </p:txBody>
      </p:sp>
      <p:sp>
        <p:nvSpPr>
          <p:cNvPr id="20"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xfrm>
            <a:off x="9091495" y="4555415"/>
            <a:ext cx="2637442" cy="1506828"/>
          </a:xfrm>
          <a:noFill/>
        </p:spPr>
        <p:txBody>
          <a:bodyPr vert="horz" lIns="91440" tIns="45720" rIns="91440" bIns="45720" rtlCol="0" anchor="t">
            <a:normAutofit/>
          </a:bodyPr>
          <a:lstStyle/>
          <a:p>
            <a:pPr marL="0" indent="0">
              <a:buNone/>
            </a:pPr>
            <a:r>
              <a:rPr lang="en-US">
                <a:latin typeface="Gill Sans MT"/>
              </a:rPr>
              <a:t>Conclusion</a:t>
            </a:r>
            <a:endParaRPr lang="en-US"/>
          </a:p>
        </p:txBody>
      </p:sp>
    </p:spTree>
    <p:extLst>
      <p:ext uri="{BB962C8B-B14F-4D97-AF65-F5344CB8AC3E}">
        <p14:creationId xmlns:p14="http://schemas.microsoft.com/office/powerpoint/2010/main" val="3475180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35564" y="236479"/>
            <a:ext cx="11153580" cy="666786"/>
          </a:xfrm>
          <a:prstGeom prst="rect">
            <a:avLst/>
          </a:prstGeom>
          <a:noFill/>
        </p:spPr>
        <p:txBody>
          <a:bodyPr wrap="square" lIns="91440" tIns="45720" rIns="91440" bIns="45720" rtlCol="0" anchor="t">
            <a:spAutoFit/>
          </a:bodyPr>
          <a:lstStyle/>
          <a:p>
            <a:r>
              <a:rPr lang="en-US" sz="3700" b="1">
                <a:solidFill>
                  <a:schemeClr val="accent2"/>
                </a:solidFill>
                <a:latin typeface="Gill Sans MT"/>
              </a:rPr>
              <a:t>Answer to Business Question 1</a:t>
            </a:r>
            <a:endParaRPr lang="en-US">
              <a:solidFill>
                <a:schemeClr val="accent2"/>
              </a:solidFill>
            </a:endParaRP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7" name="TextBox 152">
            <a:extLst>
              <a:ext uri="{FF2B5EF4-FFF2-40B4-BE49-F238E27FC236}">
                <a16:creationId xmlns:a16="http://schemas.microsoft.com/office/drawing/2014/main" id="{47FC5981-0FB9-570E-8B32-7B4BAC9FC1E5}"/>
              </a:ext>
            </a:extLst>
          </p:cNvPr>
          <p:cNvSpPr txBox="1"/>
          <p:nvPr/>
        </p:nvSpPr>
        <p:spPr>
          <a:xfrm>
            <a:off x="431736" y="903485"/>
            <a:ext cx="11157613"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latin typeface="Gill Sans MT"/>
                <a:ea typeface="Calibri"/>
                <a:cs typeface="Calibri"/>
              </a:rPr>
              <a:t>The Predictions for the Month of April of Random Individual Depot X:</a:t>
            </a:r>
            <a:endParaRPr lang="en-US" sz="2400" b="1">
              <a:latin typeface="Gill Sans MT"/>
            </a:endParaRPr>
          </a:p>
        </p:txBody>
      </p:sp>
      <p:pic>
        <p:nvPicPr>
          <p:cNvPr id="2" name="Picture 1" descr="A screenshot of a computer&#10;&#10;AI-generated content may be incorrect.">
            <a:extLst>
              <a:ext uri="{FF2B5EF4-FFF2-40B4-BE49-F238E27FC236}">
                <a16:creationId xmlns:a16="http://schemas.microsoft.com/office/drawing/2014/main" id="{0CBAFD9D-4B65-CDFC-D7B3-CFF18ABA15DD}"/>
              </a:ext>
            </a:extLst>
          </p:cNvPr>
          <p:cNvPicPr>
            <a:picLocks noChangeAspect="1"/>
          </p:cNvPicPr>
          <p:nvPr/>
        </p:nvPicPr>
        <p:blipFill>
          <a:blip r:embed="rId3"/>
          <a:srcRect r="124" b="44444"/>
          <a:stretch>
            <a:fillRect/>
          </a:stretch>
        </p:blipFill>
        <p:spPr>
          <a:xfrm>
            <a:off x="805979" y="1518709"/>
            <a:ext cx="10395536" cy="2146930"/>
          </a:xfrm>
          <a:prstGeom prst="rect">
            <a:avLst/>
          </a:prstGeom>
        </p:spPr>
      </p:pic>
      <p:sp>
        <p:nvSpPr>
          <p:cNvPr id="3" name="TextBox 2">
            <a:extLst>
              <a:ext uri="{FF2B5EF4-FFF2-40B4-BE49-F238E27FC236}">
                <a16:creationId xmlns:a16="http://schemas.microsoft.com/office/drawing/2014/main" id="{DF529EE7-430B-FF44-AC16-73CFDD10C3CA}"/>
              </a:ext>
            </a:extLst>
          </p:cNvPr>
          <p:cNvSpPr txBox="1"/>
          <p:nvPr/>
        </p:nvSpPr>
        <p:spPr>
          <a:xfrm>
            <a:off x="805452" y="3885441"/>
            <a:ext cx="10399082"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Courier New"/>
              <a:buChar char="o"/>
            </a:pPr>
            <a:r>
              <a:rPr lang="en-US" sz="2400">
                <a:latin typeface="Gill Sans MT"/>
                <a:ea typeface="+mn-lt"/>
                <a:cs typeface="+mn-lt"/>
              </a:rPr>
              <a:t>Higher Predictive Accuracy: Our new model has measurably lower forecast error (MAE)</a:t>
            </a:r>
            <a:endParaRPr lang="en-US" sz="800">
              <a:latin typeface="Gill Sans MT"/>
              <a:ea typeface="+mn-lt"/>
              <a:cs typeface="+mn-lt"/>
            </a:endParaRPr>
          </a:p>
          <a:p>
            <a:pPr marL="342900" indent="-342900">
              <a:buFont typeface="Courier New"/>
              <a:buChar char="o"/>
            </a:pPr>
            <a:r>
              <a:rPr lang="en-US" sz="2400">
                <a:latin typeface="Gill Sans MT"/>
                <a:ea typeface="+mn-lt"/>
                <a:cs typeface="+mn-lt"/>
              </a:rPr>
              <a:t>A measurable reduction in overall financial risk</a:t>
            </a:r>
            <a:endParaRPr lang="en-US">
              <a:latin typeface="Calibri"/>
              <a:ea typeface="+mn-lt"/>
              <a:cs typeface="+mn-lt"/>
            </a:endParaRPr>
          </a:p>
          <a:p>
            <a:pPr marL="342900" indent="-342900">
              <a:buFont typeface="Courier New"/>
              <a:buChar char="o"/>
            </a:pPr>
            <a:r>
              <a:rPr lang="en-US" sz="2400">
                <a:latin typeface="Gill Sans MT"/>
                <a:ea typeface="Calibri"/>
                <a:cs typeface="Calibri"/>
              </a:rPr>
              <a:t>A significant reduction in excess inventory costs</a:t>
            </a:r>
          </a:p>
        </p:txBody>
      </p:sp>
    </p:spTree>
    <p:extLst>
      <p:ext uri="{BB962C8B-B14F-4D97-AF65-F5344CB8AC3E}">
        <p14:creationId xmlns:p14="http://schemas.microsoft.com/office/powerpoint/2010/main" val="523654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E03AC0E-FE21-CA9D-28E0-C433F0BBB8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594249-3501-1290-B78B-0CE6A1E89D5B}"/>
              </a:ext>
            </a:extLst>
          </p:cNvPr>
          <p:cNvSpPr txBox="1"/>
          <p:nvPr/>
        </p:nvSpPr>
        <p:spPr>
          <a:xfrm>
            <a:off x="435879" y="996553"/>
            <a:ext cx="11487112"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Gill Sans MT"/>
              </a:rPr>
              <a:t>Compared our model's predicted inventory levels per service product number/location to Zebra's actual inventory levels for the month of April. </a:t>
            </a:r>
          </a:p>
          <a:p>
            <a:pPr marL="742950" lvl="1" indent="-285750">
              <a:buFont typeface="Courier New"/>
              <a:buChar char="o"/>
            </a:pPr>
            <a:r>
              <a:rPr lang="en-US" sz="2400">
                <a:latin typeface="Gill Sans MT"/>
                <a:ea typeface="Calibri"/>
                <a:cs typeface="Calibri"/>
              </a:rPr>
              <a:t>Most locations were on-target or over-target. </a:t>
            </a:r>
          </a:p>
          <a:p>
            <a:pPr marL="742950" lvl="1" indent="-285750">
              <a:buFont typeface="Courier New"/>
              <a:buChar char="o"/>
            </a:pPr>
            <a:r>
              <a:rPr lang="en-US" sz="2400">
                <a:latin typeface="Gill Sans MT"/>
                <a:ea typeface="Calibri"/>
                <a:cs typeface="Calibri"/>
              </a:rPr>
              <a:t>Very few locations had a small percentage of parts under-target.</a:t>
            </a:r>
            <a:endParaRPr lang="en-US"/>
          </a:p>
          <a:p>
            <a:pPr marL="742950" lvl="1" indent="-285750">
              <a:buFont typeface="Courier New"/>
              <a:buChar char="o"/>
            </a:pPr>
            <a:endParaRPr lang="en-US" sz="2400">
              <a:latin typeface="Gill Sans MT"/>
              <a:ea typeface="Calibri"/>
              <a:cs typeface="Calibri"/>
            </a:endParaRPr>
          </a:p>
        </p:txBody>
      </p:sp>
      <p:sp>
        <p:nvSpPr>
          <p:cNvPr id="6" name="TextBox 5">
            <a:extLst>
              <a:ext uri="{FF2B5EF4-FFF2-40B4-BE49-F238E27FC236}">
                <a16:creationId xmlns:a16="http://schemas.microsoft.com/office/drawing/2014/main" id="{CF79A241-6B33-80A5-BA81-ED4B06289FD3}"/>
              </a:ext>
            </a:extLst>
          </p:cNvPr>
          <p:cNvSpPr txBox="1"/>
          <p:nvPr/>
        </p:nvSpPr>
        <p:spPr>
          <a:xfrm>
            <a:off x="435564" y="236479"/>
            <a:ext cx="11482625" cy="661720"/>
          </a:xfrm>
          <a:prstGeom prst="rect">
            <a:avLst/>
          </a:prstGeom>
          <a:noFill/>
        </p:spPr>
        <p:txBody>
          <a:bodyPr wrap="square" lIns="91440" tIns="45720" rIns="91440" bIns="45720" rtlCol="0" anchor="t">
            <a:spAutoFit/>
          </a:bodyPr>
          <a:lstStyle/>
          <a:p>
            <a:r>
              <a:rPr lang="en-US" sz="3700" b="1">
                <a:solidFill>
                  <a:srgbClr val="ED7D31"/>
                </a:solidFill>
                <a:latin typeface="Gill Sans MT"/>
                <a:ea typeface="+mn-lt"/>
                <a:cs typeface="+mn-lt"/>
              </a:rPr>
              <a:t>Answer to Business Question 2</a:t>
            </a:r>
            <a:endParaRPr lang="en-US"/>
          </a:p>
        </p:txBody>
      </p:sp>
      <p:sp>
        <p:nvSpPr>
          <p:cNvPr id="3" name="TextBox 2">
            <a:extLst>
              <a:ext uri="{FF2B5EF4-FFF2-40B4-BE49-F238E27FC236}">
                <a16:creationId xmlns:a16="http://schemas.microsoft.com/office/drawing/2014/main" id="{D1E5773D-CDF5-F4A6-6E87-BBA9E06BDF21}"/>
              </a:ext>
            </a:extLst>
          </p:cNvPr>
          <p:cNvSpPr txBox="1"/>
          <p:nvPr/>
        </p:nvSpPr>
        <p:spPr>
          <a:xfrm>
            <a:off x="434546" y="2782189"/>
            <a:ext cx="1149119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000000"/>
                </a:solidFill>
                <a:latin typeface="Gill Sans MT"/>
                <a:ea typeface="Segoe UI"/>
                <a:cs typeface="Segoe UI"/>
              </a:rPr>
              <a:t>Evaluated customer satisfaction by comparing actual part ship dates to promised ship dates</a:t>
            </a:r>
            <a:r>
              <a:rPr lang="en-US" sz="2400" b="0" i="0" u="none" strike="noStrike" baseline="0">
                <a:solidFill>
                  <a:srgbClr val="000000"/>
                </a:solidFill>
                <a:latin typeface="Gill Sans MT"/>
                <a:ea typeface="Segoe UI"/>
                <a:cs typeface="Segoe UI"/>
              </a:rPr>
              <a:t>.</a:t>
            </a:r>
            <a:r>
              <a:rPr lang="en-US" sz="2400">
                <a:solidFill>
                  <a:srgbClr val="000000"/>
                </a:solidFill>
                <a:latin typeface="Gill Sans MT"/>
                <a:ea typeface="Segoe UI"/>
                <a:cs typeface="Segoe UI"/>
              </a:rPr>
              <a:t> Also evaluated lead-times per location.   </a:t>
            </a:r>
            <a:r>
              <a:rPr lang="en-US" sz="2400" b="0" i="0">
                <a:solidFill>
                  <a:srgbClr val="000000"/>
                </a:solidFill>
                <a:latin typeface="Gill Sans MT"/>
                <a:ea typeface="Segoe UI"/>
                <a:cs typeface="Segoe UI"/>
              </a:rPr>
              <a:t>​</a:t>
            </a:r>
          </a:p>
          <a:p>
            <a:pPr marL="742950" lvl="1" indent="-285750">
              <a:buFont typeface="Courier New,monospace"/>
              <a:buChar char="o"/>
            </a:pPr>
            <a:r>
              <a:rPr lang="en-US" sz="2400">
                <a:solidFill>
                  <a:srgbClr val="000000"/>
                </a:solidFill>
                <a:latin typeface="Gill Sans MT"/>
                <a:ea typeface="Arial"/>
                <a:cs typeface="Arial"/>
              </a:rPr>
              <a:t>Most</a:t>
            </a:r>
            <a:r>
              <a:rPr lang="en-US" sz="2400" b="0" i="0" u="none" strike="noStrike" baseline="0">
                <a:solidFill>
                  <a:srgbClr val="000000"/>
                </a:solidFill>
                <a:latin typeface="Gill Sans MT"/>
                <a:ea typeface="Arial"/>
                <a:cs typeface="Arial"/>
              </a:rPr>
              <a:t> locations were </a:t>
            </a:r>
            <a:r>
              <a:rPr lang="en-US" sz="2400">
                <a:solidFill>
                  <a:srgbClr val="000000"/>
                </a:solidFill>
                <a:latin typeface="Gill Sans MT"/>
                <a:ea typeface="Arial"/>
                <a:cs typeface="Arial"/>
              </a:rPr>
              <a:t>close to on-time (&lt;5 days late) with two locations shipping 20+ days late.</a:t>
            </a:r>
            <a:endParaRPr lang="en-US" sz="2400" b="0" i="0">
              <a:solidFill>
                <a:srgbClr val="000000"/>
              </a:solidFill>
              <a:latin typeface="Gill Sans MT"/>
              <a:ea typeface="Arial"/>
              <a:cs typeface="Arial"/>
            </a:endParaRPr>
          </a:p>
          <a:p>
            <a:pPr marL="742950" lvl="1" indent="-285750">
              <a:buFont typeface="Courier New,monospace"/>
              <a:buChar char="o"/>
            </a:pPr>
            <a:r>
              <a:rPr lang="en-US" sz="2400">
                <a:solidFill>
                  <a:srgbClr val="000000"/>
                </a:solidFill>
                <a:latin typeface="Gill Sans MT"/>
                <a:cs typeface="Arial"/>
              </a:rPr>
              <a:t>Highly over-stocked locations performed the best on customer satisfaction and late locations were mostly on-target/partially over-stocked.</a:t>
            </a:r>
            <a:endParaRPr lang="en-US" sz="2400">
              <a:latin typeface="Gill Sans MT"/>
              <a:cs typeface="Arial"/>
            </a:endParaRPr>
          </a:p>
        </p:txBody>
      </p:sp>
    </p:spTree>
    <p:extLst>
      <p:ext uri="{BB962C8B-B14F-4D97-AF65-F5344CB8AC3E}">
        <p14:creationId xmlns:p14="http://schemas.microsoft.com/office/powerpoint/2010/main" val="1570661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A49047-97AC-97EF-E193-892DC98F2DD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CCED76F-12EF-7C37-1190-F836ED7C3EC7}"/>
              </a:ext>
            </a:extLst>
          </p:cNvPr>
          <p:cNvSpPr txBox="1"/>
          <p:nvPr/>
        </p:nvSpPr>
        <p:spPr>
          <a:xfrm>
            <a:off x="345178" y="162823"/>
            <a:ext cx="5750821" cy="17673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Gill Sans MT"/>
                <a:ea typeface="Calibri"/>
                <a:cs typeface="Calibri"/>
              </a:rPr>
              <a:t>Graph to the right shows each location's performance on various customer satisfaction metrics colored by how under/over target when compared to our model</a:t>
            </a:r>
          </a:p>
          <a:p>
            <a:endParaRPr lang="en-US">
              <a:latin typeface="Gill Sans MT"/>
              <a:ea typeface="Calibri"/>
              <a:cs typeface="Calibri"/>
            </a:endParaRPr>
          </a:p>
          <a:p>
            <a:r>
              <a:rPr lang="en-US">
                <a:latin typeface="Gill Sans MT"/>
                <a:ea typeface="Calibri"/>
                <a:cs typeface="Calibri"/>
              </a:rPr>
              <a:t>Graph below shows the magnitude of over/under stocked products</a:t>
            </a:r>
          </a:p>
        </p:txBody>
      </p:sp>
      <p:pic>
        <p:nvPicPr>
          <p:cNvPr id="3" name="Picture 2">
            <a:extLst>
              <a:ext uri="{FF2B5EF4-FFF2-40B4-BE49-F238E27FC236}">
                <a16:creationId xmlns:a16="http://schemas.microsoft.com/office/drawing/2014/main" id="{856CA9CB-4637-AB25-4687-21DC99B91002}"/>
              </a:ext>
            </a:extLst>
          </p:cNvPr>
          <p:cNvPicPr>
            <a:picLocks noChangeAspect="1"/>
          </p:cNvPicPr>
          <p:nvPr/>
        </p:nvPicPr>
        <p:blipFill>
          <a:blip r:embed="rId3"/>
          <a:stretch>
            <a:fillRect/>
          </a:stretch>
        </p:blipFill>
        <p:spPr>
          <a:xfrm>
            <a:off x="100250" y="1935078"/>
            <a:ext cx="5888671" cy="4822659"/>
          </a:xfrm>
          <a:prstGeom prst="rect">
            <a:avLst/>
          </a:prstGeom>
          <a:ln>
            <a:solidFill>
              <a:schemeClr val="tx1"/>
            </a:solidFill>
          </a:ln>
        </p:spPr>
      </p:pic>
      <p:pic>
        <p:nvPicPr>
          <p:cNvPr id="5" name="Picture 4" descr="A screenshot of a graph&#10;&#10;AI-generated content may be incorrect.">
            <a:extLst>
              <a:ext uri="{FF2B5EF4-FFF2-40B4-BE49-F238E27FC236}">
                <a16:creationId xmlns:a16="http://schemas.microsoft.com/office/drawing/2014/main" id="{F417B918-B9CA-E3BD-5980-F47C23C05984}"/>
              </a:ext>
            </a:extLst>
          </p:cNvPr>
          <p:cNvPicPr>
            <a:picLocks noChangeAspect="1"/>
          </p:cNvPicPr>
          <p:nvPr/>
        </p:nvPicPr>
        <p:blipFill>
          <a:blip r:embed="rId4"/>
          <a:stretch>
            <a:fillRect/>
          </a:stretch>
        </p:blipFill>
        <p:spPr>
          <a:xfrm>
            <a:off x="6092968" y="742208"/>
            <a:ext cx="6003104" cy="6006935"/>
          </a:xfrm>
          <a:prstGeom prst="rect">
            <a:avLst/>
          </a:prstGeom>
          <a:ln>
            <a:solidFill>
              <a:schemeClr val="tx1"/>
            </a:solidFill>
          </a:ln>
        </p:spPr>
      </p:pic>
      <p:pic>
        <p:nvPicPr>
          <p:cNvPr id="9" name="Picture 8" descr="A screenshot of a graph&#10;&#10;AI-generated content may be incorrect.">
            <a:extLst>
              <a:ext uri="{FF2B5EF4-FFF2-40B4-BE49-F238E27FC236}">
                <a16:creationId xmlns:a16="http://schemas.microsoft.com/office/drawing/2014/main" id="{EBE6503D-836A-7201-E52E-B7ECEFA3D1E5}"/>
              </a:ext>
            </a:extLst>
          </p:cNvPr>
          <p:cNvPicPr>
            <a:picLocks noChangeAspect="1"/>
          </p:cNvPicPr>
          <p:nvPr/>
        </p:nvPicPr>
        <p:blipFill>
          <a:blip r:embed="rId5"/>
          <a:srcRect l="-7" r="149" b="94556"/>
          <a:stretch>
            <a:fillRect/>
          </a:stretch>
        </p:blipFill>
        <p:spPr>
          <a:xfrm>
            <a:off x="6089240" y="302243"/>
            <a:ext cx="5994583" cy="327504"/>
          </a:xfrm>
          <a:prstGeom prst="rect">
            <a:avLst/>
          </a:prstGeom>
          <a:ln>
            <a:solidFill>
              <a:schemeClr val="tx1"/>
            </a:solidFill>
          </a:ln>
        </p:spPr>
      </p:pic>
    </p:spTree>
    <p:extLst>
      <p:ext uri="{BB962C8B-B14F-4D97-AF65-F5344CB8AC3E}">
        <p14:creationId xmlns:p14="http://schemas.microsoft.com/office/powerpoint/2010/main" val="1099507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ABF422E-2E7F-E41C-3347-32B1D7EAAF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DE54F9-E0BD-8741-0A53-CDC1DCE532C9}"/>
              </a:ext>
            </a:extLst>
          </p:cNvPr>
          <p:cNvSpPr txBox="1"/>
          <p:nvPr/>
        </p:nvSpPr>
        <p:spPr>
          <a:xfrm>
            <a:off x="357632" y="305752"/>
            <a:ext cx="11482625" cy="661720"/>
          </a:xfrm>
          <a:prstGeom prst="rect">
            <a:avLst/>
          </a:prstGeom>
          <a:noFill/>
        </p:spPr>
        <p:txBody>
          <a:bodyPr wrap="square" lIns="91440" tIns="45720" rIns="91440" bIns="45720" rtlCol="0" anchor="t">
            <a:spAutoFit/>
          </a:bodyPr>
          <a:lstStyle/>
          <a:p>
            <a:r>
              <a:rPr lang="en-US" sz="3700" b="1">
                <a:solidFill>
                  <a:srgbClr val="ED7D31"/>
                </a:solidFill>
                <a:latin typeface="Gill Sans MT"/>
                <a:ea typeface="+mn-lt"/>
                <a:cs typeface="+mn-lt"/>
              </a:rPr>
              <a:t>Answer to Question 3</a:t>
            </a:r>
            <a:endParaRPr lang="en-US" sz="3700">
              <a:solidFill>
                <a:srgbClr val="ED7D31"/>
              </a:solidFill>
              <a:latin typeface="Gill Sans MT"/>
              <a:ea typeface="Calibri"/>
              <a:cs typeface="Calibri"/>
            </a:endParaRPr>
          </a:p>
        </p:txBody>
      </p:sp>
      <p:sp>
        <p:nvSpPr>
          <p:cNvPr id="9" name="TextBox 8">
            <a:extLst>
              <a:ext uri="{FF2B5EF4-FFF2-40B4-BE49-F238E27FC236}">
                <a16:creationId xmlns:a16="http://schemas.microsoft.com/office/drawing/2014/main" id="{03BFEEF6-8CDD-0D26-25D4-150E86B831C8}"/>
              </a:ext>
            </a:extLst>
          </p:cNvPr>
          <p:cNvSpPr txBox="1"/>
          <p:nvPr/>
        </p:nvSpPr>
        <p:spPr>
          <a:xfrm>
            <a:off x="357947" y="1001879"/>
            <a:ext cx="1086593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Gill Sans MT"/>
                <a:ea typeface="Calibri"/>
                <a:cs typeface="Calibri"/>
              </a:rPr>
              <a:t>Supplier Performance:</a:t>
            </a:r>
          </a:p>
          <a:p>
            <a:pPr marL="342900" indent="-342900">
              <a:buFont typeface="Courier New"/>
              <a:buChar char="o"/>
            </a:pPr>
            <a:r>
              <a:rPr lang="en-US" sz="2400">
                <a:latin typeface="Gill Sans MT"/>
                <a:ea typeface="+mn-lt"/>
                <a:cs typeface="+mn-lt"/>
              </a:rPr>
              <a:t>Unreliable supplier performance and volatile lead times are creating critical bottlenecks at primary distribution hubs</a:t>
            </a:r>
            <a:endParaRPr lang="en-US" sz="2400">
              <a:latin typeface="Gill Sans MT"/>
              <a:ea typeface="Calibri"/>
              <a:cs typeface="Calibri"/>
            </a:endParaRPr>
          </a:p>
          <a:p>
            <a:pPr marL="342900" indent="-342900">
              <a:buFont typeface="Courier New"/>
              <a:buChar char="o"/>
            </a:pPr>
            <a:r>
              <a:rPr lang="en-US" sz="2400">
                <a:latin typeface="Gill Sans MT"/>
                <a:ea typeface="+mn-lt"/>
                <a:cs typeface="+mn-lt"/>
              </a:rPr>
              <a:t>Strict SLA enforcement with underperforming suppliers is required to stabilize the network and optimize global inventory levels</a:t>
            </a:r>
          </a:p>
          <a:p>
            <a:endParaRPr lang="en-US" sz="2400">
              <a:latin typeface="Gill Sans MT"/>
              <a:ea typeface="+mn-lt"/>
              <a:cs typeface="+mn-lt"/>
            </a:endParaRPr>
          </a:p>
          <a:p>
            <a:r>
              <a:rPr lang="en-US" sz="2400" b="1">
                <a:latin typeface="Gill Sans MT"/>
                <a:ea typeface="+mn-lt"/>
                <a:cs typeface="+mn-lt"/>
              </a:rPr>
              <a:t>Lead Time Variance:</a:t>
            </a:r>
          </a:p>
          <a:p>
            <a:pPr marL="342900" indent="-342900">
              <a:buFont typeface="Courier New"/>
              <a:buChar char="o"/>
            </a:pPr>
            <a:r>
              <a:rPr lang="en-US" sz="2400">
                <a:latin typeface="Gill Sans MT"/>
                <a:ea typeface="+mn-lt"/>
                <a:cs typeface="+mn-lt"/>
              </a:rPr>
              <a:t>Significant delays from key suppliers (some exceeding 80 days) create a ripple effect, forcing the holding of excess units</a:t>
            </a:r>
            <a:endParaRPr lang="en-US" sz="2400">
              <a:latin typeface="Gill Sans MT"/>
              <a:ea typeface="Calibri"/>
              <a:cs typeface="Calibri"/>
            </a:endParaRPr>
          </a:p>
        </p:txBody>
      </p:sp>
    </p:spTree>
    <p:extLst>
      <p:ext uri="{BB962C8B-B14F-4D97-AF65-F5344CB8AC3E}">
        <p14:creationId xmlns:p14="http://schemas.microsoft.com/office/powerpoint/2010/main" val="404737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55170" y="3861148"/>
            <a:ext cx="2936325" cy="2434561"/>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err="1">
              <a:latin typeface="Gill Sans MT"/>
            </a:endParaRPr>
          </a:p>
        </p:txBody>
      </p:sp>
      <p:sp>
        <p:nvSpPr>
          <p:cNvPr id="3" name="Text Placeholder 2">
            <a:extLst>
              <a:ext uri="{FF2B5EF4-FFF2-40B4-BE49-F238E27FC236}">
                <a16:creationId xmlns:a16="http://schemas.microsoft.com/office/drawing/2014/main" id="{2705D917-84A9-451F-8670-B1C61BDBD3E8}"/>
              </a:ext>
            </a:extLst>
          </p:cNvPr>
          <p:cNvSpPr>
            <a:spLocks noGrp="1"/>
          </p:cNvSpPr>
          <p:nvPr>
            <p:ph type="body" sz="quarter" idx="10"/>
          </p:nvPr>
        </p:nvSpPr>
        <p:spPr>
          <a:xfrm>
            <a:off x="3332283" y="1283171"/>
            <a:ext cx="2637442" cy="694267"/>
          </a:xfrm>
          <a:noFill/>
        </p:spPr>
        <p:txBody>
          <a:bodyPr vert="horz" lIns="91440" tIns="45720" rIns="91440" bIns="45720" rtlCol="0" anchor="t">
            <a:normAutofit/>
          </a:bodyPr>
          <a:lstStyle/>
          <a:p>
            <a:pPr marL="0" indent="0">
              <a:buNone/>
            </a:pPr>
            <a:r>
              <a:rPr lang="en-US">
                <a:latin typeface="Gill Sans MT"/>
              </a:rPr>
              <a:t>01</a:t>
            </a:r>
            <a:endParaRPr lang="en-US"/>
          </a:p>
        </p:txBody>
      </p:sp>
      <p:sp>
        <p:nvSpPr>
          <p:cNvPr id="4" name="Text Placeholder 3">
            <a:extLst>
              <a:ext uri="{FF2B5EF4-FFF2-40B4-BE49-F238E27FC236}">
                <a16:creationId xmlns:a16="http://schemas.microsoft.com/office/drawing/2014/main" id="{477F431D-77F4-49FF-8275-37E53F397184}"/>
              </a:ext>
            </a:extLst>
          </p:cNvPr>
          <p:cNvSpPr>
            <a:spLocks noGrp="1"/>
          </p:cNvSpPr>
          <p:nvPr>
            <p:ph type="body" sz="quarter" idx="11"/>
          </p:nvPr>
        </p:nvSpPr>
        <p:spPr>
          <a:xfrm>
            <a:off x="6212284" y="1283170"/>
            <a:ext cx="2637442" cy="694267"/>
          </a:xfrm>
          <a:noFill/>
        </p:spPr>
        <p:txBody>
          <a:bodyPr vert="horz" lIns="91440" tIns="45720" rIns="91440" bIns="45720" rtlCol="0" anchor="t">
            <a:normAutofit/>
          </a:bodyPr>
          <a:lstStyle/>
          <a:p>
            <a:pPr marL="0" indent="0">
              <a:buNone/>
            </a:pPr>
            <a:r>
              <a:rPr lang="en-US">
                <a:latin typeface="Gill Sans MT"/>
              </a:rPr>
              <a:t>02</a:t>
            </a:r>
            <a:endParaRPr lang="en-US"/>
          </a:p>
        </p:txBody>
      </p:sp>
      <p:sp>
        <p:nvSpPr>
          <p:cNvPr id="5" name="Text Placeholder 4">
            <a:extLst>
              <a:ext uri="{FF2B5EF4-FFF2-40B4-BE49-F238E27FC236}">
                <a16:creationId xmlns:a16="http://schemas.microsoft.com/office/drawing/2014/main" id="{6B8D8764-B3F2-4435-87A5-08C1E5721215}"/>
              </a:ext>
            </a:extLst>
          </p:cNvPr>
          <p:cNvSpPr>
            <a:spLocks noGrp="1"/>
          </p:cNvSpPr>
          <p:nvPr>
            <p:ph type="body" sz="quarter" idx="12"/>
          </p:nvPr>
        </p:nvSpPr>
        <p:spPr>
          <a:xfrm>
            <a:off x="3332283" y="3861148"/>
            <a:ext cx="2637442" cy="694267"/>
          </a:xfrm>
          <a:noFill/>
        </p:spPr>
        <p:txBody>
          <a:bodyPr vert="horz" lIns="91440" tIns="45720" rIns="91440" bIns="45720" rtlCol="0" anchor="t">
            <a:normAutofit/>
          </a:bodyPr>
          <a:lstStyle/>
          <a:p>
            <a:pPr marL="0" indent="0">
              <a:buNone/>
            </a:pPr>
            <a:r>
              <a:rPr lang="en-US">
                <a:latin typeface="Gill Sans MT"/>
              </a:rPr>
              <a:t>04</a:t>
            </a:r>
            <a:endParaRPr lang="en-US"/>
          </a:p>
        </p:txBody>
      </p:sp>
      <p:sp>
        <p:nvSpPr>
          <p:cNvPr id="6"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6212284" y="3861148"/>
            <a:ext cx="2637442" cy="694267"/>
          </a:xfrm>
          <a:noFill/>
        </p:spPr>
        <p:txBody>
          <a:bodyPr vert="horz" lIns="91440" tIns="45720" rIns="91440" bIns="45720" rtlCol="0" anchor="t">
            <a:normAutofit/>
          </a:bodyPr>
          <a:lstStyle/>
          <a:p>
            <a:pPr marL="0" indent="0">
              <a:buNone/>
            </a:pPr>
            <a:r>
              <a:rPr lang="en-US">
                <a:latin typeface="Gill Sans MT"/>
              </a:rPr>
              <a:t>05</a:t>
            </a:r>
            <a:endParaRPr lang="en-US"/>
          </a:p>
        </p:txBody>
      </p:sp>
      <p:sp>
        <p:nvSpPr>
          <p:cNvPr id="8" name="Text Placeholder 7">
            <a:extLst>
              <a:ext uri="{FF2B5EF4-FFF2-40B4-BE49-F238E27FC236}">
                <a16:creationId xmlns:a16="http://schemas.microsoft.com/office/drawing/2014/main" id="{F26BFDB0-DFB8-4D59-95A4-911D99147B08}"/>
              </a:ext>
            </a:extLst>
          </p:cNvPr>
          <p:cNvSpPr>
            <a:spLocks noGrp="1"/>
          </p:cNvSpPr>
          <p:nvPr>
            <p:ph type="body" sz="quarter" idx="18"/>
          </p:nvPr>
        </p:nvSpPr>
        <p:spPr>
          <a:xfrm>
            <a:off x="9091495" y="1283169"/>
            <a:ext cx="2637442" cy="694267"/>
          </a:xfrm>
          <a:noFill/>
        </p:spPr>
        <p:txBody>
          <a:bodyPr vert="horz" lIns="91440" tIns="45720" rIns="91440" bIns="45720" rtlCol="0" anchor="t">
            <a:normAutofit/>
          </a:bodyPr>
          <a:lstStyle/>
          <a:p>
            <a:pPr marL="0" indent="0">
              <a:buNone/>
            </a:pPr>
            <a:r>
              <a:rPr lang="en-US">
                <a:latin typeface="Gill Sans MT"/>
              </a:rPr>
              <a:t>03</a:t>
            </a:r>
            <a:endParaRPr lang="en-US"/>
          </a:p>
        </p:txBody>
      </p:sp>
      <p:sp>
        <p:nvSpPr>
          <p:cNvPr id="7" name="Text Placeholder 6">
            <a:extLst>
              <a:ext uri="{FF2B5EF4-FFF2-40B4-BE49-F238E27FC236}">
                <a16:creationId xmlns:a16="http://schemas.microsoft.com/office/drawing/2014/main" id="{CB2EC579-FB4F-4DAC-A6BF-81AC4648982C}"/>
              </a:ext>
            </a:extLst>
          </p:cNvPr>
          <p:cNvSpPr>
            <a:spLocks noGrp="1"/>
          </p:cNvSpPr>
          <p:nvPr>
            <p:ph type="body" sz="quarter" idx="15"/>
          </p:nvPr>
        </p:nvSpPr>
        <p:spPr>
          <a:noFill/>
        </p:spPr>
        <p:txBody>
          <a:bodyPr vert="horz" lIns="91440" tIns="45720" rIns="91440" bIns="45720" rtlCol="0" anchor="t">
            <a:normAutofit/>
          </a:bodyPr>
          <a:lstStyle/>
          <a:p>
            <a:pPr marL="0" indent="0">
              <a:buNone/>
            </a:pPr>
            <a:r>
              <a:rPr lang="en-US">
                <a:latin typeface="Gill Sans MT"/>
              </a:rPr>
              <a:t>Approach &amp; Methodology</a:t>
            </a:r>
            <a:endParaRPr lang="en-US"/>
          </a:p>
        </p:txBody>
      </p:sp>
      <p:sp>
        <p:nvSpPr>
          <p:cNvPr id="10" name="Text Placeholder 9">
            <a:extLst>
              <a:ext uri="{FF2B5EF4-FFF2-40B4-BE49-F238E27FC236}">
                <a16:creationId xmlns:a16="http://schemas.microsoft.com/office/drawing/2014/main" id="{45EF8CE0-ACB2-4CF2-BEA8-C5E15FAFC5B4}"/>
              </a:ext>
            </a:extLst>
          </p:cNvPr>
          <p:cNvSpPr>
            <a:spLocks noGrp="1"/>
          </p:cNvSpPr>
          <p:nvPr>
            <p:ph type="body" sz="quarter" idx="20"/>
          </p:nvPr>
        </p:nvSpPr>
        <p:spPr>
          <a:noFill/>
        </p:spPr>
        <p:txBody>
          <a:bodyPr vert="horz" lIns="91440" tIns="45720" rIns="91440" bIns="45720" rtlCol="0" anchor="t">
            <a:normAutofit/>
          </a:bodyPr>
          <a:lstStyle/>
          <a:p>
            <a:pPr marL="0" indent="0">
              <a:buNone/>
            </a:pPr>
            <a:r>
              <a:rPr lang="en-US">
                <a:latin typeface="Gill Sans MT"/>
              </a:rPr>
              <a:t>Exploratory Data Analysis</a:t>
            </a:r>
            <a:endParaRPr lang="en-US"/>
          </a:p>
        </p:txBody>
      </p:sp>
      <p:sp>
        <p:nvSpPr>
          <p:cNvPr id="11" name="Text Placeholder 10">
            <a:extLst>
              <a:ext uri="{FF2B5EF4-FFF2-40B4-BE49-F238E27FC236}">
                <a16:creationId xmlns:a16="http://schemas.microsoft.com/office/drawing/2014/main" id="{E9FDF91D-DA91-4E01-858F-E464B25076F3}"/>
              </a:ext>
            </a:extLst>
          </p:cNvPr>
          <p:cNvSpPr>
            <a:spLocks noGrp="1"/>
          </p:cNvSpPr>
          <p:nvPr>
            <p:ph type="body" sz="quarter" idx="21"/>
          </p:nvPr>
        </p:nvSpPr>
        <p:spPr>
          <a:xfrm>
            <a:off x="3332282" y="1977438"/>
            <a:ext cx="2683163" cy="1447797"/>
          </a:xfrm>
          <a:noFill/>
        </p:spPr>
        <p:txBody>
          <a:bodyPr vert="horz" lIns="91440" tIns="45720" rIns="91440" bIns="45720" rtlCol="0" anchor="t">
            <a:normAutofit/>
          </a:bodyPr>
          <a:lstStyle/>
          <a:p>
            <a:pPr marL="0" indent="0">
              <a:buNone/>
            </a:pPr>
            <a:r>
              <a:rPr lang="en-US">
                <a:latin typeface="Gill Sans MT"/>
              </a:rPr>
              <a:t>Business Intent</a:t>
            </a:r>
            <a:endParaRPr lang="en-US"/>
          </a:p>
        </p:txBody>
      </p:sp>
      <p:sp>
        <p:nvSpPr>
          <p:cNvPr id="13"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noFill/>
        </p:spPr>
        <p:txBody>
          <a:bodyPr vert="horz" lIns="91440" tIns="45720" rIns="91440" bIns="45720" rtlCol="0" anchor="t">
            <a:normAutofit/>
          </a:bodyPr>
          <a:lstStyle/>
          <a:p>
            <a:pPr marL="0" indent="0">
              <a:buNone/>
            </a:pPr>
            <a:r>
              <a:rPr lang="en-US">
                <a:latin typeface="Gill Sans MT"/>
              </a:rPr>
              <a:t>Next Steps</a:t>
            </a:r>
            <a:endParaRPr lang="en-US"/>
          </a:p>
        </p:txBody>
      </p:sp>
      <p:sp>
        <p:nvSpPr>
          <p:cNvPr id="14" name="Text Placeholder 13">
            <a:extLst>
              <a:ext uri="{FF2B5EF4-FFF2-40B4-BE49-F238E27FC236}">
                <a16:creationId xmlns:a16="http://schemas.microsoft.com/office/drawing/2014/main" id="{E02ABD5E-8B95-4E13-8A0C-73849F9744C7}"/>
              </a:ext>
            </a:extLst>
          </p:cNvPr>
          <p:cNvSpPr>
            <a:spLocks noGrp="1"/>
          </p:cNvSpPr>
          <p:nvPr>
            <p:ph type="body" sz="quarter" idx="24"/>
          </p:nvPr>
        </p:nvSpPr>
        <p:spPr>
          <a:noFill/>
        </p:spPr>
        <p:txBody>
          <a:bodyPr vert="horz" lIns="91440" tIns="45720" rIns="91440" bIns="45720" rtlCol="0" anchor="t">
            <a:normAutofit/>
          </a:bodyPr>
          <a:lstStyle/>
          <a:p>
            <a:pPr marL="0" indent="0">
              <a:buNone/>
            </a:pPr>
            <a:r>
              <a:rPr lang="en-US">
                <a:latin typeface="Gill Sans MT"/>
              </a:rPr>
              <a:t>Answer to Business Questions</a:t>
            </a:r>
            <a:endParaRPr lang="en-US">
              <a:ea typeface="Calibri" panose="020F0502020204030204"/>
              <a:cs typeface="Calibri" panose="020F0502020204030204"/>
            </a:endParaRPr>
          </a:p>
        </p:txBody>
      </p:sp>
      <p:sp>
        <p:nvSpPr>
          <p:cNvPr id="18" name="Title 17"/>
          <p:cNvSpPr>
            <a:spLocks noGrp="1"/>
          </p:cNvSpPr>
          <p:nvPr>
            <p:ph type="title"/>
          </p:nvPr>
        </p:nvSpPr>
        <p:spPr/>
        <p:txBody>
          <a:bodyPr/>
          <a:lstStyle/>
          <a:p>
            <a:r>
              <a:rPr lang="en-US" sz="3733" b="1">
                <a:solidFill>
                  <a:srgbClr val="ED7D31"/>
                </a:solidFill>
                <a:latin typeface="Gill Sans MT"/>
                <a:ea typeface="+mn-ea"/>
                <a:cs typeface="+mn-cs"/>
              </a:rPr>
              <a:t>Agenda</a:t>
            </a:r>
          </a:p>
        </p:txBody>
      </p:sp>
      <p:sp>
        <p:nvSpPr>
          <p:cNvPr id="19"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9091495" y="3861148"/>
            <a:ext cx="2637442" cy="694267"/>
          </a:xfrm>
          <a:noFill/>
        </p:spPr>
        <p:txBody>
          <a:bodyPr vert="horz" lIns="91440" tIns="45720" rIns="91440" bIns="45720" rtlCol="0" anchor="t">
            <a:normAutofit/>
          </a:bodyPr>
          <a:lstStyle/>
          <a:p>
            <a:pPr marL="0" indent="0">
              <a:buNone/>
            </a:pPr>
            <a:r>
              <a:rPr lang="en-US">
                <a:latin typeface="Gill Sans MT"/>
              </a:rPr>
              <a:t>06</a:t>
            </a:r>
            <a:endParaRPr lang="en-US"/>
          </a:p>
        </p:txBody>
      </p:sp>
      <p:sp>
        <p:nvSpPr>
          <p:cNvPr id="20"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xfrm>
            <a:off x="9091495" y="4555415"/>
            <a:ext cx="2637442" cy="1506828"/>
          </a:xfrm>
          <a:noFill/>
        </p:spPr>
        <p:txBody>
          <a:bodyPr vert="horz" lIns="91440" tIns="45720" rIns="91440" bIns="45720" rtlCol="0" anchor="t">
            <a:normAutofit/>
          </a:bodyPr>
          <a:lstStyle/>
          <a:p>
            <a:pPr marL="0" indent="0">
              <a:buNone/>
            </a:pPr>
            <a:r>
              <a:rPr lang="en-US">
                <a:latin typeface="Gill Sans MT"/>
              </a:rPr>
              <a:t>Conclusion</a:t>
            </a:r>
            <a:endParaRPr lang="en-US"/>
          </a:p>
        </p:txBody>
      </p:sp>
    </p:spTree>
    <p:extLst>
      <p:ext uri="{BB962C8B-B14F-4D97-AF65-F5344CB8AC3E}">
        <p14:creationId xmlns:p14="http://schemas.microsoft.com/office/powerpoint/2010/main" val="3648993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EE04B4-2217-4CAD-9CF4-A41CD7B317E6}"/>
              </a:ext>
            </a:extLst>
          </p:cNvPr>
          <p:cNvSpPr txBox="1"/>
          <p:nvPr/>
        </p:nvSpPr>
        <p:spPr>
          <a:xfrm>
            <a:off x="435564" y="236479"/>
            <a:ext cx="11153580" cy="666786"/>
          </a:xfrm>
          <a:prstGeom prst="rect">
            <a:avLst/>
          </a:prstGeom>
          <a:noFill/>
        </p:spPr>
        <p:txBody>
          <a:bodyPr wrap="square" lIns="91440" tIns="45720" rIns="91440" bIns="45720" rtlCol="0" anchor="t">
            <a:spAutoFit/>
          </a:bodyPr>
          <a:lstStyle/>
          <a:p>
            <a:r>
              <a:rPr lang="en-US" sz="3700" b="1">
                <a:solidFill>
                  <a:srgbClr val="ED7D31"/>
                </a:solidFill>
                <a:latin typeface="Gill Sans MT"/>
              </a:rPr>
              <a:t>Next Steps:</a:t>
            </a:r>
          </a:p>
        </p:txBody>
      </p:sp>
      <p:sp>
        <p:nvSpPr>
          <p:cNvPr id="9" name="TextBox 8">
            <a:extLst>
              <a:ext uri="{FF2B5EF4-FFF2-40B4-BE49-F238E27FC236}">
                <a16:creationId xmlns:a16="http://schemas.microsoft.com/office/drawing/2014/main" id="{6DC58BA3-1321-4C4F-A8EA-AC0A5C551C4D}"/>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3" name="TextBox 2">
            <a:extLst>
              <a:ext uri="{FF2B5EF4-FFF2-40B4-BE49-F238E27FC236}">
                <a16:creationId xmlns:a16="http://schemas.microsoft.com/office/drawing/2014/main" id="{0F940009-5390-259C-0B27-39F60DA3396F}"/>
              </a:ext>
            </a:extLst>
          </p:cNvPr>
          <p:cNvSpPr txBox="1"/>
          <p:nvPr/>
        </p:nvSpPr>
        <p:spPr>
          <a:xfrm>
            <a:off x="569183" y="1352435"/>
            <a:ext cx="1131092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Gill Sans MT"/>
                <a:ea typeface="Calibri"/>
                <a:cs typeface="Calibri"/>
              </a:rPr>
              <a:t>The optimal solution going forward would be combining the systems to get the best of both worlds:</a:t>
            </a:r>
            <a:endParaRPr lang="en-US" sz="2400">
              <a:latin typeface="Gill Sans MT"/>
            </a:endParaRPr>
          </a:p>
          <a:p>
            <a:pPr marL="742950" lvl="1" indent="-285750">
              <a:buFont typeface="Courier New"/>
              <a:buChar char="o"/>
            </a:pPr>
            <a:r>
              <a:rPr lang="en-US" sz="2400">
                <a:latin typeface="Gill Sans MT"/>
                <a:ea typeface="Calibri"/>
                <a:cs typeface="Calibri"/>
              </a:rPr>
              <a:t>Our Poisson Distribution allowing for the reduction of excess inventory would allow for specific warehouses to run leaner margins to save costs</a:t>
            </a:r>
          </a:p>
          <a:p>
            <a:pPr marL="742950" lvl="1" indent="-285750">
              <a:buFont typeface="Courier New"/>
              <a:buChar char="o"/>
            </a:pPr>
            <a:r>
              <a:rPr lang="en-US" sz="2400">
                <a:latin typeface="Gill Sans MT"/>
                <a:ea typeface="Calibri"/>
                <a:cs typeface="Calibri"/>
              </a:rPr>
              <a:t>Their current model for the bigger warehouses that would be the major hubs for their specific regions</a:t>
            </a:r>
          </a:p>
          <a:p>
            <a:pPr lvl="1"/>
            <a:endParaRPr lang="en-US" sz="2400">
              <a:latin typeface="Gill Sans MT"/>
              <a:ea typeface="Calibri"/>
              <a:cs typeface="Calibri"/>
            </a:endParaRPr>
          </a:p>
          <a:p>
            <a:r>
              <a:rPr lang="en-US" sz="2400">
                <a:latin typeface="Gill Sans MT"/>
                <a:ea typeface="Calibri"/>
                <a:cs typeface="Calibri"/>
              </a:rPr>
              <a:t>This would cause their customer satisfaction to continue to be excellent and save money on the inventory costs.</a:t>
            </a:r>
          </a:p>
          <a:p>
            <a:endParaRPr lang="en-US" sz="2400">
              <a:latin typeface="Gill Sans MT"/>
              <a:ea typeface="Calibri"/>
              <a:cs typeface="Calibri"/>
            </a:endParaRPr>
          </a:p>
          <a:p>
            <a:r>
              <a:rPr lang="en-US" sz="2400">
                <a:latin typeface="Gill Sans MT"/>
                <a:ea typeface="Calibri"/>
                <a:cs typeface="Calibri"/>
              </a:rPr>
              <a:t>Would also result in less spending on items arriving too early and sitting in warehouses causing bloat.</a:t>
            </a:r>
          </a:p>
        </p:txBody>
      </p:sp>
    </p:spTree>
    <p:extLst>
      <p:ext uri="{BB962C8B-B14F-4D97-AF65-F5344CB8AC3E}">
        <p14:creationId xmlns:p14="http://schemas.microsoft.com/office/powerpoint/2010/main" val="3592590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42053" y="3861148"/>
            <a:ext cx="2936325" cy="2434561"/>
          </a:xfrm>
          <a:prstGeom prst="rect">
            <a:avLst/>
          </a:prstGeom>
          <a:solidFill>
            <a:srgbClr val="DEDEDE"/>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err="1">
              <a:latin typeface="Gill Sans MT"/>
            </a:endParaRPr>
          </a:p>
        </p:txBody>
      </p:sp>
      <p:sp>
        <p:nvSpPr>
          <p:cNvPr id="3" name="Text Placeholder 2">
            <a:extLst>
              <a:ext uri="{FF2B5EF4-FFF2-40B4-BE49-F238E27FC236}">
                <a16:creationId xmlns:a16="http://schemas.microsoft.com/office/drawing/2014/main" id="{2705D917-84A9-451F-8670-B1C61BDBD3E8}"/>
              </a:ext>
            </a:extLst>
          </p:cNvPr>
          <p:cNvSpPr>
            <a:spLocks noGrp="1"/>
          </p:cNvSpPr>
          <p:nvPr>
            <p:ph type="body" sz="quarter" idx="10"/>
          </p:nvPr>
        </p:nvSpPr>
        <p:spPr>
          <a:xfrm>
            <a:off x="3332283" y="1283171"/>
            <a:ext cx="2637442" cy="694267"/>
          </a:xfrm>
          <a:noFill/>
        </p:spPr>
        <p:txBody>
          <a:bodyPr vert="horz" lIns="91440" tIns="45720" rIns="91440" bIns="45720" rtlCol="0" anchor="t">
            <a:normAutofit/>
          </a:bodyPr>
          <a:lstStyle/>
          <a:p>
            <a:pPr marL="0" indent="0">
              <a:buNone/>
            </a:pPr>
            <a:r>
              <a:rPr lang="en-US">
                <a:latin typeface="Gill Sans MT"/>
              </a:rPr>
              <a:t>01</a:t>
            </a:r>
            <a:endParaRPr lang="en-US"/>
          </a:p>
        </p:txBody>
      </p:sp>
      <p:sp>
        <p:nvSpPr>
          <p:cNvPr id="4" name="Text Placeholder 3">
            <a:extLst>
              <a:ext uri="{FF2B5EF4-FFF2-40B4-BE49-F238E27FC236}">
                <a16:creationId xmlns:a16="http://schemas.microsoft.com/office/drawing/2014/main" id="{477F431D-77F4-49FF-8275-37E53F397184}"/>
              </a:ext>
            </a:extLst>
          </p:cNvPr>
          <p:cNvSpPr>
            <a:spLocks noGrp="1"/>
          </p:cNvSpPr>
          <p:nvPr>
            <p:ph type="body" sz="quarter" idx="11"/>
          </p:nvPr>
        </p:nvSpPr>
        <p:spPr>
          <a:xfrm>
            <a:off x="6212284" y="1283170"/>
            <a:ext cx="2637442" cy="694267"/>
          </a:xfrm>
          <a:noFill/>
        </p:spPr>
        <p:txBody>
          <a:bodyPr vert="horz" lIns="91440" tIns="45720" rIns="91440" bIns="45720" rtlCol="0" anchor="t">
            <a:normAutofit/>
          </a:bodyPr>
          <a:lstStyle/>
          <a:p>
            <a:pPr marL="0" indent="0">
              <a:buNone/>
            </a:pPr>
            <a:r>
              <a:rPr lang="en-US">
                <a:latin typeface="Gill Sans MT"/>
              </a:rPr>
              <a:t>02</a:t>
            </a:r>
            <a:endParaRPr lang="en-US"/>
          </a:p>
        </p:txBody>
      </p:sp>
      <p:sp>
        <p:nvSpPr>
          <p:cNvPr id="5" name="Text Placeholder 4">
            <a:extLst>
              <a:ext uri="{FF2B5EF4-FFF2-40B4-BE49-F238E27FC236}">
                <a16:creationId xmlns:a16="http://schemas.microsoft.com/office/drawing/2014/main" id="{6B8D8764-B3F2-4435-87A5-08C1E5721215}"/>
              </a:ext>
            </a:extLst>
          </p:cNvPr>
          <p:cNvSpPr>
            <a:spLocks noGrp="1"/>
          </p:cNvSpPr>
          <p:nvPr>
            <p:ph type="body" sz="quarter" idx="12"/>
          </p:nvPr>
        </p:nvSpPr>
        <p:spPr>
          <a:xfrm>
            <a:off x="3332283" y="3861148"/>
            <a:ext cx="2637442" cy="694267"/>
          </a:xfrm>
          <a:noFill/>
        </p:spPr>
        <p:txBody>
          <a:bodyPr vert="horz" lIns="91440" tIns="45720" rIns="91440" bIns="45720" rtlCol="0" anchor="t">
            <a:normAutofit/>
          </a:bodyPr>
          <a:lstStyle/>
          <a:p>
            <a:pPr marL="0" indent="0">
              <a:buNone/>
            </a:pPr>
            <a:r>
              <a:rPr lang="en-US">
                <a:latin typeface="Gill Sans MT"/>
              </a:rPr>
              <a:t>04</a:t>
            </a:r>
            <a:endParaRPr lang="en-US"/>
          </a:p>
        </p:txBody>
      </p:sp>
      <p:sp>
        <p:nvSpPr>
          <p:cNvPr id="6"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6212284" y="3861148"/>
            <a:ext cx="2637442" cy="694267"/>
          </a:xfrm>
          <a:noFill/>
        </p:spPr>
        <p:txBody>
          <a:bodyPr vert="horz" lIns="91440" tIns="45720" rIns="91440" bIns="45720" rtlCol="0" anchor="t">
            <a:normAutofit/>
          </a:bodyPr>
          <a:lstStyle/>
          <a:p>
            <a:pPr marL="0" indent="0">
              <a:buNone/>
            </a:pPr>
            <a:r>
              <a:rPr lang="en-US">
                <a:latin typeface="Gill Sans MT"/>
              </a:rPr>
              <a:t>05</a:t>
            </a:r>
            <a:endParaRPr lang="en-US"/>
          </a:p>
        </p:txBody>
      </p:sp>
      <p:sp>
        <p:nvSpPr>
          <p:cNvPr id="8" name="Text Placeholder 7">
            <a:extLst>
              <a:ext uri="{FF2B5EF4-FFF2-40B4-BE49-F238E27FC236}">
                <a16:creationId xmlns:a16="http://schemas.microsoft.com/office/drawing/2014/main" id="{F26BFDB0-DFB8-4D59-95A4-911D99147B08}"/>
              </a:ext>
            </a:extLst>
          </p:cNvPr>
          <p:cNvSpPr>
            <a:spLocks noGrp="1"/>
          </p:cNvSpPr>
          <p:nvPr>
            <p:ph type="body" sz="quarter" idx="18"/>
          </p:nvPr>
        </p:nvSpPr>
        <p:spPr>
          <a:xfrm>
            <a:off x="9091495" y="1283169"/>
            <a:ext cx="2637442" cy="694267"/>
          </a:xfrm>
          <a:noFill/>
        </p:spPr>
        <p:txBody>
          <a:bodyPr vert="horz" lIns="91440" tIns="45720" rIns="91440" bIns="45720" rtlCol="0" anchor="t">
            <a:normAutofit/>
          </a:bodyPr>
          <a:lstStyle/>
          <a:p>
            <a:pPr marL="0" indent="0">
              <a:buNone/>
            </a:pPr>
            <a:r>
              <a:rPr lang="en-US">
                <a:latin typeface="Gill Sans MT"/>
              </a:rPr>
              <a:t>03</a:t>
            </a:r>
            <a:endParaRPr lang="en-US"/>
          </a:p>
        </p:txBody>
      </p:sp>
      <p:sp>
        <p:nvSpPr>
          <p:cNvPr id="7" name="Text Placeholder 6">
            <a:extLst>
              <a:ext uri="{FF2B5EF4-FFF2-40B4-BE49-F238E27FC236}">
                <a16:creationId xmlns:a16="http://schemas.microsoft.com/office/drawing/2014/main" id="{CB2EC579-FB4F-4DAC-A6BF-81AC4648982C}"/>
              </a:ext>
            </a:extLst>
          </p:cNvPr>
          <p:cNvSpPr>
            <a:spLocks noGrp="1"/>
          </p:cNvSpPr>
          <p:nvPr>
            <p:ph type="body" sz="quarter" idx="15"/>
          </p:nvPr>
        </p:nvSpPr>
        <p:spPr>
          <a:noFill/>
        </p:spPr>
        <p:txBody>
          <a:bodyPr vert="horz" lIns="91440" tIns="45720" rIns="91440" bIns="45720" rtlCol="0" anchor="t">
            <a:normAutofit/>
          </a:bodyPr>
          <a:lstStyle/>
          <a:p>
            <a:pPr marL="0" indent="0">
              <a:buNone/>
            </a:pPr>
            <a:r>
              <a:rPr lang="en-US">
                <a:latin typeface="Gill Sans MT"/>
              </a:rPr>
              <a:t>Approach &amp; Methodology</a:t>
            </a:r>
            <a:endParaRPr lang="en-US"/>
          </a:p>
        </p:txBody>
      </p:sp>
      <p:sp>
        <p:nvSpPr>
          <p:cNvPr id="10" name="Text Placeholder 9">
            <a:extLst>
              <a:ext uri="{FF2B5EF4-FFF2-40B4-BE49-F238E27FC236}">
                <a16:creationId xmlns:a16="http://schemas.microsoft.com/office/drawing/2014/main" id="{45EF8CE0-ACB2-4CF2-BEA8-C5E15FAFC5B4}"/>
              </a:ext>
            </a:extLst>
          </p:cNvPr>
          <p:cNvSpPr>
            <a:spLocks noGrp="1"/>
          </p:cNvSpPr>
          <p:nvPr>
            <p:ph type="body" sz="quarter" idx="20"/>
          </p:nvPr>
        </p:nvSpPr>
        <p:spPr>
          <a:noFill/>
        </p:spPr>
        <p:txBody>
          <a:bodyPr vert="horz" lIns="91440" tIns="45720" rIns="91440" bIns="45720" rtlCol="0" anchor="t">
            <a:normAutofit/>
          </a:bodyPr>
          <a:lstStyle/>
          <a:p>
            <a:pPr marL="0" indent="0">
              <a:buNone/>
            </a:pPr>
            <a:r>
              <a:rPr lang="en-US">
                <a:latin typeface="Gill Sans MT"/>
              </a:rPr>
              <a:t>Exploratory Data Analysis</a:t>
            </a:r>
            <a:endParaRPr lang="en-US"/>
          </a:p>
        </p:txBody>
      </p:sp>
      <p:sp>
        <p:nvSpPr>
          <p:cNvPr id="11" name="Text Placeholder 10">
            <a:extLst>
              <a:ext uri="{FF2B5EF4-FFF2-40B4-BE49-F238E27FC236}">
                <a16:creationId xmlns:a16="http://schemas.microsoft.com/office/drawing/2014/main" id="{E9FDF91D-DA91-4E01-858F-E464B25076F3}"/>
              </a:ext>
            </a:extLst>
          </p:cNvPr>
          <p:cNvSpPr>
            <a:spLocks noGrp="1"/>
          </p:cNvSpPr>
          <p:nvPr>
            <p:ph type="body" sz="quarter" idx="21"/>
          </p:nvPr>
        </p:nvSpPr>
        <p:spPr>
          <a:xfrm>
            <a:off x="3332282" y="1977438"/>
            <a:ext cx="2683163" cy="1447797"/>
          </a:xfrm>
          <a:noFill/>
        </p:spPr>
        <p:txBody>
          <a:bodyPr vert="horz" lIns="91440" tIns="45720" rIns="91440" bIns="45720" rtlCol="0" anchor="t">
            <a:normAutofit/>
          </a:bodyPr>
          <a:lstStyle/>
          <a:p>
            <a:pPr marL="0" indent="0">
              <a:buNone/>
            </a:pPr>
            <a:r>
              <a:rPr lang="en-US">
                <a:latin typeface="Gill Sans MT"/>
              </a:rPr>
              <a:t>Business Intent</a:t>
            </a:r>
            <a:endParaRPr lang="en-US"/>
          </a:p>
        </p:txBody>
      </p:sp>
      <p:sp>
        <p:nvSpPr>
          <p:cNvPr id="13"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noFill/>
        </p:spPr>
        <p:txBody>
          <a:bodyPr vert="horz" lIns="91440" tIns="45720" rIns="91440" bIns="45720" rtlCol="0" anchor="t">
            <a:normAutofit/>
          </a:bodyPr>
          <a:lstStyle/>
          <a:p>
            <a:pPr marL="0" indent="0">
              <a:buNone/>
            </a:pPr>
            <a:r>
              <a:rPr lang="en-US">
                <a:latin typeface="Gill Sans MT"/>
              </a:rPr>
              <a:t>Next Steps</a:t>
            </a:r>
            <a:endParaRPr lang="en-US">
              <a:ea typeface="Calibri" panose="020F0502020204030204"/>
              <a:cs typeface="Calibri" panose="020F0502020204030204"/>
            </a:endParaRPr>
          </a:p>
        </p:txBody>
      </p:sp>
      <p:sp>
        <p:nvSpPr>
          <p:cNvPr id="14" name="Text Placeholder 13">
            <a:extLst>
              <a:ext uri="{FF2B5EF4-FFF2-40B4-BE49-F238E27FC236}">
                <a16:creationId xmlns:a16="http://schemas.microsoft.com/office/drawing/2014/main" id="{E02ABD5E-8B95-4E13-8A0C-73849F9744C7}"/>
              </a:ext>
            </a:extLst>
          </p:cNvPr>
          <p:cNvSpPr>
            <a:spLocks noGrp="1"/>
          </p:cNvSpPr>
          <p:nvPr>
            <p:ph type="body" sz="quarter" idx="24"/>
          </p:nvPr>
        </p:nvSpPr>
        <p:spPr>
          <a:noFill/>
        </p:spPr>
        <p:txBody>
          <a:bodyPr vert="horz" lIns="91440" tIns="45720" rIns="91440" bIns="45720" rtlCol="0" anchor="t">
            <a:normAutofit/>
          </a:bodyPr>
          <a:lstStyle/>
          <a:p>
            <a:pPr marL="0" indent="0">
              <a:buNone/>
            </a:pPr>
            <a:r>
              <a:rPr lang="en-US">
                <a:latin typeface="Gill Sans MT"/>
              </a:rPr>
              <a:t>Answer to Business </a:t>
            </a:r>
            <a:r>
              <a:rPr lang="en-US" err="1">
                <a:latin typeface="Gill Sans MT"/>
              </a:rPr>
              <a:t>Que</a:t>
            </a:r>
            <a:r>
              <a:rPr lang="en-US">
                <a:latin typeface="Gill Sans MT"/>
              </a:rPr>
              <a:t>stions</a:t>
            </a:r>
            <a:endParaRPr lang="en-US">
              <a:ea typeface="Calibri" panose="020F0502020204030204"/>
              <a:cs typeface="Calibri" panose="020F0502020204030204"/>
            </a:endParaRPr>
          </a:p>
        </p:txBody>
      </p:sp>
      <p:sp>
        <p:nvSpPr>
          <p:cNvPr id="18" name="Title 17"/>
          <p:cNvSpPr>
            <a:spLocks noGrp="1"/>
          </p:cNvSpPr>
          <p:nvPr>
            <p:ph type="title"/>
          </p:nvPr>
        </p:nvSpPr>
        <p:spPr/>
        <p:txBody>
          <a:bodyPr/>
          <a:lstStyle/>
          <a:p>
            <a:r>
              <a:rPr lang="en-US" sz="3733" b="1">
                <a:solidFill>
                  <a:srgbClr val="ED7D31"/>
                </a:solidFill>
                <a:latin typeface="Gill Sans MT"/>
                <a:ea typeface="+mn-ea"/>
                <a:cs typeface="+mn-cs"/>
              </a:rPr>
              <a:t>Agenda</a:t>
            </a:r>
          </a:p>
        </p:txBody>
      </p:sp>
      <p:sp>
        <p:nvSpPr>
          <p:cNvPr id="19" name="Text Placeholder 5">
            <a:extLst>
              <a:ext uri="{FF2B5EF4-FFF2-40B4-BE49-F238E27FC236}">
                <a16:creationId xmlns:a16="http://schemas.microsoft.com/office/drawing/2014/main" id="{E67C9E9E-C8B8-436A-ACE8-8A8280142031}"/>
              </a:ext>
            </a:extLst>
          </p:cNvPr>
          <p:cNvSpPr>
            <a:spLocks noGrp="1"/>
          </p:cNvSpPr>
          <p:nvPr>
            <p:ph type="body" sz="quarter" idx="13"/>
          </p:nvPr>
        </p:nvSpPr>
        <p:spPr>
          <a:xfrm>
            <a:off x="9091495" y="3861148"/>
            <a:ext cx="2637442" cy="694267"/>
          </a:xfrm>
          <a:noFill/>
        </p:spPr>
        <p:txBody>
          <a:bodyPr vert="horz" lIns="91440" tIns="45720" rIns="91440" bIns="45720" rtlCol="0" anchor="t">
            <a:normAutofit/>
          </a:bodyPr>
          <a:lstStyle/>
          <a:p>
            <a:pPr marL="0" indent="0">
              <a:buNone/>
            </a:pPr>
            <a:r>
              <a:rPr lang="en-US">
                <a:latin typeface="Gill Sans MT"/>
              </a:rPr>
              <a:t>06</a:t>
            </a:r>
            <a:endParaRPr lang="en-US"/>
          </a:p>
        </p:txBody>
      </p:sp>
      <p:sp>
        <p:nvSpPr>
          <p:cNvPr id="20" name="Text Placeholder 12">
            <a:extLst>
              <a:ext uri="{FF2B5EF4-FFF2-40B4-BE49-F238E27FC236}">
                <a16:creationId xmlns:a16="http://schemas.microsoft.com/office/drawing/2014/main" id="{93BFDC2C-1238-4C55-B9F6-E6429DC07C9D}"/>
              </a:ext>
            </a:extLst>
          </p:cNvPr>
          <p:cNvSpPr>
            <a:spLocks noGrp="1"/>
          </p:cNvSpPr>
          <p:nvPr>
            <p:ph type="body" sz="quarter" idx="23"/>
          </p:nvPr>
        </p:nvSpPr>
        <p:spPr>
          <a:xfrm>
            <a:off x="9091495" y="4555415"/>
            <a:ext cx="2637442" cy="1506828"/>
          </a:xfrm>
          <a:noFill/>
        </p:spPr>
        <p:txBody>
          <a:bodyPr vert="horz" lIns="91440" tIns="45720" rIns="91440" bIns="45720" rtlCol="0" anchor="t">
            <a:normAutofit/>
          </a:bodyPr>
          <a:lstStyle/>
          <a:p>
            <a:pPr marL="0" indent="0">
              <a:buNone/>
            </a:pPr>
            <a:r>
              <a:rPr lang="en-US">
                <a:latin typeface="Gill Sans MT"/>
              </a:rPr>
              <a:t>Conclusion</a:t>
            </a:r>
            <a:endParaRPr lang="en-US">
              <a:ea typeface="Calibri" panose="020F0502020204030204"/>
              <a:cs typeface="Calibri" panose="020F0502020204030204"/>
            </a:endParaRPr>
          </a:p>
        </p:txBody>
      </p:sp>
    </p:spTree>
    <p:extLst>
      <p:ext uri="{BB962C8B-B14F-4D97-AF65-F5344CB8AC3E}">
        <p14:creationId xmlns:p14="http://schemas.microsoft.com/office/powerpoint/2010/main" val="490029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2272-2D1C-3E15-9FCA-FC72C6133B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E8883A-DC9D-88CA-1EC8-1B6A9EAA125A}"/>
              </a:ext>
            </a:extLst>
          </p:cNvPr>
          <p:cNvSpPr txBox="1"/>
          <p:nvPr/>
        </p:nvSpPr>
        <p:spPr>
          <a:xfrm>
            <a:off x="435564" y="236479"/>
            <a:ext cx="11153580" cy="666786"/>
          </a:xfrm>
          <a:prstGeom prst="rect">
            <a:avLst/>
          </a:prstGeom>
          <a:noFill/>
        </p:spPr>
        <p:txBody>
          <a:bodyPr wrap="square" lIns="91440" tIns="45720" rIns="91440" bIns="45720" rtlCol="0" anchor="t">
            <a:spAutoFit/>
          </a:bodyPr>
          <a:lstStyle/>
          <a:p>
            <a:r>
              <a:rPr lang="en-US" sz="3700" b="1">
                <a:solidFill>
                  <a:srgbClr val="ED7D31"/>
                </a:solidFill>
                <a:latin typeface="Gill Sans MT"/>
              </a:rPr>
              <a:t>Conclusion:</a:t>
            </a:r>
          </a:p>
        </p:txBody>
      </p:sp>
      <p:sp>
        <p:nvSpPr>
          <p:cNvPr id="9" name="TextBox 8">
            <a:extLst>
              <a:ext uri="{FF2B5EF4-FFF2-40B4-BE49-F238E27FC236}">
                <a16:creationId xmlns:a16="http://schemas.microsoft.com/office/drawing/2014/main" id="{2E7E2B96-A689-1A60-3D29-68EB15D0931F}"/>
              </a:ext>
            </a:extLst>
          </p:cNvPr>
          <p:cNvSpPr txBox="1"/>
          <p:nvPr/>
        </p:nvSpPr>
        <p:spPr>
          <a:xfrm>
            <a:off x="11589144" y="6467479"/>
            <a:ext cx="574289" cy="276999"/>
          </a:xfrm>
          <a:prstGeom prst="rect">
            <a:avLst/>
          </a:prstGeom>
          <a:noFill/>
        </p:spPr>
        <p:txBody>
          <a:bodyPr wrap="square" rtlCol="0">
            <a:spAutoFit/>
          </a:bodyPr>
          <a:lstStyle/>
          <a:p>
            <a:pPr algn="ctr"/>
            <a:r>
              <a:rPr lang="en-US" sz="1200"/>
              <a:t>4</a:t>
            </a:r>
          </a:p>
        </p:txBody>
      </p:sp>
      <p:sp>
        <p:nvSpPr>
          <p:cNvPr id="5" name="TextBox 49">
            <a:extLst>
              <a:ext uri="{FF2B5EF4-FFF2-40B4-BE49-F238E27FC236}">
                <a16:creationId xmlns:a16="http://schemas.microsoft.com/office/drawing/2014/main" id="{604080D5-A12E-7B00-097D-251C8E0EE019}"/>
              </a:ext>
            </a:extLst>
          </p:cNvPr>
          <p:cNvSpPr txBox="1"/>
          <p:nvPr/>
        </p:nvSpPr>
        <p:spPr>
          <a:xfrm>
            <a:off x="435331" y="905554"/>
            <a:ext cx="11153382" cy="6740307"/>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a:latin typeface="Gill Sans MT"/>
                <a:ea typeface="Calibri"/>
                <a:cs typeface="Calibri"/>
              </a:rPr>
              <a:t>We developed a model that:</a:t>
            </a:r>
            <a:endParaRPr lang="en-US" sz="2400">
              <a:ea typeface="Calibri"/>
              <a:cs typeface="Calibri"/>
            </a:endParaRPr>
          </a:p>
          <a:p>
            <a:pPr marL="742950" lvl="1" indent="-285750">
              <a:buFont typeface="Courier New"/>
              <a:buChar char="o"/>
            </a:pPr>
            <a:r>
              <a:rPr lang="en-US" sz="2400">
                <a:latin typeface="Gill Sans MT"/>
                <a:ea typeface="Calibri"/>
                <a:cs typeface="Calibri"/>
              </a:rPr>
              <a:t>Outputted a higher/safer fill rate for all service part optimal inventories for each location</a:t>
            </a:r>
            <a:endParaRPr lang="en-US" sz="2400">
              <a:latin typeface="Calibri" panose="020F0502020204030204"/>
              <a:ea typeface="Calibri"/>
              <a:cs typeface="Calibri"/>
            </a:endParaRPr>
          </a:p>
          <a:p>
            <a:pPr marL="742950" lvl="1" indent="-285750">
              <a:buFont typeface="Courier New"/>
              <a:buChar char="o"/>
            </a:pPr>
            <a:r>
              <a:rPr lang="en-US" sz="2400">
                <a:latin typeface="Gill Sans MT"/>
                <a:ea typeface="Calibri"/>
                <a:cs typeface="Calibri"/>
              </a:rPr>
              <a:t>Was made using Poisson distribution to maintain a minimum of 95% fill rate based on monthly consumption data. </a:t>
            </a:r>
            <a:endParaRPr lang="en-US" sz="2400">
              <a:solidFill>
                <a:srgbClr val="000000"/>
              </a:solidFill>
              <a:latin typeface="Gill Sans MT"/>
              <a:ea typeface="Calibri"/>
              <a:cs typeface="Calibri"/>
            </a:endParaRPr>
          </a:p>
          <a:p>
            <a:r>
              <a:rPr lang="en-US" sz="2400">
                <a:solidFill>
                  <a:srgbClr val="000000"/>
                </a:solidFill>
                <a:latin typeface="Gill Sans MT"/>
                <a:ea typeface="Calibri"/>
                <a:cs typeface="Calibri"/>
              </a:rPr>
              <a:t>With the new lower wide inventory level:</a:t>
            </a:r>
            <a:endParaRPr lang="en-US" sz="2400">
              <a:ea typeface="Calibri" panose="020F0502020204030204"/>
              <a:cs typeface="Calibri" panose="020F0502020204030204"/>
            </a:endParaRPr>
          </a:p>
          <a:p>
            <a:pPr marL="742950" lvl="1" indent="-285750">
              <a:buFont typeface="Courier New"/>
              <a:buChar char="o"/>
            </a:pPr>
            <a:r>
              <a:rPr lang="en-US" sz="2400">
                <a:solidFill>
                  <a:srgbClr val="000000"/>
                </a:solidFill>
                <a:latin typeface="Gill Sans MT"/>
                <a:ea typeface="Calibri"/>
                <a:cs typeface="Calibri"/>
              </a:rPr>
              <a:t>Month to Month our total inventory levels are lower across all Products and Locations while maintaining our 95% fill rate </a:t>
            </a:r>
            <a:endParaRPr lang="en-US" sz="2400">
              <a:solidFill>
                <a:srgbClr val="000000"/>
              </a:solidFill>
              <a:latin typeface="Calibri" panose="020F0502020204030204"/>
              <a:ea typeface="Calibri"/>
              <a:cs typeface="Calibri"/>
            </a:endParaRPr>
          </a:p>
          <a:p>
            <a:pPr marL="742950" lvl="1" indent="-285750">
              <a:buFont typeface="Courier New"/>
              <a:buChar char="o"/>
            </a:pPr>
            <a:r>
              <a:rPr lang="en-US" sz="2400">
                <a:solidFill>
                  <a:srgbClr val="000000"/>
                </a:solidFill>
                <a:latin typeface="Gill Sans MT"/>
                <a:ea typeface="Calibri"/>
                <a:cs typeface="Calibri"/>
              </a:rPr>
              <a:t>Higher inventory levels are not correlated with more on-time shipments</a:t>
            </a:r>
            <a:endParaRPr lang="en-US" sz="2400">
              <a:solidFill>
                <a:srgbClr val="000000"/>
              </a:solidFill>
              <a:latin typeface="Calibri" panose="020F0502020204030204"/>
              <a:ea typeface="Calibri"/>
              <a:cs typeface="Calibri"/>
            </a:endParaRPr>
          </a:p>
          <a:p>
            <a:r>
              <a:rPr lang="en-US" sz="2400">
                <a:solidFill>
                  <a:srgbClr val="000000"/>
                </a:solidFill>
                <a:latin typeface="Gill Sans MT"/>
                <a:ea typeface="Calibri"/>
                <a:cs typeface="Calibri"/>
              </a:rPr>
              <a:t>Identified a late delivery rate on internal DC-to-Depot transfers:</a:t>
            </a:r>
            <a:endParaRPr lang="en-US" sz="2400">
              <a:solidFill>
                <a:srgbClr val="000000"/>
              </a:solidFill>
              <a:latin typeface="Calibri" panose="020F0502020204030204"/>
              <a:ea typeface="Calibri"/>
              <a:cs typeface="Calibri"/>
            </a:endParaRPr>
          </a:p>
          <a:p>
            <a:pPr marL="742950" lvl="1" indent="-285750">
              <a:buFont typeface="Courier New"/>
              <a:buChar char="o"/>
            </a:pPr>
            <a:r>
              <a:rPr lang="en-US" sz="2400">
                <a:solidFill>
                  <a:srgbClr val="000000"/>
                </a:solidFill>
                <a:latin typeface="Gill Sans MT"/>
                <a:ea typeface="Calibri"/>
                <a:cs typeface="Calibri"/>
              </a:rPr>
              <a:t>Having our stock levels would mean less margin for error between DC and depot which could result these internal lead times and transfers becoming an issue if not addressed</a:t>
            </a:r>
            <a:endParaRPr lang="en-US" sz="2400">
              <a:solidFill>
                <a:srgbClr val="000000"/>
              </a:solidFill>
              <a:latin typeface="Calibri" panose="020F0502020204030204"/>
              <a:ea typeface="Calibri"/>
              <a:cs typeface="Calibri"/>
            </a:endParaRPr>
          </a:p>
          <a:p>
            <a:pPr marL="285750" indent="-285750">
              <a:buAutoNum type="arabicPeriod"/>
            </a:pPr>
            <a:endParaRPr lang="en-US" sz="2400">
              <a:solidFill>
                <a:srgbClr val="237DB9"/>
              </a:solidFill>
              <a:latin typeface="Gill Sans MT"/>
              <a:ea typeface="Calibri"/>
              <a:cs typeface="Calibri"/>
            </a:endParaRPr>
          </a:p>
          <a:p>
            <a:pPr marL="285750" indent="-285750">
              <a:buAutoNum type="arabicPeriod"/>
            </a:pPr>
            <a:endParaRPr lang="en-US" sz="2400">
              <a:solidFill>
                <a:srgbClr val="237DB9"/>
              </a:solidFill>
              <a:latin typeface="Gill Sans MT"/>
              <a:ea typeface="Calibri"/>
              <a:cs typeface="Calibri"/>
            </a:endParaRPr>
          </a:p>
          <a:p>
            <a:pPr marL="285750" indent="-285750">
              <a:buAutoNum type="arabicPeriod"/>
            </a:pPr>
            <a:endParaRPr lang="en-US" sz="2400">
              <a:solidFill>
                <a:srgbClr val="237DB9"/>
              </a:solidFill>
              <a:latin typeface="Gill Sans MT"/>
              <a:ea typeface="Calibri"/>
              <a:cs typeface="Calibri"/>
            </a:endParaRPr>
          </a:p>
          <a:p>
            <a:pPr marL="285750" indent="-285750">
              <a:buAutoNum type="arabicPeriod"/>
            </a:pPr>
            <a:endParaRPr lang="en-US" sz="2400">
              <a:solidFill>
                <a:srgbClr val="237DB9"/>
              </a:solidFill>
              <a:latin typeface="Gill Sans MT"/>
              <a:ea typeface="Calibri"/>
              <a:cs typeface="Calibri"/>
            </a:endParaRPr>
          </a:p>
          <a:p>
            <a:pPr lvl="2"/>
            <a:endParaRPr lang="en-US" sz="2400">
              <a:latin typeface="Gill Sans MT"/>
              <a:ea typeface="Calibri"/>
              <a:cs typeface="Calibri"/>
            </a:endParaRPr>
          </a:p>
        </p:txBody>
      </p:sp>
    </p:spTree>
    <p:extLst>
      <p:ext uri="{BB962C8B-B14F-4D97-AF65-F5344CB8AC3E}">
        <p14:creationId xmlns:p14="http://schemas.microsoft.com/office/powerpoint/2010/main" val="2517326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24D1A8F4-94F0-95DE-4A0E-20D27DE54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EAF8D-CAAB-CA6D-7EBC-5097BA5FEEFA}"/>
              </a:ext>
            </a:extLst>
          </p:cNvPr>
          <p:cNvSpPr>
            <a:spLocks noGrp="1"/>
          </p:cNvSpPr>
          <p:nvPr>
            <p:ph type="ctrTitle"/>
          </p:nvPr>
        </p:nvSpPr>
        <p:spPr>
          <a:xfrm>
            <a:off x="1524000" y="1947333"/>
            <a:ext cx="9144000" cy="1562630"/>
          </a:xfrm>
        </p:spPr>
        <p:txBody>
          <a:bodyPr>
            <a:normAutofit/>
          </a:bodyPr>
          <a:lstStyle/>
          <a:p>
            <a:r>
              <a:rPr lang="en-US" sz="4800">
                <a:solidFill>
                  <a:schemeClr val="bg1"/>
                </a:solidFill>
                <a:latin typeface="Gill Sans MT"/>
              </a:rPr>
              <a:t>Thank you!</a:t>
            </a:r>
            <a:endParaRPr lang="en-US">
              <a:solidFill>
                <a:schemeClr val="bg1"/>
              </a:solidFill>
            </a:endParaRPr>
          </a:p>
        </p:txBody>
      </p:sp>
    </p:spTree>
    <p:extLst>
      <p:ext uri="{BB962C8B-B14F-4D97-AF65-F5344CB8AC3E}">
        <p14:creationId xmlns:p14="http://schemas.microsoft.com/office/powerpoint/2010/main" val="583264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20</Notes>
  <HiddenSlides>0</HiddenSlide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Office Theme</vt:lpstr>
      <vt:lpstr>1_Office Theme</vt:lpstr>
      <vt:lpstr>Inventory Optimization</vt:lpstr>
      <vt:lpstr>Agenda</vt:lpstr>
      <vt:lpstr>PowerPoint Presentation</vt:lpstr>
      <vt:lpstr>PowerPoint Presentation</vt:lpstr>
      <vt:lpstr>PowerPoint Presentation</vt:lpstr>
      <vt:lpstr>Agenda</vt:lpstr>
      <vt:lpstr>PowerPoint Presentation</vt:lpstr>
      <vt:lpstr>PowerPoint Presentation</vt:lpstr>
      <vt:lpstr>PowerPoint Presentation</vt:lpstr>
      <vt:lpstr>PowerPoint Presentation</vt:lpstr>
      <vt:lpstr>Agenda</vt:lpstr>
      <vt:lpstr>PowerPoint Presentation</vt:lpstr>
      <vt:lpstr>PowerPoint Presentation</vt:lpstr>
      <vt:lpstr>Agenda</vt:lpstr>
      <vt:lpstr>PowerPoint Presentation</vt:lpstr>
      <vt:lpstr>PowerPoint Presentation</vt:lpstr>
      <vt:lpstr>PowerPoint Presentation</vt:lpstr>
      <vt:lpstr>PowerPoint Presentation</vt:lpstr>
      <vt:lpstr>Agenda</vt:lpstr>
      <vt:lpstr>PowerPoint Presentation</vt:lpstr>
      <vt:lpstr>Agenda</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Name</dc:title>
  <dc:creator>Minghao Gu</dc:creator>
  <cp:revision>6</cp:revision>
  <dcterms:created xsi:type="dcterms:W3CDTF">2020-02-15T21:07:10Z</dcterms:created>
  <dcterms:modified xsi:type="dcterms:W3CDTF">2026-04-23T22:34:42Z</dcterms:modified>
</cp:coreProperties>
</file>